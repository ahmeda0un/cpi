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8" r:id="rId2"/>
    <p:sldId id="259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3" r:id="rId25"/>
    <p:sldId id="281" r:id="rId26"/>
    <p:sldId id="289" r:id="rId27"/>
    <p:sldId id="284" r:id="rId28"/>
    <p:sldId id="290" r:id="rId29"/>
    <p:sldId id="286" r:id="rId30"/>
    <p:sldId id="287" r:id="rId31"/>
    <p:sldId id="288" r:id="rId32"/>
    <p:sldId id="291" r:id="rId33"/>
    <p:sldId id="294" r:id="rId34"/>
    <p:sldId id="292" r:id="rId35"/>
    <p:sldId id="293" r:id="rId36"/>
    <p:sldId id="295" r:id="rId37"/>
    <p:sldId id="296" r:id="rId38"/>
    <p:sldId id="297" r:id="rId39"/>
    <p:sldId id="298" r:id="rId40"/>
    <p:sldId id="299" r:id="rId41"/>
    <p:sldId id="301" r:id="rId4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44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D0629-F87A-44D4-BFF0-B64D382C770E}" type="datetimeFigureOut">
              <a:rPr lang="fr-FR" smtClean="0"/>
              <a:pPr/>
              <a:t>07/12/2025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C7C50-B217-4C84-9DD7-13B07376D7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FEFE77-4BE7-4CC1-AF39-8FE85C2A2513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1071538" y="928670"/>
            <a:ext cx="720095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fr-FR" sz="4400" dirty="0" smtClean="0">
                <a:latin typeface="Times New Roman" pitchFamily="18" charset="0"/>
                <a:ea typeface="+mj-ea"/>
                <a:cs typeface="Times New Roman" pitchFamily="18" charset="0"/>
              </a:rPr>
              <a:t>Cours fondem</a:t>
            </a:r>
            <a:r>
              <a:rPr lang="fr-FR" sz="4400" dirty="0" smtClean="0">
                <a:latin typeface="Times New Roman" pitchFamily="18" charset="0"/>
                <a:cs typeface="Times New Roman" pitchFamily="18" charset="0"/>
              </a:rPr>
              <a:t>ent des </a:t>
            </a:r>
            <a:r>
              <a:rPr lang="fr-FR" sz="4400" dirty="0" smtClean="0">
                <a:latin typeface="Times New Roman" pitchFamily="18" charset="0"/>
                <a:ea typeface="+mj-ea"/>
                <a:cs typeface="Times New Roman" pitchFamily="18" charset="0"/>
              </a:rPr>
              <a:t>réseaux</a:t>
            </a:r>
            <a:endParaRPr lang="en-US" sz="4400" dirty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eaLnBrk="0" hangingPunct="0"/>
            <a:endParaRPr lang="en-US" sz="4400" dirty="0">
              <a:solidFill>
                <a:schemeClr val="tx2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A9106-2791-4FEB-A169-903F89F6DA87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428728" y="2214554"/>
            <a:ext cx="6415110" cy="1292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fr-FR" sz="2800" i="1" dirty="0">
                <a:latin typeface="Times New Roman" pitchFamily="18" charset="0"/>
                <a:cs typeface="Times New Roman" pitchFamily="18" charset="0"/>
              </a:rPr>
              <a:t>Proposé par </a:t>
            </a:r>
            <a:r>
              <a:rPr lang="fr-FR" sz="2800" i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>
              <a:spcBef>
                <a:spcPct val="20000"/>
              </a:spcBef>
            </a:pPr>
            <a:r>
              <a:rPr lang="fr-FR" sz="2800" i="1" dirty="0" err="1" smtClean="0">
                <a:latin typeface="Times New Roman" pitchFamily="18" charset="0"/>
                <a:cs typeface="Times New Roman" pitchFamily="18" charset="0"/>
              </a:rPr>
              <a:t>Amani</a:t>
            </a:r>
            <a:r>
              <a:rPr lang="fr-FR" sz="2800" i="1" dirty="0" smtClean="0">
                <a:latin typeface="Times New Roman" pitchFamily="18" charset="0"/>
                <a:cs typeface="Times New Roman" pitchFamily="18" charset="0"/>
              </a:rPr>
              <a:t> CHAKER</a:t>
            </a:r>
            <a:endParaRPr lang="fr-FR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214414" y="3643314"/>
            <a:ext cx="6804046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Institut Supérieur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d’Informatique et de Multimédia de Gabès (ISIMG)</a:t>
            </a:r>
            <a:endParaRPr lang="fr-FR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71802" y="4929198"/>
            <a:ext cx="3571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amani.chaker@isimg.tn</a:t>
            </a:r>
            <a:endParaRPr lang="fr-FR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fr-FR" sz="4000" dirty="0" smtClean="0">
                <a:latin typeface="Arial" pitchFamily="34" charset="0"/>
                <a:cs typeface="Arial" pitchFamily="34" charset="0"/>
              </a:rPr>
              <a:t>Plan </a:t>
            </a:r>
            <a:endParaRPr lang="fr-FR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0" y="1071546"/>
            <a:ext cx="9144000" cy="4786346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1: Exploration du réseau 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2: Protocoles et communications réseau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3: Accès réseau 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4: Ethernet 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5: Couche réseau 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6: Adressage IP 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7: Couche transport</a:t>
            </a:r>
          </a:p>
          <a:p>
            <a:pPr lvl="1">
              <a:lnSpc>
                <a:spcPct val="150000"/>
              </a:lnSpc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Chapitre 8: Couche application</a:t>
            </a:r>
          </a:p>
          <a:p>
            <a:pPr lvl="1">
              <a:lnSpc>
                <a:spcPct val="150000"/>
              </a:lnSpc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None/>
            </a:pPr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150000"/>
              </a:lnSpc>
              <a:buNone/>
            </a:pPr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None/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A9106-2791-4FEB-A169-903F89F6DA87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" y="1928802"/>
            <a:ext cx="90773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0034" y="2285992"/>
            <a:ext cx="8215370" cy="1517905"/>
          </a:xfrm>
        </p:spPr>
        <p:txBody>
          <a:bodyPr>
            <a:normAutofit/>
          </a:bodyPr>
          <a:lstStyle/>
          <a:p>
            <a:pPr algn="l" defTabSz="814388" fontAlgn="base">
              <a:lnSpc>
                <a:spcPct val="90000"/>
              </a:lnSpc>
              <a:spcAft>
                <a:spcPct val="0"/>
              </a:spcAft>
            </a:pPr>
            <a:r>
              <a:rPr lang="en-US" sz="2800" b="1" dirty="0" err="1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>Chapitre</a:t>
            </a:r>
            <a:r>
              <a:rPr lang="en-US" sz="2800" b="1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> 7:</a:t>
            </a:r>
            <a:r>
              <a:rPr lang="en-US" sz="2400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400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3200" b="1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3200" b="1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3200" b="1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>Couche</a:t>
            </a:r>
            <a:r>
              <a:rPr lang="en-US" sz="3200" b="1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> transport</a:t>
            </a:r>
            <a:endParaRPr lang="en-US" sz="2800" dirty="0">
              <a:solidFill>
                <a:srgbClr val="FFFFF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61DA-17B9-485B-AA26-23E088CDE782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Plan d</a:t>
            </a:r>
            <a:r>
              <a:rPr lang="en-US" dirty="0" smtClean="0">
                <a:latin typeface="Arial" charset="0"/>
              </a:rPr>
              <a:t>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chapitr</a:t>
            </a:r>
            <a:r>
              <a:rPr lang="en-US" dirty="0" err="1" smtClean="0">
                <a:latin typeface="Arial" charset="0"/>
              </a:rPr>
              <a:t>e</a:t>
            </a:r>
            <a:r>
              <a:rPr lang="en-US" dirty="0" smtClean="0">
                <a:latin typeface="Arial" charset="0"/>
              </a:rPr>
              <a:t>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Protocoles de couche transport,</a:t>
            </a:r>
          </a:p>
          <a:p>
            <a:pPr marL="971550" lvl="1" indent="-514350">
              <a:buFont typeface="+mj-lt"/>
              <a:buAutoNum type="alphaL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 Transport des données (rôle, responsabilité, Multiplexage, fiabilité) ,</a:t>
            </a:r>
          </a:p>
          <a:p>
            <a:pPr marL="971550" lvl="1" indent="-514350">
              <a:buFont typeface="+mj-lt"/>
              <a:buAutoNum type="alphaL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  Présentation des protocoles TCP et UDP 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 TCP et UDP ;</a:t>
            </a:r>
          </a:p>
          <a:p>
            <a:pPr marL="971550" lvl="1" indent="-514350">
              <a:buFont typeface="+mj-lt"/>
              <a:buAutoNum type="alphaL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 Processus de communication TCP ;</a:t>
            </a:r>
          </a:p>
          <a:p>
            <a:pPr marL="971550" lvl="1" indent="-514350">
              <a:buFont typeface="+mj-lt"/>
              <a:buAutoNum type="alphaL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 Fiabilité et contrôle de flux ; </a:t>
            </a:r>
          </a:p>
          <a:p>
            <a:pPr marL="971550" lvl="1" indent="-514350">
              <a:buFont typeface="+mj-lt"/>
              <a:buAutoNum type="alphaL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Communication UDP ;</a:t>
            </a:r>
          </a:p>
          <a:p>
            <a:pPr marL="971550" lvl="1" indent="-514350">
              <a:buFont typeface="+mj-lt"/>
              <a:buAutoNum type="alphaL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TCP ou UDP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9144000" cy="25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2643182"/>
            <a:ext cx="3870632" cy="1517905"/>
          </a:xfrm>
        </p:spPr>
        <p:txBody>
          <a:bodyPr>
            <a:normAutofit fontScale="90000"/>
          </a:bodyPr>
          <a:lstStyle/>
          <a:p>
            <a:pPr lvl="1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7</a:t>
            </a:r>
            <a:r>
              <a:rPr lang="en-US" sz="2400" b="1" dirty="0" smtClean="0">
                <a:solidFill>
                  <a:srgbClr val="FFFFFF"/>
                </a:solidFill>
                <a:latin typeface="Arial"/>
                <a:ea typeface="ＭＳ Ｐゴシック" charset="0"/>
              </a:rPr>
              <a:t>.1 </a:t>
            </a:r>
            <a:r>
              <a:rPr lang="en-US" sz="2400" b="1" dirty="0" err="1" smtClean="0">
                <a:solidFill>
                  <a:srgbClr val="FFFFFF"/>
                </a:solidFill>
                <a:latin typeface="Arial"/>
                <a:ea typeface="ＭＳ Ｐゴシック" charset="0"/>
              </a:rPr>
              <a:t>Protocoles</a:t>
            </a:r>
            <a:r>
              <a:rPr lang="en-US" sz="2400" b="1" dirty="0" smtClean="0">
                <a:solidFill>
                  <a:srgbClr val="FFFFFF"/>
                </a:solidFill>
                <a:latin typeface="Arial"/>
                <a:ea typeface="ＭＳ Ｐゴシック" charset="0"/>
              </a:rPr>
              <a:t> de </a:t>
            </a:r>
            <a:r>
              <a:rPr lang="en-US" sz="2400" b="1" dirty="0" err="1" smtClean="0">
                <a:solidFill>
                  <a:srgbClr val="FFFFFF"/>
                </a:solidFill>
                <a:latin typeface="Arial"/>
                <a:ea typeface="ＭＳ Ｐゴシック" charset="0"/>
              </a:rPr>
              <a:t>couche</a:t>
            </a:r>
            <a:r>
              <a:rPr lang="en-US" sz="2400" b="1" dirty="0" smtClean="0">
                <a:solidFill>
                  <a:srgbClr val="FFFFFF"/>
                </a:solidFill>
                <a:latin typeface="Arial"/>
                <a:ea typeface="ＭＳ Ｐゴシック" charset="0"/>
              </a:rPr>
              <a:t> transport </a:t>
            </a:r>
            <a: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  <a:t/>
            </a:r>
            <a:b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</a:br>
            <a:r>
              <a:rPr lang="fr-FR" sz="2400" dirty="0">
                <a:solidFill>
                  <a:srgbClr val="FFFFFF"/>
                </a:solidFill>
                <a:latin typeface="Arial"/>
                <a:ea typeface="ＭＳ Ｐゴシック" charset="0"/>
              </a:rPr>
              <a:t/>
            </a:r>
            <a:br>
              <a:rPr lang="fr-FR" sz="2400" dirty="0">
                <a:solidFill>
                  <a:srgbClr val="FFFFFF"/>
                </a:solidFill>
                <a:latin typeface="Arial"/>
                <a:ea typeface="ＭＳ Ｐゴシック" charset="0"/>
              </a:rPr>
            </a:br>
            <a: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  <a:t/>
            </a:r>
            <a:b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</a:br>
            <a:r>
              <a:rPr lang="en-US" sz="2800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800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endParaRPr lang="en-US" sz="2800" dirty="0">
              <a:solidFill>
                <a:srgbClr val="FFFFF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61DA-17B9-485B-AA26-23E088CDE782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Rôle de </a:t>
            </a:r>
            <a:r>
              <a:rPr lang="fr-FR" sz="3100" b="1" spc="-5" dirty="0" smtClean="0">
                <a:solidFill>
                  <a:srgbClr val="6791BA"/>
                </a:solidFill>
                <a:cs typeface="Arial"/>
              </a:rPr>
              <a:t>la </a:t>
            </a: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couche</a:t>
            </a:r>
            <a:r>
              <a:rPr lang="fr-FR" sz="3100" b="1" spc="40" dirty="0" smtClean="0">
                <a:solidFill>
                  <a:srgbClr val="6791BA"/>
                </a:solidFill>
                <a:cs typeface="Arial"/>
              </a:rPr>
              <a:t> </a:t>
            </a: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transport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600200"/>
            <a:ext cx="3929090" cy="4525963"/>
          </a:xfrm>
        </p:spPr>
        <p:txBody>
          <a:bodyPr>
            <a:normAutofit fontScale="85000" lnSpcReduction="10000"/>
          </a:bodyPr>
          <a:lstStyle/>
          <a:p>
            <a:r>
              <a:rPr lang="fr-FR" sz="2600" dirty="0" smtClean="0">
                <a:latin typeface="Arial" pitchFamily="34" charset="0"/>
                <a:cs typeface="Arial" pitchFamily="34" charset="0"/>
              </a:rPr>
              <a:t>Le rôle de la couche transport est d'établir une session de communication temporaire entre deux applications pour acheminer les données entre elles.</a:t>
            </a:r>
          </a:p>
          <a:p>
            <a:r>
              <a:rPr lang="fr-FR" sz="2600" dirty="0" smtClean="0">
                <a:latin typeface="Arial" pitchFamily="34" charset="0"/>
                <a:cs typeface="Arial" pitchFamily="34" charset="0"/>
              </a:rPr>
              <a:t>La couche transport constitue la liaison entre la couche application et les couches inférieures chargées de la transmission sur le réseau</a:t>
            </a:r>
            <a:r>
              <a:rPr lang="fr-FR" sz="2800" dirty="0" smtClean="0"/>
              <a:t>.</a:t>
            </a:r>
            <a:endParaRPr lang="fr-FR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0975" y="1500174"/>
            <a:ext cx="515302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Rôle de la couche transport (suite)</a:t>
            </a:r>
            <a:br>
              <a:rPr lang="fr-FR" sz="3100" b="1" spc="-10" dirty="0" smtClean="0">
                <a:solidFill>
                  <a:srgbClr val="6791BA"/>
                </a:solidFill>
                <a:cs typeface="Arial"/>
              </a:rPr>
            </a:b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600200"/>
            <a:ext cx="4286280" cy="4525963"/>
          </a:xfrm>
        </p:spPr>
        <p:txBody>
          <a:bodyPr>
            <a:normAutofit fontScale="85000" lnSpcReduction="10000"/>
          </a:bodyPr>
          <a:lstStyle/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Suivi des conversations individuelles</a:t>
            </a:r>
          </a:p>
          <a:p>
            <a:r>
              <a:rPr lang="fr-FR" sz="2100" dirty="0" smtClean="0">
                <a:latin typeface="Arial" pitchFamily="34" charset="0"/>
                <a:cs typeface="Arial" pitchFamily="34" charset="0"/>
              </a:rPr>
              <a:t>Suivre les communications individuelles entre les applications résidant sur les hôtes source et de destination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Segmentation</a:t>
            </a:r>
          </a:p>
          <a:p>
            <a:pPr>
              <a:buNone/>
            </a:pPr>
            <a:r>
              <a:rPr lang="fr-FR" sz="2100" dirty="0" smtClean="0">
                <a:latin typeface="Arial" pitchFamily="34" charset="0"/>
                <a:cs typeface="Arial" pitchFamily="34" charset="0"/>
              </a:rPr>
              <a:t>      Segmenter les données pour faciliter la gestion et réassembler les données segmentées en flux de données d'application vers la destination. </a:t>
            </a:r>
            <a:endParaRPr lang="fr-FR" sz="21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Identification des applications</a:t>
            </a:r>
          </a:p>
          <a:p>
            <a:pPr>
              <a:buNone/>
            </a:pPr>
            <a:r>
              <a:rPr lang="fr-FR" sz="2100" dirty="0" smtClean="0">
                <a:latin typeface="Arial" pitchFamily="34" charset="0"/>
                <a:cs typeface="Arial" pitchFamily="34" charset="0"/>
              </a:rPr>
              <a:t>      Identifier l'application appropriée pour chaque flux de communication</a:t>
            </a:r>
            <a:endParaRPr lang="fr-FR" sz="21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3425" y="2000240"/>
            <a:ext cx="46005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Rôle de </a:t>
            </a:r>
            <a:r>
              <a:rPr lang="fr-FR" sz="3100" b="1" spc="-5" dirty="0" smtClean="0">
                <a:solidFill>
                  <a:srgbClr val="6791BA"/>
                </a:solidFill>
                <a:cs typeface="Arial"/>
              </a:rPr>
              <a:t>la </a:t>
            </a: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couche</a:t>
            </a:r>
            <a:r>
              <a:rPr lang="fr-FR" sz="3100" b="1" spc="40" dirty="0" smtClean="0">
                <a:solidFill>
                  <a:srgbClr val="6791BA"/>
                </a:solidFill>
                <a:cs typeface="Arial"/>
              </a:rPr>
              <a:t> </a:t>
            </a: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transport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43050"/>
            <a:ext cx="4114800" cy="4525963"/>
          </a:xfrm>
        </p:spPr>
        <p:txBody>
          <a:bodyPr>
            <a:normAutofit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La segmentation des données en parties plus petites permet à plusieurs communications différentes, provenant de nombreux utilisateurs, d'être imbriquées (multiplexées) sur le même réseau.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Permet d'envoyer et de recevoir des données tout en exécutant plusieurs applications.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Un en-tête est ajouté à chaque segment pour l'identifier.</a:t>
            </a:r>
            <a:endParaRPr lang="fr-FR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15"/>
          <p:cNvSpPr/>
          <p:nvPr/>
        </p:nvSpPr>
        <p:spPr>
          <a:xfrm>
            <a:off x="4286248" y="1142984"/>
            <a:ext cx="4857752" cy="5505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Fiabilité de la couche transport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71612"/>
            <a:ext cx="4257644" cy="4857784"/>
          </a:xfrm>
        </p:spPr>
        <p:txBody>
          <a:bodyPr>
            <a:normAutofit lnSpcReduction="10000"/>
          </a:bodyPr>
          <a:lstStyle/>
          <a:p>
            <a:r>
              <a:rPr lang="fr-FR" sz="2200" dirty="0" smtClean="0">
                <a:latin typeface="Arial" pitchFamily="34" charset="0"/>
                <a:cs typeface="Arial" pitchFamily="34" charset="0"/>
              </a:rPr>
              <a:t>TCP/IP fournit deux protocoles de la couche transport: 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Transmission Control Protocol (TCP)</a:t>
            </a:r>
          </a:p>
          <a:p>
            <a:pPr lvl="1"/>
            <a:r>
              <a:rPr lang="fr-FR" sz="1600" dirty="0" smtClean="0">
                <a:latin typeface="Arial" pitchFamily="34" charset="0"/>
                <a:cs typeface="Arial" pitchFamily="34" charset="0"/>
              </a:rPr>
              <a:t>Assure un acheminement fiable – Toutes les données arrivent à destination </a:t>
            </a:r>
          </a:p>
          <a:p>
            <a:pPr lvl="1"/>
            <a:r>
              <a:rPr lang="fr-FR" sz="1600" dirty="0" smtClean="0">
                <a:latin typeface="Arial" pitchFamily="34" charset="0"/>
                <a:cs typeface="Arial" pitchFamily="34" charset="0"/>
              </a:rPr>
              <a:t>Utilise les accusés de réception et d'autres mécanismes pour garantir la transmission </a:t>
            </a:r>
          </a:p>
          <a:p>
            <a:pPr lvl="1"/>
            <a:r>
              <a:rPr lang="fr-FR" sz="1600" dirty="0" smtClean="0">
                <a:latin typeface="Arial" pitchFamily="34" charset="0"/>
                <a:cs typeface="Arial" pitchFamily="34" charset="0"/>
              </a:rPr>
              <a:t> Sollicite davantage le réseau, et le surcharge plus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User </a:t>
            </a:r>
            <a:r>
              <a:rPr lang="fr-FR" sz="2000" dirty="0" err="1" smtClean="0">
                <a:latin typeface="Arial" pitchFamily="34" charset="0"/>
                <a:cs typeface="Arial" pitchFamily="34" charset="0"/>
              </a:rPr>
              <a:t>Datagram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 Protocol (UDP)</a:t>
            </a:r>
          </a:p>
          <a:p>
            <a:pPr lvl="1"/>
            <a:r>
              <a:rPr lang="fr-FR" sz="1600" dirty="0" smtClean="0">
                <a:latin typeface="Arial" pitchFamily="34" charset="0"/>
                <a:cs typeface="Arial" pitchFamily="34" charset="0"/>
              </a:rPr>
              <a:t>Fournit juste les fonctions de base pour la transmission, sans aucune garantie </a:t>
            </a:r>
          </a:p>
          <a:p>
            <a:pPr lvl="1"/>
            <a:r>
              <a:rPr lang="fr-FR" sz="1600" dirty="0" smtClean="0">
                <a:latin typeface="Arial" pitchFamily="34" charset="0"/>
                <a:cs typeface="Arial" pitchFamily="34" charset="0"/>
              </a:rPr>
              <a:t> Moins de surcharge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0" y="1714488"/>
            <a:ext cx="485775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TCP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43438" y="1600200"/>
            <a:ext cx="4043362" cy="2043113"/>
          </a:xfrm>
        </p:spPr>
        <p:txBody>
          <a:bodyPr>
            <a:normAutofit fontScale="62500" lnSpcReduction="20000"/>
          </a:bodyPr>
          <a:lstStyle/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Le transport TCP revient à envoyer des paquets qui sont suivis de la source à la destination. Si l'expédition de </a:t>
            </a:r>
            <a:r>
              <a:rPr lang="fr-FR" dirty="0" err="1" smtClean="0">
                <a:latin typeface="Arial" pitchFamily="34" charset="0"/>
                <a:cs typeface="Arial" pitchFamily="34" charset="0"/>
              </a:rPr>
              <a:t>FedEx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 est divisée en plusieurs colis, un client peut vérifier en ligne l'ordre des livraisons</a:t>
            </a:r>
            <a:r>
              <a:rPr lang="fr-FR" dirty="0" smtClean="0"/>
              <a:t>. </a:t>
            </a:r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4629691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1091" y="3857628"/>
            <a:ext cx="4482909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TCP (suite)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9" y="2643182"/>
            <a:ext cx="4071966" cy="2607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2357454" cy="2381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05600" y="2071678"/>
            <a:ext cx="24384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TCP (suite)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0" y="1600200"/>
            <a:ext cx="4357718" cy="2686056"/>
          </a:xfrm>
        </p:spPr>
        <p:txBody>
          <a:bodyPr>
            <a:normAutofit fontScale="62500" lnSpcReduction="20000"/>
          </a:bodyPr>
          <a:lstStyle/>
          <a:p>
            <a:r>
              <a:rPr lang="fr-FR" dirty="0" smtClean="0">
                <a:latin typeface="Arial" pitchFamily="34" charset="0"/>
                <a:cs typeface="Arial" pitchFamily="34" charset="0"/>
              </a:rPr>
              <a:t>Avec le protocole TCP, les trois fonctions de fiabilité de base sont :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le suivi des segments de données transmis;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les accusés de réception des données;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la retransmission des données n'ayant pas fait l'objet d'un accusé de réception.</a:t>
            </a:r>
          </a:p>
          <a:p>
            <a:endParaRPr lang="fr-FR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80127" y="4071915"/>
            <a:ext cx="4563873" cy="2786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643050"/>
            <a:ext cx="4425125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sz="3100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-10" dirty="0" smtClean="0">
                <a:solidFill>
                  <a:srgbClr val="6791BA"/>
                </a:solidFill>
                <a:cs typeface="Arial"/>
              </a:rPr>
              <a:t>UDP</a:t>
            </a:r>
            <a:r>
              <a:rPr lang="fr-FR" sz="3100" dirty="0" smtClean="0">
                <a:cs typeface="Arial"/>
              </a:rPr>
              <a:t/>
            </a:r>
            <a:br>
              <a:rPr lang="fr-FR" sz="3100" dirty="0" smtClean="0">
                <a:cs typeface="Arial"/>
              </a:rPr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0" y="1600201"/>
            <a:ext cx="4114800" cy="2328865"/>
          </a:xfrm>
        </p:spPr>
        <p:txBody>
          <a:bodyPr>
            <a:normAutofit fontScale="55000" lnSpcReduction="20000"/>
          </a:bodyPr>
          <a:lstStyle/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Le protocole UDP est un protocole d'acheminement au mieux.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Aucun accusé de réception ne confirme que les données sont arrivées à destination.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L'UDP revient à poster une lettre normale, sans accusé de réception.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449580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2975" y="3933825"/>
            <a:ext cx="439102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Transport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des</a:t>
            </a:r>
            <a:r>
              <a:rPr lang="fr-FR" sz="2400" b="1" spc="5" dirty="0" smtClean="0">
                <a:solidFill>
                  <a:srgbClr val="6F8CA1"/>
                </a:solidFill>
                <a:cs typeface="Arial"/>
              </a:rPr>
              <a:t> </a:t>
            </a:r>
            <a:r>
              <a:rPr lang="fr-FR" sz="2400" b="1" spc="15" dirty="0" smtClean="0">
                <a:solidFill>
                  <a:srgbClr val="6F8CA1"/>
                </a:solidFill>
                <a:cs typeface="Arial"/>
              </a:rPr>
              <a:t>données</a:t>
            </a:r>
            <a:r>
              <a:rPr lang="fr-FR" b="1" spc="15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5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 Le bon protocole de couche transport pour la bonne application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600200"/>
            <a:ext cx="3786214" cy="4525963"/>
          </a:xfrm>
        </p:spPr>
        <p:txBody>
          <a:bodyPr>
            <a:normAutofit/>
          </a:bodyPr>
          <a:lstStyle/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TCP - les bases de données, les navigateurs Web et les clients de messagerie ont besoin que toutes les données envoyées arrivent à destination dans leur état d'origine</a:t>
            </a:r>
          </a:p>
          <a:p>
            <a:endParaRPr lang="fr-FR" sz="1800" dirty="0" smtClean="0">
              <a:latin typeface="Arial" pitchFamily="34" charset="0"/>
              <a:cs typeface="Arial" pitchFamily="34" charset="0"/>
            </a:endParaRPr>
          </a:p>
          <a:p>
            <a:endParaRPr lang="fr-FR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UDP - si un ou deux segments d'un flux vidéo en continu n'arrivent pas à destination, cela peut se traduire par une distorsion de l'image que l'utilisateur ne remarquera peut-être même pas.</a:t>
            </a:r>
            <a:endParaRPr lang="fr-FR" sz="1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250" y="2143116"/>
            <a:ext cx="523875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Présentation du protocole TCP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5072066" cy="5572140"/>
          </a:xfrm>
        </p:spPr>
        <p:txBody>
          <a:bodyPr>
            <a:normAutofit fontScale="55000" lnSpcReduction="20000"/>
          </a:bodyPr>
          <a:lstStyle/>
          <a:p>
            <a:r>
              <a:rPr lang="fr-FR" dirty="0" smtClean="0">
                <a:latin typeface="Arial" pitchFamily="34" charset="0"/>
                <a:cs typeface="Arial" pitchFamily="34" charset="0"/>
              </a:rPr>
              <a:t>RFC 793 </a:t>
            </a:r>
          </a:p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Établissement de session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Orienté connexion : création d'une session entre la source et la destination.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Permet de s’assurer que l’application est prête à recevoir les données.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les périphériques négocient la quantité de trafic pouvant être transmise à un moment donné. </a:t>
            </a:r>
          </a:p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Acheminement fiable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 chaque bloc de données envoyé par la source parvienne à destination.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retransmission des données perdues ou endommagées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b="1" dirty="0" smtClean="0">
                <a:latin typeface="Arial" pitchFamily="34" charset="0"/>
                <a:cs typeface="Arial" pitchFamily="34" charset="0"/>
              </a:rPr>
              <a:t>Reconstitution ordonnée des données :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numérotation et </a:t>
            </a:r>
            <a:r>
              <a:rPr lang="fr-FR" dirty="0" err="1" smtClean="0">
                <a:latin typeface="Arial" pitchFamily="34" charset="0"/>
                <a:cs typeface="Arial" pitchFamily="34" charset="0"/>
              </a:rPr>
              <a:t>séquencement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 des segments pour s'assurer que ces segments sont remis dans le bon ordre.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b="1" dirty="0" smtClean="0">
                <a:latin typeface="Arial" pitchFamily="34" charset="0"/>
                <a:cs typeface="Arial" pitchFamily="34" charset="0"/>
              </a:rPr>
              <a:t>Contrôle de flux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régulation de la quantité de données transmises par la source.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Le contrôle du flux contribue à prévenir la perte de segments sur le réseau et à rendre inutiles les retransmissions.</a:t>
            </a:r>
          </a:p>
          <a:p>
            <a:r>
              <a:rPr lang="fr-FR" sz="3300" b="1" dirty="0" smtClean="0">
                <a:latin typeface="Arial" pitchFamily="34" charset="0"/>
                <a:cs typeface="Arial" pitchFamily="34" charset="0"/>
              </a:rPr>
              <a:t>Protocole avec état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lvl="1"/>
            <a:r>
              <a:rPr lang="fr-FR" dirty="0" smtClean="0">
                <a:latin typeface="Arial" pitchFamily="34" charset="0"/>
                <a:cs typeface="Arial" pitchFamily="34" charset="0"/>
              </a:rPr>
              <a:t>garde une trace de la session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5649" y="2000240"/>
            <a:ext cx="4098351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6143636" y="5186770"/>
            <a:ext cx="168507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fr-FR" b="1" dirty="0" smtClean="0">
                <a:latin typeface="Arial" pitchFamily="34" charset="0"/>
                <a:cs typeface="Arial" pitchFamily="34" charset="0"/>
              </a:rPr>
              <a:t>Segment TCP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800" b="1" spc="10" dirty="0" smtClean="0">
                <a:solidFill>
                  <a:srgbClr val="6F8CA1"/>
                </a:solidFill>
                <a:cs typeface="Arial"/>
              </a:rPr>
              <a:t>Présentation de l'UDP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785926"/>
            <a:ext cx="6929454" cy="41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En-tête  UDP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57296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 smtClean="0"/>
              <a:t>UDP est un protocole sans état</a:t>
            </a:r>
            <a:r>
              <a:rPr lang="fr-FR" dirty="0" smtClean="0"/>
              <a:t>:  ni le client ni le serveur ne sont tenus de surveiller l'état de la session de communication. </a:t>
            </a:r>
          </a:p>
          <a:p>
            <a:r>
              <a:rPr lang="fr-FR" dirty="0" smtClean="0"/>
              <a:t> Si la fiabilité est nécessaire, elle doit être prise en charge par l</a:t>
            </a:r>
            <a:r>
              <a:rPr lang="fr-FR" b="1" dirty="0" smtClean="0"/>
              <a:t>'application</a:t>
            </a:r>
            <a:r>
              <a:rPr lang="fr-FR" dirty="0" smtClean="0"/>
              <a:t>.</a:t>
            </a:r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252" y="3286124"/>
            <a:ext cx="6457162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3786182" y="5929330"/>
            <a:ext cx="213391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fr-FR" b="1" dirty="0" smtClean="0">
                <a:latin typeface="Arial" pitchFamily="34" charset="0"/>
                <a:cs typeface="Arial" pitchFamily="34" charset="0"/>
              </a:rPr>
              <a:t>Datagramme UDP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Séparation de communications multiples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600201"/>
            <a:ext cx="8686800" cy="1543047"/>
          </a:xfrm>
        </p:spPr>
        <p:txBody>
          <a:bodyPr>
            <a:normAutofit lnSpcReduction="10000"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L'utilisateur envoie et reçoit simultanément des e-mails et des messages instantanés, consulte des sites Web et passe un appel </a:t>
            </a:r>
            <a:r>
              <a:rPr lang="fr-FR" sz="2000" dirty="0" err="1" smtClean="0">
                <a:latin typeface="Arial" pitchFamily="34" charset="0"/>
                <a:cs typeface="Arial" pitchFamily="34" charset="0"/>
              </a:rPr>
              <a:t>VoIP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. 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Les protocoles TCP et UDP gèrent ces conversations simultanées avec des besoins variables, en utilisant chacun des identificateurs uniques  qui sont les numéros de port.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3286124"/>
            <a:ext cx="5801477" cy="3133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Adressage de ports TCP et UDP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600200"/>
            <a:ext cx="3929090" cy="4972072"/>
          </a:xfrm>
        </p:spPr>
        <p:txBody>
          <a:bodyPr>
            <a:normAutofit fontScale="55000" lnSpcReduction="20000"/>
          </a:bodyPr>
          <a:lstStyle/>
          <a:p>
            <a:r>
              <a:rPr lang="fr-FR" sz="3800" b="1" dirty="0" smtClean="0">
                <a:latin typeface="Arial" pitchFamily="34" charset="0"/>
                <a:cs typeface="Arial" pitchFamily="34" charset="0"/>
              </a:rPr>
              <a:t>Port source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Le numéro du port source est généré de manière aléatoire par le périphérique émetteur pour identifier une conversation entre deux périphériques.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Plusieurs conversations peuvent s'effectuer simultanément. </a:t>
            </a:r>
          </a:p>
          <a:p>
            <a:pPr>
              <a:buNone/>
            </a:pPr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3800" b="1" dirty="0" smtClean="0">
                <a:latin typeface="Arial" pitchFamily="34" charset="0"/>
                <a:cs typeface="Arial" pitchFamily="34" charset="0"/>
              </a:rPr>
              <a:t>Port de destination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 informer le serveur de destination du service demandé. 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Par exemple, lorsque le client spécifie le port 80 comme port de destination, le serveur qui reçoit le message sait que des services Web sont demandés.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7175" y="2143116"/>
            <a:ext cx="50768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 Adressage de ports TCP et UDP 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0200"/>
            <a:ext cx="4143372" cy="5043510"/>
          </a:xfrm>
        </p:spPr>
        <p:txBody>
          <a:bodyPr>
            <a:normAutofit fontScale="92500" lnSpcReduction="20000"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Les ports sources et de destination sont placés à l'intérieur du segment.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 Les segments sont ensuite encapsulés dans un paquet IP.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adresses IP +numéros de port = socket.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Le socket d'un serveur Web peut avoir la forme suivante : 192.168.1.7:80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Les sockets permettent à plusieurs processus exécutés sur un client de se distinguer les unes des autres.</a:t>
            </a:r>
          </a:p>
          <a:p>
            <a:r>
              <a:rPr lang="fr-FR" sz="2100" dirty="0" smtClean="0">
                <a:latin typeface="Arial" pitchFamily="34" charset="0"/>
                <a:cs typeface="Arial" pitchFamily="34" charset="0"/>
              </a:rPr>
              <a:t>Le port source d'une requête de client est généré aléatoirement. Le numéro de port fait office d'adresse de retour pour l'application envoyant la requête.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2425" y="1857364"/>
            <a:ext cx="498157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 Adressage de ports TCP et UDP </a:t>
            </a:r>
            <a:r>
              <a:rPr lang="fr-FR" sz="3100" b="1" dirty="0" smtClean="0"/>
              <a:t/>
            </a:r>
            <a:br>
              <a:rPr lang="fr-FR" sz="3100" b="1" dirty="0" smtClean="0"/>
            </a:b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143248"/>
            <a:ext cx="8229600" cy="2982915"/>
          </a:xfrm>
        </p:spPr>
        <p:txBody>
          <a:bodyPr>
            <a:normAutofit/>
          </a:bodyPr>
          <a:lstStyle/>
          <a:p>
            <a:r>
              <a:rPr lang="fr-FR" sz="1800" b="1" dirty="0" smtClean="0">
                <a:latin typeface="Arial" pitchFamily="34" charset="0"/>
                <a:cs typeface="Arial" pitchFamily="34" charset="0"/>
              </a:rPr>
              <a:t>Ports réservés (numéros 0 à 1023)</a:t>
            </a:r>
            <a:r>
              <a:rPr lang="fr-FR" sz="1800" dirty="0" smtClean="0">
                <a:latin typeface="Arial" pitchFamily="34" charset="0"/>
                <a:cs typeface="Arial" pitchFamily="34" charset="0"/>
              </a:rPr>
              <a:t> – Ces numéros sont réservés à des services et applications.</a:t>
            </a:r>
          </a:p>
          <a:p>
            <a:r>
              <a:rPr lang="fr-FR" sz="1800" b="1" dirty="0" smtClean="0">
                <a:latin typeface="Arial" pitchFamily="34" charset="0"/>
                <a:cs typeface="Arial" pitchFamily="34" charset="0"/>
              </a:rPr>
              <a:t>Ports inscrits (numéros 1024 à 49151)</a:t>
            </a:r>
            <a:r>
              <a:rPr lang="fr-FR" sz="1800" dirty="0" smtClean="0">
                <a:latin typeface="Arial" pitchFamily="34" charset="0"/>
                <a:cs typeface="Arial" pitchFamily="34" charset="0"/>
              </a:rPr>
              <a:t> – Ces numéros de port sont affectés à des processus ou applications d'utilisateurs.</a:t>
            </a:r>
          </a:p>
          <a:p>
            <a:r>
              <a:rPr lang="fr-FR" sz="1800" b="1" dirty="0" smtClean="0">
                <a:latin typeface="Arial" pitchFamily="34" charset="0"/>
                <a:cs typeface="Arial" pitchFamily="34" charset="0"/>
              </a:rPr>
              <a:t>Ports privés ou dynamiques (numéros 49152 à 65535)</a:t>
            </a:r>
            <a:r>
              <a:rPr lang="fr-FR" sz="1800" dirty="0" smtClean="0">
                <a:latin typeface="Arial" pitchFamily="34" charset="0"/>
                <a:cs typeface="Arial" pitchFamily="34" charset="0"/>
              </a:rPr>
              <a:t> – ces ports sont généralement affectés de façon dynamique à des applications clientes lorsqu'une connexion à un service est initiée par un client.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571612"/>
            <a:ext cx="5793390" cy="150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Adressage de ports TCP et UDP (suite)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00174"/>
            <a:ext cx="7690497" cy="4605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Présentation des protocoles TCP et UDP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La commande </a:t>
            </a:r>
            <a:r>
              <a:rPr lang="fr-FR" sz="3100" b="1" spc="10" dirty="0" err="1" smtClean="0">
                <a:solidFill>
                  <a:srgbClr val="6F8CA1"/>
                </a:solidFill>
                <a:cs typeface="Arial"/>
              </a:rPr>
              <a:t>netstat</a:t>
            </a: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 </a:t>
            </a:r>
            <a:r>
              <a:rPr lang="fr-FR" dirty="0" smtClean="0"/>
              <a:t> 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600200"/>
            <a:ext cx="4214842" cy="4525963"/>
          </a:xfrm>
        </p:spPr>
        <p:txBody>
          <a:bodyPr>
            <a:normAutofit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L'utilitaire </a:t>
            </a:r>
            <a:r>
              <a:rPr lang="fr-FR" sz="2000" dirty="0" err="1" smtClean="0">
                <a:latin typeface="Arial" pitchFamily="34" charset="0"/>
                <a:cs typeface="Arial" pitchFamily="34" charset="0"/>
              </a:rPr>
              <a:t>netstat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 est un utilitaire de réseau important qui peut être utilisé pour vérifier ces connexions.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 Il répertorie le protocole utilisé, l'adresse et le numéro de port locaux, l'adresse et le numéro de port distants, et l'état de la connexion.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 </a:t>
            </a:r>
            <a:r>
              <a:rPr lang="fr-FR" sz="2000" dirty="0" err="1" smtClean="0">
                <a:latin typeface="Arial" pitchFamily="34" charset="0"/>
                <a:cs typeface="Arial" pitchFamily="34" charset="0"/>
              </a:rPr>
              <a:t>Netstat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 doit être  utilisé pour examiner les connexions ouvertes sur un hôte lorsque les performances semblent se dégrader.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7700" y="2571744"/>
            <a:ext cx="46863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9144000" cy="25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2643182"/>
            <a:ext cx="3870632" cy="1517905"/>
          </a:xfrm>
        </p:spPr>
        <p:txBody>
          <a:bodyPr>
            <a:normAutofit fontScale="90000"/>
          </a:bodyPr>
          <a:lstStyle/>
          <a:p>
            <a:pPr lvl="1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FFFFFF"/>
                </a:solidFill>
                <a:latin typeface="Arial"/>
                <a:ea typeface="ＭＳ Ｐゴシック" charset="0"/>
              </a:rPr>
              <a:t>7.2 TCP et UDP</a:t>
            </a:r>
            <a: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  <a:t/>
            </a:r>
            <a:b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</a:br>
            <a:r>
              <a:rPr lang="fr-FR" sz="2400" dirty="0">
                <a:solidFill>
                  <a:srgbClr val="FFFFFF"/>
                </a:solidFill>
                <a:latin typeface="Arial"/>
                <a:ea typeface="ＭＳ Ｐゴシック" charset="0"/>
              </a:rPr>
              <a:t/>
            </a:r>
            <a:br>
              <a:rPr lang="fr-FR" sz="2400" dirty="0">
                <a:solidFill>
                  <a:srgbClr val="FFFFFF"/>
                </a:solidFill>
                <a:latin typeface="Arial"/>
                <a:ea typeface="ＭＳ Ｐゴシック" charset="0"/>
              </a:rPr>
            </a:br>
            <a: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  <a:t/>
            </a:r>
            <a:br>
              <a:rPr lang="en-US" sz="2400" dirty="0">
                <a:solidFill>
                  <a:srgbClr val="FFFFFF"/>
                </a:solidFill>
                <a:latin typeface="Arial"/>
                <a:ea typeface="ＭＳ Ｐゴシック" charset="0"/>
              </a:rPr>
            </a:br>
            <a:r>
              <a:rPr lang="en-US" sz="2800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  <a:t/>
            </a:r>
            <a:br>
              <a:rPr lang="en-US" sz="2800" dirty="0" smtClean="0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0"/>
              </a:rPr>
            </a:br>
            <a:endParaRPr lang="en-US" sz="2800" dirty="0">
              <a:solidFill>
                <a:srgbClr val="FFFFFF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A61DA-17B9-485B-AA26-23E088CDE782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Communication TCP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dirty="0" smtClean="0"/>
              <a:t> </a:t>
            </a: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Processus serveur TCP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1071546"/>
            <a:ext cx="466725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24275"/>
            <a:ext cx="47053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600" y="3771900"/>
            <a:ext cx="4724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Communication TCP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dirty="0" smtClean="0"/>
              <a:t> </a:t>
            </a: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Processus serveur TCP (suite)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306"/>
            <a:ext cx="4357686" cy="293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6113" y="2500306"/>
            <a:ext cx="4227887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Communication TCP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Établissement d'une connexion TCP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3643314"/>
            <a:ext cx="2928926" cy="1054089"/>
          </a:xfrm>
        </p:spPr>
        <p:txBody>
          <a:bodyPr>
            <a:noAutofit/>
          </a:bodyPr>
          <a:lstStyle/>
          <a:p>
            <a:r>
              <a:rPr lang="fr-FR" sz="1600" b="1" dirty="0" smtClean="0">
                <a:latin typeface="Arial" pitchFamily="34" charset="0"/>
                <a:cs typeface="Arial" pitchFamily="34" charset="0"/>
              </a:rPr>
              <a:t>Étape 1</a:t>
            </a:r>
            <a:r>
              <a:rPr lang="fr-FR" sz="1400" b="1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fr-FR" sz="1400" dirty="0" smtClean="0">
                <a:latin typeface="Arial" pitchFamily="34" charset="0"/>
                <a:cs typeface="Arial" pitchFamily="34" charset="0"/>
              </a:rPr>
              <a:t>Le client demande l'établissement d'une session avec le serveur.</a:t>
            </a:r>
            <a:endParaRPr lang="fr-FR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1"/>
            <a:ext cx="2766100" cy="221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6050" y="2428868"/>
            <a:ext cx="2937488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1080" y="4286256"/>
            <a:ext cx="3592920" cy="2290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5929322" y="3286124"/>
            <a:ext cx="3214678" cy="7143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fr-FR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Étape 3.</a:t>
            </a: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fr-FR" sz="1600" dirty="0" smtClean="0">
                <a:latin typeface="Arial" pitchFamily="34" charset="0"/>
                <a:cs typeface="Arial" pitchFamily="34" charset="0"/>
              </a:rPr>
              <a:t>Le client accuse réception de la session de communication serveur-client.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2428860" y="4714884"/>
            <a:ext cx="3214710" cy="121444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fr-FR" sz="2900" b="1" dirty="0" smtClean="0">
                <a:latin typeface="Arial" pitchFamily="34" charset="0"/>
                <a:cs typeface="Arial" pitchFamily="34" charset="0"/>
              </a:rPr>
              <a:t>Étape 2. </a:t>
            </a:r>
            <a:r>
              <a:rPr lang="fr-FR" sz="2500" dirty="0" smtClean="0">
                <a:latin typeface="Arial" pitchFamily="34" charset="0"/>
                <a:cs typeface="Arial" pitchFamily="34" charset="0"/>
              </a:rPr>
              <a:t>Le serveur accuse réception de la session de communication client-serveur et demande l'établissement d'une session de communication serveur-client..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>Communication TCP</a:t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Fermeture d'une connexion TCP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5475" y="1362075"/>
            <a:ext cx="535305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Exercice - Connexion TCP et processus d'interruption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928934"/>
            <a:ext cx="14859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2214554"/>
            <a:ext cx="4429904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500034" y="1285860"/>
            <a:ext cx="7929618" cy="1054089"/>
          </a:xfrm>
        </p:spPr>
        <p:txBody>
          <a:bodyPr>
            <a:noAutofit/>
          </a:bodyPr>
          <a:lstStyle/>
          <a:p>
            <a:r>
              <a:rPr lang="fr-FR" sz="1800" b="1" dirty="0" smtClean="0">
                <a:latin typeface="Arial" pitchFamily="34" charset="0"/>
                <a:cs typeface="Arial" pitchFamily="34" charset="0"/>
              </a:rPr>
              <a:t>Déterminer  avec les descripteurs suivants la  connexion en 3 étapes d'une session  d ’établissement TCP.</a:t>
            </a:r>
            <a:endParaRPr lang="fr-FR" sz="1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Correction Exercice - Connexion TCP </a:t>
            </a: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5063" y="1576388"/>
            <a:ext cx="5175046" cy="442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Fiabilité et contrôle de flux </a:t>
            </a: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Fiabilité du protocole TCP – Livraison ordonnée 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200" b="1" spc="10" dirty="0" smtClean="0">
                <a:solidFill>
                  <a:srgbClr val="6F8CA1"/>
                </a:solidFill>
                <a:cs typeface="Arial"/>
              </a:rPr>
            </a:br>
            <a:endParaRPr lang="fr-FR" sz="2200" b="1" spc="10" dirty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0200"/>
            <a:ext cx="4071934" cy="4525963"/>
          </a:xfrm>
        </p:spPr>
        <p:txBody>
          <a:bodyPr>
            <a:normAutofit fontScale="62500" lnSpcReduction="20000"/>
          </a:bodyPr>
          <a:lstStyle/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Lors de la configuration d’une session TCP, un numéro d'ordre initial, ou ISN, est défini.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L'ISN représente la valeur de début des octets de cette session qui est transmise à l'application destinataire.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Lors de la transmission des données pendant la session, le numéro d'ordre est incrémenté du nombre d'octets ayant été transmis.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Il est ainsi possible d'identifier les segments manquants.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6225" y="1714488"/>
            <a:ext cx="5057775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Fiabilité et contrôle de flux</a:t>
            </a:r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Contrôle de flux TCP  – Accusé de réception et taille de fenêtre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857364"/>
            <a:ext cx="3857652" cy="4572032"/>
          </a:xfrm>
        </p:spPr>
        <p:txBody>
          <a:bodyPr>
            <a:normAutofit fontScale="55000" lnSpcReduction="20000"/>
          </a:bodyPr>
          <a:lstStyle/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Les services TCP sur l'hôte de destination accusent réception des données reçues à l'application source.</a:t>
            </a: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Le numéro d'ordre (SEQ) et celui d'accusé de réception (ACK) sont utilisés ensemble pour confirmer la réception des octets de données contenus dans les segments envoyés. </a:t>
            </a:r>
          </a:p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Le numéro SEQ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indique le nombre d'octets qui ont été transmis dans cette session, y compris les octets dans le segment actuel. </a:t>
            </a:r>
          </a:p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Le numéro ACK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renvoyé à la </a:t>
            </a:r>
            <a:r>
              <a:rPr lang="fr-FR" sz="3300" dirty="0" smtClean="0">
                <a:latin typeface="Arial" pitchFamily="34" charset="0"/>
                <a:cs typeface="Arial" pitchFamily="34" charset="0"/>
              </a:rPr>
              <a:t>source pour indiquer l'octet suivant que le destinataire s'attend à recevoir. </a:t>
            </a:r>
          </a:p>
          <a:p>
            <a:endParaRPr lang="fr-FR" dirty="0" smtClean="0"/>
          </a:p>
          <a:p>
            <a:endParaRPr lang="fr-FR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2000240"/>
            <a:ext cx="50292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Fiabilité et contrôle de flux</a:t>
            </a:r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Contrôle de flux TCP  – Accusé de réception et taille de fenêtre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600200"/>
            <a:ext cx="4000528" cy="5043510"/>
          </a:xfrm>
        </p:spPr>
        <p:txBody>
          <a:bodyPr>
            <a:normAutofit fontScale="92500" lnSpcReduction="10000"/>
          </a:bodyPr>
          <a:lstStyle/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L'en-tête TCP comprend un champ de 16 bits appelé la taille de fenêtre.</a:t>
            </a: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C’ est le nombre d'octets que le périphérique de destination d'une session TCP peut accepter et traiter en une seule fois. </a:t>
            </a: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Dans cet exemple, la taille de fenêtre initiale d'une session TCP représentée est définie à 3000 octets.</a:t>
            </a: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 Lorsque l'expéditeur a transmis 3 000 octets, il attend l'accusé de réception de ces octets avant de transmettre d'autres segments de cette session. </a:t>
            </a: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Une fois que l'expéditeur a reçu l'accusé de réception provenant du destinataire, il peut transmettre 3 000 octets supplémentaires.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9100" y="1785926"/>
            <a:ext cx="49149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32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32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Fiabilité et contrôle de flux </a:t>
            </a:r>
            <a:r>
              <a:rPr lang="fr-FR" sz="3100" dirty="0" smtClean="0"/>
              <a:t/>
            </a:r>
            <a:br>
              <a:rPr lang="fr-FR" sz="3100" dirty="0" smtClean="0"/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Contrôle de flux TCP – Suppression d'encombrement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814514"/>
            <a:ext cx="4143372" cy="5043510"/>
          </a:xfrm>
        </p:spPr>
        <p:txBody>
          <a:bodyPr>
            <a:noAutofit/>
          </a:bodyPr>
          <a:lstStyle/>
          <a:p>
            <a:r>
              <a:rPr lang="fr-FR" sz="1700" dirty="0" smtClean="0">
                <a:latin typeface="Arial" pitchFamily="34" charset="0"/>
                <a:cs typeface="Arial" pitchFamily="34" charset="0"/>
              </a:rPr>
              <a:t>La congestion cause retransmission des segments TCP perdus.</a:t>
            </a:r>
          </a:p>
          <a:p>
            <a:r>
              <a:rPr lang="fr-FR" sz="1700" dirty="0" smtClean="0">
                <a:latin typeface="Arial" pitchFamily="34" charset="0"/>
                <a:cs typeface="Arial" pitchFamily="34" charset="0"/>
              </a:rPr>
              <a:t>La retransmission de segments peut provoquer  plus de congestion.</a:t>
            </a:r>
          </a:p>
          <a:p>
            <a:r>
              <a:rPr lang="fr-FR" sz="1700" dirty="0" smtClean="0">
                <a:latin typeface="Arial" pitchFamily="34" charset="0"/>
                <a:cs typeface="Arial" pitchFamily="34" charset="0"/>
              </a:rPr>
              <a:t>Pour éviter et contrôler les congestions, le protocole TCP peut réduire la taille de fenêtre afin d'imposer l'envoi plus fréquent d'accusés de réception pour les segments reçus.</a:t>
            </a:r>
          </a:p>
          <a:p>
            <a:r>
              <a:rPr lang="fr-FR" sz="1700" dirty="0" smtClean="0">
                <a:latin typeface="Arial" pitchFamily="34" charset="0"/>
                <a:cs typeface="Arial" pitchFamily="34" charset="0"/>
              </a:rPr>
              <a:t>Dans la  conversation de la figure ci-contre, le destinataire a changé le champ de fenêtre dans l'en-tête TCP des segments renvoyés en le ramenant de 3 000 à 1 500. L'expéditeur a donc été obligé de réduire la taille de fenêtre à 1 500.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52448" y="2071678"/>
            <a:ext cx="509155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Communication UDP</a:t>
            </a:r>
            <a:r>
              <a:rPr lang="fr-FR" sz="3100" dirty="0" smtClean="0"/>
              <a:t/>
            </a:r>
            <a:br>
              <a:rPr lang="fr-FR" sz="3100" dirty="0" smtClean="0"/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Faible surcharge et fiabilité du protocole UDP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0200"/>
            <a:ext cx="4071934" cy="4525963"/>
          </a:xfrm>
        </p:spPr>
        <p:txBody>
          <a:bodyPr>
            <a:normAutofit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UDP n'est pas orienté connexion. 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UDP ne propose pas de mécanismes de fiabilité (retransmission, séquençage et contrôle de flux).</a:t>
            </a: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Ces fonctions, qui ne sont pas fournies par UDP,  doivent être implémentées à un autre niveau.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6700" y="2214554"/>
            <a:ext cx="50673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Communication UDP</a:t>
            </a:r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Réassemblage de datagrammes UDP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b="1" spc="10" dirty="0" smtClean="0">
                <a:solidFill>
                  <a:srgbClr val="6F8CA1"/>
                </a:solidFill>
                <a:cs typeface="Arial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00266"/>
            <a:ext cx="3929090" cy="3257560"/>
          </a:xfrm>
        </p:spPr>
        <p:txBody>
          <a:bodyPr>
            <a:normAutofit lnSpcReduction="10000"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Le protocole UDP se contente de réassembler les données dans l'ordre dans lequel elles ont été reçues, puis de les transmettre à l'application.</a:t>
            </a:r>
          </a:p>
          <a:p>
            <a:pPr>
              <a:buNone/>
            </a:pPr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L'application doit identifier l'ordre correct et déterminer le mode de traitement des données.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00525" y="1714488"/>
            <a:ext cx="494347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Communication UDP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Processus et requêtes des serveurs UDP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3829048" cy="4525963"/>
          </a:xfrm>
        </p:spPr>
        <p:txBody>
          <a:bodyPr>
            <a:normAutofit/>
          </a:bodyPr>
          <a:lstStyle/>
          <a:p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Les applications serveur basées sur le protocole UDP se voient attribuer des numéros de port réservés ou enregistrés. </a:t>
            </a:r>
          </a:p>
          <a:p>
            <a:pPr>
              <a:buNone/>
            </a:pPr>
            <a:endParaRPr lang="fr-FR" sz="1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800" dirty="0" smtClean="0">
                <a:latin typeface="Arial" pitchFamily="34" charset="0"/>
                <a:cs typeface="Arial" pitchFamily="34" charset="0"/>
              </a:rPr>
              <a:t>Note:  le Serveur RADIUS montré sur la figure fournit l’authentification, l’autorisation, et services de comptabilité à gérer l'accès des utilisateurs.</a:t>
            </a:r>
            <a:endParaRPr lang="fr-FR" sz="1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48175" y="1928802"/>
            <a:ext cx="4695825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Communication UDP</a:t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Processus des clients UDP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451485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81525" y="1857364"/>
            <a:ext cx="456247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Communication UDP</a:t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Processus des clients UDP (suite)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21860"/>
            <a:ext cx="4500562" cy="370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5427" y="2143116"/>
            <a:ext cx="4368573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TCP ou UDP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Applications utilisant le protocole TCP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500306"/>
            <a:ext cx="3071834" cy="3625857"/>
          </a:xfrm>
        </p:spPr>
        <p:txBody>
          <a:bodyPr>
            <a:normAutofit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Les  applications qui ont besoin de la fiabilité et des autres services proposés par le protocole TCP.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1851518"/>
            <a:ext cx="5057777" cy="389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/>
            </a:r>
            <a:br>
              <a:rPr lang="fr-FR" sz="2400" b="1" spc="10" dirty="0" smtClean="0">
                <a:solidFill>
                  <a:srgbClr val="6F8CA1"/>
                </a:solidFill>
                <a:cs typeface="Arial"/>
              </a:rPr>
            </a:br>
            <a:r>
              <a:rPr lang="fr-FR" sz="2400" b="1" spc="10" dirty="0" smtClean="0">
                <a:solidFill>
                  <a:srgbClr val="6F8CA1"/>
                </a:solidFill>
                <a:cs typeface="Arial"/>
              </a:rPr>
              <a:t>TCP ou UDP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sz="3100" b="1" spc="10" dirty="0" smtClean="0">
                <a:solidFill>
                  <a:srgbClr val="6F8CA1"/>
                </a:solidFill>
                <a:cs typeface="Arial"/>
              </a:rPr>
              <a:t>Applications utilisant le protocole UDP</a:t>
            </a:r>
            <a:br>
              <a:rPr lang="fr-FR" sz="3100" b="1" spc="10" dirty="0" smtClean="0">
                <a:solidFill>
                  <a:srgbClr val="6F8CA1"/>
                </a:solidFill>
                <a:cs typeface="Arial"/>
              </a:rPr>
            </a:br>
            <a:endParaRPr lang="fr-FR" sz="3100" b="1" spc="10" dirty="0" smtClean="0">
              <a:solidFill>
                <a:srgbClr val="6F8CA1"/>
              </a:solidFill>
              <a:cs typeface="Arial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600200"/>
            <a:ext cx="3286148" cy="4525963"/>
          </a:xfrm>
        </p:spPr>
        <p:txBody>
          <a:bodyPr>
            <a:normAutofit/>
          </a:bodyPr>
          <a:lstStyle/>
          <a:p>
            <a:r>
              <a:rPr lang="fr-FR" sz="2000" dirty="0" smtClean="0">
                <a:latin typeface="Arial" pitchFamily="34" charset="0"/>
                <a:cs typeface="Arial" pitchFamily="34" charset="0"/>
              </a:rPr>
              <a:t>Trois types d'application plus adaptés au protocole UDP :</a:t>
            </a:r>
          </a:p>
          <a:p>
            <a:pPr lvl="1"/>
            <a:r>
              <a:rPr lang="fr-FR" sz="1800" dirty="0" smtClean="0">
                <a:latin typeface="Arial" pitchFamily="34" charset="0"/>
                <a:cs typeface="Arial" pitchFamily="34" charset="0"/>
              </a:rPr>
              <a:t>Les applications vidéo et multimédias, telles que la </a:t>
            </a:r>
            <a:r>
              <a:rPr lang="fr-FR" sz="1800" dirty="0" err="1" smtClean="0">
                <a:latin typeface="Arial" pitchFamily="34" charset="0"/>
                <a:cs typeface="Arial" pitchFamily="34" charset="0"/>
              </a:rPr>
              <a:t>VoIP</a:t>
            </a:r>
            <a:r>
              <a:rPr lang="fr-FR" sz="1800" dirty="0" smtClean="0">
                <a:latin typeface="Arial" pitchFamily="34" charset="0"/>
                <a:cs typeface="Arial" pitchFamily="34" charset="0"/>
              </a:rPr>
              <a:t> et la télévision sur IP (IPTV).</a:t>
            </a:r>
          </a:p>
          <a:p>
            <a:pPr lvl="1"/>
            <a:r>
              <a:rPr lang="fr-FR" sz="1800" dirty="0" smtClean="0">
                <a:latin typeface="Arial" pitchFamily="34" charset="0"/>
                <a:cs typeface="Arial" pitchFamily="34" charset="0"/>
              </a:rPr>
              <a:t>Les applications qui utilisent des transactions simples de requête et de réponse.</a:t>
            </a:r>
          </a:p>
          <a:p>
            <a:pPr lvl="1"/>
            <a:r>
              <a:rPr lang="fr-FR" sz="1800" dirty="0" smtClean="0">
                <a:latin typeface="Arial" pitchFamily="34" charset="0"/>
                <a:cs typeface="Arial" pitchFamily="34" charset="0"/>
              </a:rPr>
              <a:t>Les applications qui gèrent elles-mêmes.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1643050"/>
            <a:ext cx="4829175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8555</TotalTime>
  <Words>955</Words>
  <PresentationFormat>Affichage à l'écran (4:3)</PresentationFormat>
  <Paragraphs>178</Paragraphs>
  <Slides>41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2" baseType="lpstr">
      <vt:lpstr>Thème Office</vt:lpstr>
      <vt:lpstr>Diapositive 1</vt:lpstr>
      <vt:lpstr>Plan </vt:lpstr>
      <vt:lpstr>Chapitre 7:   Couche transport</vt:lpstr>
      <vt:lpstr>Plan de chapitre 7</vt:lpstr>
      <vt:lpstr>7.1 Protocoles de couche transport     </vt:lpstr>
      <vt:lpstr>Transport des données Rôle de la couche transport </vt:lpstr>
      <vt:lpstr> Transport des données Rôle de la couche transport (suite)  </vt:lpstr>
      <vt:lpstr>Transport des données Rôle de la couche transport </vt:lpstr>
      <vt:lpstr>Transport des données Fiabilité de la couche transport </vt:lpstr>
      <vt:lpstr>Transport des données TCP </vt:lpstr>
      <vt:lpstr>Transport des données TCP (suite) </vt:lpstr>
      <vt:lpstr>Transport des données TCP (suite) </vt:lpstr>
      <vt:lpstr>Transport des données UDP </vt:lpstr>
      <vt:lpstr> Transport des données  Le bon protocole de couche transport pour la bonne application </vt:lpstr>
      <vt:lpstr>   Présentation des protocoles TCP et UDP Présentation du protocole TCP  </vt:lpstr>
      <vt:lpstr>Présentation des protocoles TCP et UDP Présentation de l'UDP</vt:lpstr>
      <vt:lpstr> Présentation des protocoles TCP et UDP En-tête  UDP </vt:lpstr>
      <vt:lpstr>   Présentation des protocoles TCP et UDP Séparation de communications multiples  </vt:lpstr>
      <vt:lpstr>Présentation des protocoles TCP et UDP Adressage de ports TCP et UDP </vt:lpstr>
      <vt:lpstr>Présentation des protocoles TCP et UDP  Adressage de ports TCP et UDP  </vt:lpstr>
      <vt:lpstr>Présentation des protocoles TCP et UDP  Adressage de ports TCP et UDP  </vt:lpstr>
      <vt:lpstr>   Présentation des protocoles TCP et UDP Adressage de ports TCP et UDP (suite)  </vt:lpstr>
      <vt:lpstr>  Présentation des protocoles TCP et UDP La commande netstat   </vt:lpstr>
      <vt:lpstr>7.2 TCP et UDP    </vt:lpstr>
      <vt:lpstr>Communication TCP  Processus serveur TCP  </vt:lpstr>
      <vt:lpstr>Communication TCP  Processus serveur TCP (suite)  </vt:lpstr>
      <vt:lpstr>  Communication TCP Établissement d'une connexion TCP   </vt:lpstr>
      <vt:lpstr>  Communication TCP Fermeture d'une connexion TCP   </vt:lpstr>
      <vt:lpstr> Exercice - Connexion TCP et processus d'interruption   </vt:lpstr>
      <vt:lpstr>Correction Exercice - Connexion TCP   </vt:lpstr>
      <vt:lpstr> Fiabilité et contrôle de flux  Fiabilité du protocole TCP – Livraison ordonnée   </vt:lpstr>
      <vt:lpstr> Fiabilité et contrôle de flux Contrôle de flux TCP  – Accusé de réception et taille de fenêtre </vt:lpstr>
      <vt:lpstr> Fiabilité et contrôle de flux Contrôle de flux TCP  – Accusé de réception et taille de fenêtre </vt:lpstr>
      <vt:lpstr> Fiabilité et contrôle de flux  Contrôle de flux TCP – Suppression d'encombrement </vt:lpstr>
      <vt:lpstr>Communication UDP Faible surcharge et fiabilité du protocole UDP </vt:lpstr>
      <vt:lpstr>   Communication UDP Réassemblage de datagrammes UDP  </vt:lpstr>
      <vt:lpstr>Communication UDP  Processus et requêtes des serveurs UDP </vt:lpstr>
      <vt:lpstr> Communication UDP Processus des clients UDP </vt:lpstr>
      <vt:lpstr> Communication UDP Processus des clients UDP (suite) </vt:lpstr>
      <vt:lpstr> TCP ou UDP Applications utilisant le protocole TCP </vt:lpstr>
      <vt:lpstr> TCP ou UDP Applications utilisant le protocole UDP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USER</dc:creator>
  <cp:lastModifiedBy>USER</cp:lastModifiedBy>
  <cp:revision>48</cp:revision>
  <dcterms:created xsi:type="dcterms:W3CDTF">2022-11-27T08:08:21Z</dcterms:created>
  <dcterms:modified xsi:type="dcterms:W3CDTF">2025-12-07T18:51:20Z</dcterms:modified>
</cp:coreProperties>
</file>