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68" r:id="rId3"/>
    <p:sldId id="269" r:id="rId4"/>
    <p:sldId id="270" r:id="rId5"/>
    <p:sldId id="271" r:id="rId6"/>
    <p:sldId id="272" r:id="rId7"/>
    <p:sldId id="273" r:id="rId8"/>
    <p:sldId id="274" r:id="rId9"/>
    <p:sldId id="276" r:id="rId10"/>
    <p:sldId id="277" r:id="rId11"/>
    <p:sldId id="278" r:id="rId12"/>
    <p:sldId id="279" r:id="rId13"/>
    <p:sldId id="280" r:id="rId14"/>
    <p:sldId id="310" r:id="rId15"/>
    <p:sldId id="281" r:id="rId16"/>
    <p:sldId id="311" r:id="rId17"/>
    <p:sldId id="282" r:id="rId18"/>
    <p:sldId id="283" r:id="rId19"/>
    <p:sldId id="284" r:id="rId20"/>
    <p:sldId id="285" r:id="rId21"/>
    <p:sldId id="286" r:id="rId22"/>
    <p:sldId id="287" r:id="rId23"/>
    <p:sldId id="288" r:id="rId24"/>
    <p:sldId id="289" r:id="rId25"/>
    <p:sldId id="290" r:id="rId26"/>
    <p:sldId id="312" r:id="rId27"/>
    <p:sldId id="291" r:id="rId28"/>
    <p:sldId id="292" r:id="rId29"/>
    <p:sldId id="293" r:id="rId30"/>
    <p:sldId id="294" r:id="rId31"/>
    <p:sldId id="295" r:id="rId32"/>
    <p:sldId id="296" r:id="rId33"/>
    <p:sldId id="297" r:id="rId34"/>
    <p:sldId id="298" r:id="rId35"/>
    <p:sldId id="299" r:id="rId36"/>
    <p:sldId id="300" r:id="rId37"/>
    <p:sldId id="301" r:id="rId38"/>
    <p:sldId id="302" r:id="rId39"/>
    <p:sldId id="303" r:id="rId40"/>
    <p:sldId id="304" r:id="rId41"/>
    <p:sldId id="305" r:id="rId42"/>
    <p:sldId id="306" r:id="rId43"/>
    <p:sldId id="307" r:id="rId44"/>
    <p:sldId id="308" r:id="rId45"/>
    <p:sldId id="309" r:id="rId46"/>
  </p:sldIdLst>
  <p:sldSz cx="10058400" cy="7772400"/>
  <p:notesSz cx="10058400" cy="77724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978" y="-102"/>
      </p:cViewPr>
      <p:guideLst>
        <p:guide orient="horz" pos="2225"/>
        <p:guide pos="279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880"/>
              </a:lnSpc>
            </a:pPr>
            <a:r>
              <a:rPr dirty="0"/>
              <a:t>© </a:t>
            </a:r>
            <a:r>
              <a:rPr spc="-5" dirty="0"/>
              <a:t>2006, </a:t>
            </a:r>
            <a:r>
              <a:rPr dirty="0"/>
              <a:t>Cisco Systems, Inc. </a:t>
            </a:r>
            <a:r>
              <a:rPr spc="-5" dirty="0"/>
              <a:t>Tous droits</a:t>
            </a:r>
            <a:r>
              <a:rPr dirty="0"/>
              <a:t> </a:t>
            </a:r>
            <a:r>
              <a:rPr spc="-5" dirty="0"/>
              <a:t>réservés.</a:t>
            </a:r>
          </a:p>
          <a:p>
            <a:pPr marL="12700">
              <a:lnSpc>
                <a:spcPct val="100000"/>
              </a:lnSpc>
            </a:pPr>
            <a:r>
              <a:rPr spc="-5" dirty="0"/>
              <a:t>Presentation_ID.scr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12/7/2025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81280">
              <a:lnSpc>
                <a:spcPts val="880"/>
              </a:lnSpc>
            </a:pPr>
            <a:fld id="{81D60167-4931-47E6-BA6A-407CBD079E47}" type="slidenum">
              <a:rPr dirty="0"/>
              <a:pPr marL="81280">
                <a:lnSpc>
                  <a:spcPts val="880"/>
                </a:lnSpc>
              </a:pPr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880"/>
              </a:lnSpc>
            </a:pPr>
            <a:r>
              <a:rPr dirty="0"/>
              <a:t>© </a:t>
            </a:r>
            <a:r>
              <a:rPr spc="-5" dirty="0"/>
              <a:t>2006, </a:t>
            </a:r>
            <a:r>
              <a:rPr dirty="0"/>
              <a:t>Cisco Systems, Inc. </a:t>
            </a:r>
            <a:r>
              <a:rPr spc="-5" dirty="0"/>
              <a:t>Tous droits</a:t>
            </a:r>
            <a:r>
              <a:rPr dirty="0"/>
              <a:t> </a:t>
            </a:r>
            <a:r>
              <a:rPr spc="-5" dirty="0"/>
              <a:t>réservés.</a:t>
            </a:r>
          </a:p>
          <a:p>
            <a:pPr marL="12700">
              <a:lnSpc>
                <a:spcPct val="100000"/>
              </a:lnSpc>
            </a:pPr>
            <a:r>
              <a:rPr spc="-5" dirty="0"/>
              <a:t>Presentation_ID.scr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12/7/2025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81280">
              <a:lnSpc>
                <a:spcPts val="880"/>
              </a:lnSpc>
            </a:pPr>
            <a:fld id="{81D60167-4931-47E6-BA6A-407CBD079E47}" type="slidenum">
              <a:rPr dirty="0"/>
              <a:pPr marL="81280">
                <a:lnSpc>
                  <a:spcPts val="880"/>
                </a:lnSpc>
              </a:pPr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880"/>
              </a:lnSpc>
            </a:pPr>
            <a:r>
              <a:rPr dirty="0"/>
              <a:t>© </a:t>
            </a:r>
            <a:r>
              <a:rPr spc="-5" dirty="0"/>
              <a:t>2006, </a:t>
            </a:r>
            <a:r>
              <a:rPr dirty="0"/>
              <a:t>Cisco Systems, Inc. </a:t>
            </a:r>
            <a:r>
              <a:rPr spc="-5" dirty="0"/>
              <a:t>Tous droits</a:t>
            </a:r>
            <a:r>
              <a:rPr dirty="0"/>
              <a:t> </a:t>
            </a:r>
            <a:r>
              <a:rPr spc="-5" dirty="0"/>
              <a:t>réservés.</a:t>
            </a:r>
          </a:p>
          <a:p>
            <a:pPr marL="12700">
              <a:lnSpc>
                <a:spcPct val="100000"/>
              </a:lnSpc>
            </a:pPr>
            <a:r>
              <a:rPr spc="-5" dirty="0"/>
              <a:t>Presentation_ID.scr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12/7/2025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81280">
              <a:lnSpc>
                <a:spcPts val="880"/>
              </a:lnSpc>
            </a:pPr>
            <a:fld id="{81D60167-4931-47E6-BA6A-407CBD079E47}" type="slidenum">
              <a:rPr dirty="0"/>
              <a:pPr marL="81280">
                <a:lnSpc>
                  <a:spcPts val="880"/>
                </a:lnSpc>
              </a:pPr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880"/>
              </a:lnSpc>
            </a:pPr>
            <a:r>
              <a:rPr dirty="0"/>
              <a:t>© </a:t>
            </a:r>
            <a:r>
              <a:rPr spc="-5" dirty="0"/>
              <a:t>2006, </a:t>
            </a:r>
            <a:r>
              <a:rPr dirty="0"/>
              <a:t>Cisco Systems, Inc. </a:t>
            </a:r>
            <a:r>
              <a:rPr spc="-5" dirty="0"/>
              <a:t>Tous droits</a:t>
            </a:r>
            <a:r>
              <a:rPr dirty="0"/>
              <a:t> </a:t>
            </a:r>
            <a:r>
              <a:rPr spc="-5" dirty="0"/>
              <a:t>réservés.</a:t>
            </a:r>
          </a:p>
          <a:p>
            <a:pPr marL="12700">
              <a:lnSpc>
                <a:spcPct val="100000"/>
              </a:lnSpc>
            </a:pPr>
            <a:r>
              <a:rPr spc="-5" dirty="0"/>
              <a:t>Presentation_ID.scr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12/7/2025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81280">
              <a:lnSpc>
                <a:spcPts val="880"/>
              </a:lnSpc>
            </a:pPr>
            <a:fld id="{81D60167-4931-47E6-BA6A-407CBD079E47}" type="slidenum">
              <a:rPr dirty="0"/>
              <a:pPr marL="81280">
                <a:lnSpc>
                  <a:spcPts val="880"/>
                </a:lnSpc>
              </a:pPr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880"/>
              </a:lnSpc>
            </a:pPr>
            <a:r>
              <a:rPr dirty="0"/>
              <a:t>© </a:t>
            </a:r>
            <a:r>
              <a:rPr spc="-5" dirty="0"/>
              <a:t>2006, </a:t>
            </a:r>
            <a:r>
              <a:rPr dirty="0"/>
              <a:t>Cisco Systems, Inc. </a:t>
            </a:r>
            <a:r>
              <a:rPr spc="-5" dirty="0"/>
              <a:t>Tous droits</a:t>
            </a:r>
            <a:r>
              <a:rPr dirty="0"/>
              <a:t> </a:t>
            </a:r>
            <a:r>
              <a:rPr spc="-5" dirty="0"/>
              <a:t>réservés.</a:t>
            </a:r>
          </a:p>
          <a:p>
            <a:pPr marL="12700">
              <a:lnSpc>
                <a:spcPct val="100000"/>
              </a:lnSpc>
            </a:pPr>
            <a:r>
              <a:rPr spc="-5" dirty="0"/>
              <a:t>Presentation_ID.scr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12/7/2025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81280">
              <a:lnSpc>
                <a:spcPts val="880"/>
              </a:lnSpc>
            </a:pPr>
            <a:fld id="{81D60167-4931-47E6-BA6A-407CBD079E47}" type="slidenum">
              <a:rPr dirty="0"/>
              <a:pPr marL="81280">
                <a:lnSpc>
                  <a:spcPts val="880"/>
                </a:lnSpc>
              </a:pPr>
              <a:t>‹N°›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502920" y="7200068"/>
            <a:ext cx="8983532" cy="0"/>
          </a:xfrm>
          <a:custGeom>
            <a:avLst/>
            <a:gdLst/>
            <a:ahLst/>
            <a:cxnLst/>
            <a:rect l="l" t="t" r="r" b="b"/>
            <a:pathLst>
              <a:path w="6941820">
                <a:moveTo>
                  <a:pt x="0" y="0"/>
                </a:moveTo>
                <a:lnTo>
                  <a:pt x="6941820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02920" y="310896"/>
            <a:ext cx="90525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2920" y="1787652"/>
            <a:ext cx="90525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84511" y="7234080"/>
            <a:ext cx="2961640" cy="23852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880"/>
              </a:lnSpc>
            </a:pPr>
            <a:r>
              <a:rPr dirty="0"/>
              <a:t>© </a:t>
            </a:r>
            <a:r>
              <a:rPr spc="-5" dirty="0"/>
              <a:t>2006, </a:t>
            </a:r>
            <a:r>
              <a:rPr dirty="0"/>
              <a:t>Cisco Systems, Inc. </a:t>
            </a:r>
            <a:r>
              <a:rPr spc="-5" dirty="0"/>
              <a:t>Tous droits</a:t>
            </a:r>
            <a:r>
              <a:rPr dirty="0"/>
              <a:t> </a:t>
            </a:r>
            <a:r>
              <a:rPr spc="-5" dirty="0"/>
              <a:t>réservés.</a:t>
            </a:r>
          </a:p>
          <a:p>
            <a:pPr marL="12700">
              <a:lnSpc>
                <a:spcPct val="100000"/>
              </a:lnSpc>
            </a:pPr>
            <a:r>
              <a:rPr spc="-5" dirty="0"/>
              <a:t>Presentation_ID.scr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12/7/2025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195215" y="7244679"/>
            <a:ext cx="212837" cy="2308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81280">
              <a:lnSpc>
                <a:spcPts val="880"/>
              </a:lnSpc>
            </a:pPr>
            <a:fld id="{81D60167-4931-47E6-BA6A-407CBD079E47}" type="slidenum">
              <a:rPr dirty="0"/>
              <a:pPr marL="81280">
                <a:lnSpc>
                  <a:spcPts val="880"/>
                </a:lnSpc>
              </a:pPr>
              <a:t>‹N°›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isco.com/" TargetMode="External"/><Relationship Id="rId2" Type="http://schemas.openxmlformats.org/officeDocument/2006/relationships/hyperlink" Target="http://www.cisco.com/index.html" TargetMode="Externa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8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90600" y="1143000"/>
            <a:ext cx="7654064" cy="31414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8"/>
          <p:cNvSpPr txBox="1"/>
          <p:nvPr/>
        </p:nvSpPr>
        <p:spPr>
          <a:xfrm>
            <a:off x="1066800" y="1752600"/>
            <a:ext cx="3733800" cy="1241045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800" b="1" spc="5" dirty="0" smtClean="0">
                <a:solidFill>
                  <a:srgbClr val="FFFFFF"/>
                </a:solidFill>
                <a:latin typeface="Arial"/>
                <a:cs typeface="Arial"/>
              </a:rPr>
              <a:t>Chapitre 8: La </a:t>
            </a:r>
            <a:r>
              <a:rPr lang="fr-FR" sz="2800" b="1" spc="5" dirty="0" smtClean="0">
                <a:solidFill>
                  <a:srgbClr val="FFFFFF"/>
                </a:solidFill>
                <a:latin typeface="Arial"/>
                <a:cs typeface="Arial"/>
              </a:rPr>
              <a:t>couche</a:t>
            </a:r>
            <a:r>
              <a:rPr lang="fr-FR" sz="2800" b="1" spc="-60" dirty="0" smtClean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fr-FR" sz="2800" b="1" spc="0" dirty="0" smtClean="0">
                <a:solidFill>
                  <a:srgbClr val="FFFFFF"/>
                </a:solidFill>
                <a:latin typeface="Arial"/>
                <a:cs typeface="Arial"/>
              </a:rPr>
              <a:t>application</a:t>
            </a:r>
            <a:endParaRPr lang="fr-FR" sz="2800" b="1" dirty="0">
              <a:latin typeface="Arial"/>
              <a:cs typeface="Arial"/>
            </a:endParaRPr>
          </a:p>
        </p:txBody>
      </p:sp>
      <p:sp>
        <p:nvSpPr>
          <p:cNvPr id="4" name="object 39"/>
          <p:cNvSpPr txBox="1"/>
          <p:nvPr/>
        </p:nvSpPr>
        <p:spPr>
          <a:xfrm>
            <a:off x="990600" y="4800600"/>
            <a:ext cx="6400800" cy="5039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lang="fr-FR" sz="3200" b="1" spc="-10" dirty="0" smtClean="0">
                <a:latin typeface="Arial"/>
                <a:cs typeface="Arial"/>
              </a:rPr>
              <a:t>Notions de base sur les</a:t>
            </a:r>
            <a:r>
              <a:rPr lang="fr-FR" sz="3200" b="1" spc="-30" dirty="0" smtClean="0">
                <a:latin typeface="Arial"/>
                <a:cs typeface="Arial"/>
              </a:rPr>
              <a:t> </a:t>
            </a:r>
            <a:r>
              <a:rPr lang="fr-FR" sz="3200" b="1" spc="-10" dirty="0" smtClean="0">
                <a:latin typeface="Arial"/>
                <a:cs typeface="Arial"/>
              </a:rPr>
              <a:t>réseaux</a:t>
            </a:r>
            <a:endParaRPr lang="fr-FR" sz="32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4800" y="685800"/>
            <a:ext cx="4800600" cy="289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195"/>
              </a:lnSpc>
            </a:pPr>
            <a:r>
              <a:rPr lang="fr-FR" sz="2800" b="1" spc="-10" dirty="0" smtClean="0">
                <a:solidFill>
                  <a:srgbClr val="6F8CA1"/>
                </a:solidFill>
                <a:latin typeface="Arial"/>
                <a:cs typeface="Arial"/>
              </a:rPr>
              <a:t>Objectifs du chapitre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5400"/>
            <a:ext cx="8686800" cy="49654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5090" marR="146685" indent="-77470">
              <a:buClr>
                <a:srgbClr val="6F8CA1"/>
              </a:buClr>
              <a:buFont typeface="Wingdings"/>
              <a:buChar char=""/>
              <a:tabLst>
                <a:tab pos="85725" algn="l"/>
              </a:tabLst>
            </a:pPr>
            <a:r>
              <a:rPr lang="fr-FR" sz="2000" spc="5" dirty="0" smtClean="0">
                <a:cs typeface="Arial"/>
              </a:rPr>
              <a:t>Expliquer </a:t>
            </a:r>
            <a:r>
              <a:rPr lang="fr-FR" sz="2000" spc="10" dirty="0" smtClean="0">
                <a:cs typeface="Arial"/>
              </a:rPr>
              <a:t>comment </a:t>
            </a:r>
            <a:r>
              <a:rPr lang="fr-FR" sz="2000" spc="0" dirty="0" smtClean="0">
                <a:cs typeface="Arial"/>
              </a:rPr>
              <a:t>la </a:t>
            </a:r>
            <a:r>
              <a:rPr lang="fr-FR" sz="2000" spc="10" dirty="0" smtClean="0">
                <a:cs typeface="Arial"/>
              </a:rPr>
              <a:t>couche </a:t>
            </a:r>
            <a:r>
              <a:rPr lang="fr-FR" sz="2000" spc="5" dirty="0" smtClean="0">
                <a:cs typeface="Arial"/>
              </a:rPr>
              <a:t>application, </a:t>
            </a:r>
            <a:r>
              <a:rPr lang="fr-FR" sz="2000" spc="0" dirty="0" smtClean="0">
                <a:cs typeface="Arial"/>
              </a:rPr>
              <a:t>la </a:t>
            </a:r>
            <a:r>
              <a:rPr lang="fr-FR" sz="2000" spc="10" dirty="0" smtClean="0">
                <a:cs typeface="Arial"/>
              </a:rPr>
              <a:t>couche </a:t>
            </a:r>
            <a:r>
              <a:rPr lang="fr-FR" sz="2000" spc="5" dirty="0" smtClean="0">
                <a:cs typeface="Arial"/>
              </a:rPr>
              <a:t>session et </a:t>
            </a:r>
            <a:r>
              <a:rPr lang="fr-FR" sz="2000" spc="0" dirty="0" smtClean="0">
                <a:cs typeface="Arial"/>
              </a:rPr>
              <a:t>la </a:t>
            </a:r>
            <a:r>
              <a:rPr lang="fr-FR" sz="2000" spc="10" dirty="0" smtClean="0">
                <a:cs typeface="Arial"/>
              </a:rPr>
              <a:t>couche  </a:t>
            </a:r>
            <a:r>
              <a:rPr lang="fr-FR" sz="2000" spc="5" dirty="0" smtClean="0">
                <a:cs typeface="Arial"/>
              </a:rPr>
              <a:t>présentation collaborent </a:t>
            </a:r>
            <a:r>
              <a:rPr lang="fr-FR" sz="2000" spc="10" dirty="0" smtClean="0">
                <a:cs typeface="Arial"/>
              </a:rPr>
              <a:t>pour </a:t>
            </a:r>
            <a:r>
              <a:rPr lang="fr-FR" sz="2000" spc="5" dirty="0" smtClean="0">
                <a:cs typeface="Arial"/>
              </a:rPr>
              <a:t>fournir </a:t>
            </a:r>
            <a:r>
              <a:rPr lang="fr-FR" sz="2000" spc="10" dirty="0" smtClean="0">
                <a:cs typeface="Arial"/>
              </a:rPr>
              <a:t>des </a:t>
            </a:r>
            <a:r>
              <a:rPr lang="fr-FR" sz="2000" spc="5" dirty="0" smtClean="0">
                <a:cs typeface="Arial"/>
              </a:rPr>
              <a:t>services </a:t>
            </a:r>
            <a:r>
              <a:rPr lang="fr-FR" sz="2000" spc="10" dirty="0" smtClean="0">
                <a:cs typeface="Arial"/>
              </a:rPr>
              <a:t>réseau aux </a:t>
            </a:r>
            <a:r>
              <a:rPr lang="fr-FR" sz="2000" spc="5" dirty="0" smtClean="0">
                <a:cs typeface="Arial"/>
              </a:rPr>
              <a:t>applications </a:t>
            </a:r>
            <a:r>
              <a:rPr lang="fr-FR" sz="2000" spc="10" dirty="0" smtClean="0">
                <a:cs typeface="Arial"/>
              </a:rPr>
              <a:t>des  </a:t>
            </a:r>
            <a:r>
              <a:rPr lang="fr-FR" sz="2000" spc="0" dirty="0" smtClean="0">
                <a:cs typeface="Arial"/>
              </a:rPr>
              <a:t>utilisateurs</a:t>
            </a:r>
            <a:r>
              <a:rPr lang="fr-FR" sz="2000" spc="35" dirty="0" smtClean="0">
                <a:cs typeface="Arial"/>
              </a:rPr>
              <a:t> </a:t>
            </a:r>
            <a:r>
              <a:rPr lang="fr-FR" sz="2000" spc="5" dirty="0" smtClean="0">
                <a:cs typeface="Arial"/>
              </a:rPr>
              <a:t>finaux</a:t>
            </a:r>
            <a:endParaRPr lang="fr-FR" sz="2000" dirty="0" smtClean="0">
              <a:cs typeface="Arial"/>
            </a:endParaRPr>
          </a:p>
          <a:p>
            <a:pPr marL="85090" marR="5080" indent="-77470">
              <a:spcBef>
                <a:spcPts val="360"/>
              </a:spcBef>
              <a:buClr>
                <a:srgbClr val="6F8CA1"/>
              </a:buClr>
              <a:buFont typeface="Wingdings"/>
              <a:buChar char=""/>
              <a:tabLst>
                <a:tab pos="85725" algn="l"/>
              </a:tabLst>
            </a:pPr>
            <a:r>
              <a:rPr lang="fr-FR" sz="2000" spc="5" dirty="0" smtClean="0">
                <a:cs typeface="Arial"/>
              </a:rPr>
              <a:t>Décrire </a:t>
            </a:r>
            <a:r>
              <a:rPr lang="fr-FR" sz="2000" spc="10" dirty="0" smtClean="0">
                <a:cs typeface="Arial"/>
              </a:rPr>
              <a:t>comment </a:t>
            </a:r>
            <a:r>
              <a:rPr lang="fr-FR" sz="2000" spc="0" dirty="0" smtClean="0">
                <a:cs typeface="Arial"/>
              </a:rPr>
              <a:t>les </a:t>
            </a:r>
            <a:r>
              <a:rPr lang="fr-FR" sz="2000" spc="5" dirty="0" smtClean="0">
                <a:cs typeface="Arial"/>
              </a:rPr>
              <a:t>protocoles </a:t>
            </a:r>
            <a:r>
              <a:rPr lang="fr-FR" sz="2000" spc="10" dirty="0" smtClean="0">
                <a:cs typeface="Arial"/>
              </a:rPr>
              <a:t>de couche </a:t>
            </a:r>
            <a:r>
              <a:rPr lang="fr-FR" sz="2000" spc="5" dirty="0" smtClean="0">
                <a:cs typeface="Arial"/>
              </a:rPr>
              <a:t>application </a:t>
            </a:r>
            <a:r>
              <a:rPr lang="fr-FR" sz="2000" spc="10" dirty="0" smtClean="0">
                <a:cs typeface="Arial"/>
              </a:rPr>
              <a:t>courants </a:t>
            </a:r>
            <a:r>
              <a:rPr lang="fr-FR" sz="2000" spc="5" dirty="0" smtClean="0">
                <a:cs typeface="Arial"/>
              </a:rPr>
              <a:t>interagissent </a:t>
            </a:r>
            <a:r>
              <a:rPr lang="fr-FR" sz="2000" spc="10" dirty="0" smtClean="0">
                <a:cs typeface="Arial"/>
              </a:rPr>
              <a:t>avec  </a:t>
            </a:r>
            <a:r>
              <a:rPr lang="fr-FR" sz="2000" spc="0" dirty="0" smtClean="0">
                <a:cs typeface="Arial"/>
              </a:rPr>
              <a:t>les </a:t>
            </a:r>
            <a:r>
              <a:rPr lang="fr-FR" sz="2000" spc="5" dirty="0" smtClean="0">
                <a:cs typeface="Arial"/>
              </a:rPr>
              <a:t>applications </a:t>
            </a:r>
            <a:r>
              <a:rPr lang="fr-FR" sz="2000" spc="10" dirty="0" smtClean="0">
                <a:cs typeface="Arial"/>
              </a:rPr>
              <a:t>des </a:t>
            </a:r>
            <a:r>
              <a:rPr lang="fr-FR" sz="2000" spc="0" dirty="0" smtClean="0">
                <a:cs typeface="Arial"/>
              </a:rPr>
              <a:t>utilisateurs</a:t>
            </a:r>
            <a:r>
              <a:rPr lang="fr-FR" sz="2000" spc="110" dirty="0" smtClean="0">
                <a:cs typeface="Arial"/>
              </a:rPr>
              <a:t> </a:t>
            </a:r>
            <a:r>
              <a:rPr lang="fr-FR" sz="2000" spc="5" dirty="0" smtClean="0">
                <a:cs typeface="Arial"/>
              </a:rPr>
              <a:t>finaux</a:t>
            </a:r>
            <a:endParaRPr lang="fr-FR" sz="2000" dirty="0" smtClean="0">
              <a:cs typeface="Arial"/>
            </a:endParaRPr>
          </a:p>
          <a:p>
            <a:pPr marL="85090" marR="143510" indent="-77470">
              <a:spcBef>
                <a:spcPts val="360"/>
              </a:spcBef>
              <a:buClr>
                <a:srgbClr val="6F8CA1"/>
              </a:buClr>
              <a:buFont typeface="Wingdings"/>
              <a:buChar char=""/>
              <a:tabLst>
                <a:tab pos="85725" algn="l"/>
              </a:tabLst>
            </a:pPr>
            <a:r>
              <a:rPr lang="fr-FR" sz="2000" spc="5" dirty="0" smtClean="0">
                <a:cs typeface="Arial"/>
              </a:rPr>
              <a:t>Décrire </a:t>
            </a:r>
            <a:r>
              <a:rPr lang="fr-FR" sz="2000" spc="10" dirty="0" smtClean="0">
                <a:cs typeface="Arial"/>
              </a:rPr>
              <a:t>de façon </a:t>
            </a:r>
            <a:r>
              <a:rPr lang="fr-FR" sz="2000" spc="0" dirty="0" smtClean="0">
                <a:cs typeface="Arial"/>
              </a:rPr>
              <a:t>détaillée les </a:t>
            </a:r>
            <a:r>
              <a:rPr lang="fr-FR" sz="2000" spc="5" dirty="0" smtClean="0">
                <a:cs typeface="Arial"/>
              </a:rPr>
              <a:t>protocoles </a:t>
            </a:r>
            <a:r>
              <a:rPr lang="fr-FR" sz="2000" spc="10" dirty="0" smtClean="0">
                <a:cs typeface="Arial"/>
              </a:rPr>
              <a:t>de couche </a:t>
            </a:r>
            <a:r>
              <a:rPr lang="fr-FR" sz="2000" spc="5" dirty="0" smtClean="0">
                <a:cs typeface="Arial"/>
              </a:rPr>
              <a:t>application </a:t>
            </a:r>
            <a:r>
              <a:rPr lang="fr-FR" sz="2000" spc="10" dirty="0" smtClean="0">
                <a:cs typeface="Arial"/>
              </a:rPr>
              <a:t>courants </a:t>
            </a:r>
            <a:r>
              <a:rPr lang="fr-FR" sz="2000" spc="5" dirty="0" smtClean="0">
                <a:cs typeface="Arial"/>
              </a:rPr>
              <a:t>qui  fournissent </a:t>
            </a:r>
            <a:r>
              <a:rPr lang="fr-FR" sz="2000" spc="10" dirty="0" smtClean="0">
                <a:cs typeface="Arial"/>
              </a:rPr>
              <a:t>des </a:t>
            </a:r>
            <a:r>
              <a:rPr lang="fr-FR" sz="2000" spc="5" dirty="0" smtClean="0">
                <a:cs typeface="Arial"/>
              </a:rPr>
              <a:t>services Internet </a:t>
            </a:r>
            <a:r>
              <a:rPr lang="fr-FR" sz="2000" spc="10" dirty="0" smtClean="0">
                <a:cs typeface="Arial"/>
              </a:rPr>
              <a:t>aux </a:t>
            </a:r>
            <a:r>
              <a:rPr lang="fr-FR" sz="2000" spc="0" dirty="0" smtClean="0">
                <a:cs typeface="Arial"/>
              </a:rPr>
              <a:t>utilisateurs </a:t>
            </a:r>
            <a:r>
              <a:rPr lang="fr-FR" sz="2000" spc="5" dirty="0" smtClean="0">
                <a:cs typeface="Arial"/>
              </a:rPr>
              <a:t>finaux, </a:t>
            </a:r>
            <a:r>
              <a:rPr lang="fr-FR" sz="2000" spc="10" dirty="0" smtClean="0">
                <a:cs typeface="Arial"/>
              </a:rPr>
              <a:t>y </a:t>
            </a:r>
            <a:r>
              <a:rPr lang="fr-FR" sz="2000" spc="5" dirty="0" smtClean="0">
                <a:cs typeface="Arial"/>
              </a:rPr>
              <a:t>compris </a:t>
            </a:r>
            <a:r>
              <a:rPr lang="fr-FR" sz="2000" spc="0" dirty="0" smtClean="0">
                <a:cs typeface="Arial"/>
              </a:rPr>
              <a:t>les </a:t>
            </a:r>
            <a:r>
              <a:rPr lang="fr-FR" sz="2000" spc="5" dirty="0" smtClean="0">
                <a:cs typeface="Arial"/>
              </a:rPr>
              <a:t>services  </a:t>
            </a:r>
            <a:r>
              <a:rPr lang="fr-FR" sz="2000" spc="40" dirty="0" smtClean="0">
                <a:cs typeface="Arial"/>
              </a:rPr>
              <a:t>WWW </a:t>
            </a:r>
            <a:r>
              <a:rPr lang="fr-FR" sz="2000" spc="5" dirty="0" smtClean="0">
                <a:cs typeface="Arial"/>
              </a:rPr>
              <a:t>et </a:t>
            </a:r>
            <a:r>
              <a:rPr lang="fr-FR" sz="2000" spc="10" dirty="0" smtClean="0">
                <a:cs typeface="Arial"/>
              </a:rPr>
              <a:t>de</a:t>
            </a:r>
            <a:r>
              <a:rPr lang="fr-FR" sz="2000" spc="-75" dirty="0" smtClean="0">
                <a:cs typeface="Arial"/>
              </a:rPr>
              <a:t> </a:t>
            </a:r>
            <a:r>
              <a:rPr lang="fr-FR" sz="2000" spc="5" dirty="0" smtClean="0">
                <a:cs typeface="Arial"/>
              </a:rPr>
              <a:t>messagerie</a:t>
            </a:r>
            <a:endParaRPr lang="fr-FR" sz="2000" dirty="0" smtClean="0">
              <a:cs typeface="Arial"/>
            </a:endParaRPr>
          </a:p>
          <a:p>
            <a:pPr marL="85090" marR="323215" indent="-77470">
              <a:spcBef>
                <a:spcPts val="360"/>
              </a:spcBef>
              <a:buClr>
                <a:srgbClr val="6F8CA1"/>
              </a:buClr>
              <a:buFont typeface="Wingdings"/>
              <a:buChar char=""/>
              <a:tabLst>
                <a:tab pos="85725" algn="l"/>
              </a:tabLst>
            </a:pPr>
            <a:r>
              <a:rPr lang="fr-FR" sz="2000" spc="5" dirty="0" smtClean="0">
                <a:cs typeface="Arial"/>
              </a:rPr>
              <a:t>Décrire </a:t>
            </a:r>
            <a:r>
              <a:rPr lang="fr-FR" sz="2000" spc="0" dirty="0" smtClean="0">
                <a:cs typeface="Arial"/>
              </a:rPr>
              <a:t>les </a:t>
            </a:r>
            <a:r>
              <a:rPr lang="fr-FR" sz="2000" spc="5" dirty="0" smtClean="0">
                <a:cs typeface="Arial"/>
              </a:rPr>
              <a:t>protocoles </a:t>
            </a:r>
            <a:r>
              <a:rPr lang="fr-FR" sz="2000" spc="10" dirty="0" smtClean="0">
                <a:cs typeface="Arial"/>
              </a:rPr>
              <a:t>de couche </a:t>
            </a:r>
            <a:r>
              <a:rPr lang="fr-FR" sz="2000" spc="5" dirty="0" smtClean="0">
                <a:cs typeface="Arial"/>
              </a:rPr>
              <a:t>application qui fournissent </a:t>
            </a:r>
            <a:r>
              <a:rPr lang="fr-FR" sz="2000" spc="10" dirty="0" smtClean="0">
                <a:cs typeface="Arial"/>
              </a:rPr>
              <a:t>des </a:t>
            </a:r>
            <a:r>
              <a:rPr lang="fr-FR" sz="2000" spc="5" dirty="0" smtClean="0">
                <a:cs typeface="Arial"/>
              </a:rPr>
              <a:t>services  </a:t>
            </a:r>
            <a:r>
              <a:rPr lang="fr-FR" sz="2000" spc="10" dirty="0" smtClean="0">
                <a:cs typeface="Arial"/>
              </a:rPr>
              <a:t>d'adressage IP, notamment </a:t>
            </a:r>
            <a:r>
              <a:rPr lang="fr-FR" sz="2000" spc="0" dirty="0" smtClean="0">
                <a:cs typeface="Arial"/>
              </a:rPr>
              <a:t>les </a:t>
            </a:r>
            <a:r>
              <a:rPr lang="fr-FR" sz="2000" spc="5" dirty="0" smtClean="0">
                <a:cs typeface="Arial"/>
              </a:rPr>
              <a:t>protocoles </a:t>
            </a:r>
            <a:r>
              <a:rPr lang="fr-FR" sz="2000" spc="15" dirty="0" smtClean="0">
                <a:cs typeface="Arial"/>
              </a:rPr>
              <a:t>DNS </a:t>
            </a:r>
            <a:r>
              <a:rPr lang="fr-FR" sz="2000" spc="5" dirty="0" smtClean="0">
                <a:cs typeface="Arial"/>
              </a:rPr>
              <a:t>et</a:t>
            </a:r>
            <a:r>
              <a:rPr lang="fr-FR" sz="2000" spc="100" dirty="0" smtClean="0">
                <a:cs typeface="Arial"/>
              </a:rPr>
              <a:t> </a:t>
            </a:r>
            <a:r>
              <a:rPr lang="fr-FR" sz="2000" spc="15" dirty="0" smtClean="0">
                <a:cs typeface="Arial"/>
              </a:rPr>
              <a:t>DHCP</a:t>
            </a:r>
            <a:endParaRPr lang="fr-FR" sz="2000" dirty="0" smtClean="0">
              <a:cs typeface="Arial"/>
            </a:endParaRPr>
          </a:p>
          <a:p>
            <a:pPr marL="85090" marR="56515" indent="-77470">
              <a:spcBef>
                <a:spcPts val="360"/>
              </a:spcBef>
              <a:buClr>
                <a:srgbClr val="6F8CA1"/>
              </a:buClr>
              <a:buFont typeface="Wingdings"/>
              <a:buChar char=""/>
              <a:tabLst>
                <a:tab pos="85725" algn="l"/>
              </a:tabLst>
            </a:pPr>
            <a:r>
              <a:rPr lang="fr-FR" sz="2000" spc="5" dirty="0" smtClean="0">
                <a:cs typeface="Arial"/>
              </a:rPr>
              <a:t>Décrire </a:t>
            </a:r>
            <a:r>
              <a:rPr lang="fr-FR" sz="2000" spc="0" dirty="0" smtClean="0">
                <a:cs typeface="Arial"/>
              </a:rPr>
              <a:t>les </a:t>
            </a:r>
            <a:r>
              <a:rPr lang="fr-FR" sz="2000" spc="5" dirty="0" smtClean="0">
                <a:cs typeface="Arial"/>
              </a:rPr>
              <a:t>caractéristiques et </a:t>
            </a:r>
            <a:r>
              <a:rPr lang="fr-FR" sz="2000" spc="0" dirty="0" smtClean="0">
                <a:cs typeface="Arial"/>
              </a:rPr>
              <a:t>le </a:t>
            </a:r>
            <a:r>
              <a:rPr lang="fr-FR" sz="2000" spc="5" dirty="0" smtClean="0">
                <a:cs typeface="Arial"/>
              </a:rPr>
              <a:t>fonctionnement </a:t>
            </a:r>
            <a:r>
              <a:rPr lang="fr-FR" sz="2000" spc="10" dirty="0" smtClean="0">
                <a:cs typeface="Arial"/>
              </a:rPr>
              <a:t>des </a:t>
            </a:r>
            <a:r>
              <a:rPr lang="fr-FR" sz="2000" spc="5" dirty="0" smtClean="0">
                <a:cs typeface="Arial"/>
              </a:rPr>
              <a:t>protocoles </a:t>
            </a:r>
            <a:r>
              <a:rPr lang="fr-FR" sz="2000" spc="10" dirty="0" smtClean="0">
                <a:cs typeface="Arial"/>
              </a:rPr>
              <a:t>courants de  couche </a:t>
            </a:r>
            <a:r>
              <a:rPr lang="fr-FR" sz="2000" spc="5" dirty="0" smtClean="0">
                <a:cs typeface="Arial"/>
              </a:rPr>
              <a:t>application qui permettent </a:t>
            </a:r>
            <a:r>
              <a:rPr lang="fr-FR" sz="2000" spc="0" dirty="0" smtClean="0">
                <a:cs typeface="Arial"/>
              </a:rPr>
              <a:t>l'utilisation </a:t>
            </a:r>
            <a:r>
              <a:rPr lang="fr-FR" sz="2000" spc="10" dirty="0" smtClean="0">
                <a:cs typeface="Arial"/>
              </a:rPr>
              <a:t>des </a:t>
            </a:r>
            <a:r>
              <a:rPr lang="fr-FR" sz="2000" spc="5" dirty="0" smtClean="0">
                <a:cs typeface="Arial"/>
              </a:rPr>
              <a:t>services </a:t>
            </a:r>
            <a:r>
              <a:rPr lang="fr-FR" sz="2000" spc="10" dirty="0" smtClean="0">
                <a:cs typeface="Arial"/>
              </a:rPr>
              <a:t>de </a:t>
            </a:r>
            <a:r>
              <a:rPr lang="fr-FR" sz="2000" spc="5" dirty="0" smtClean="0">
                <a:cs typeface="Arial"/>
              </a:rPr>
              <a:t>partage </a:t>
            </a:r>
            <a:r>
              <a:rPr lang="fr-FR" sz="2000" spc="10" dirty="0" smtClean="0">
                <a:cs typeface="Arial"/>
              </a:rPr>
              <a:t>de </a:t>
            </a:r>
            <a:r>
              <a:rPr lang="fr-FR" sz="2000" spc="0" dirty="0" smtClean="0">
                <a:cs typeface="Arial"/>
              </a:rPr>
              <a:t>fichiers,  </a:t>
            </a:r>
            <a:r>
              <a:rPr lang="fr-FR" sz="2000" spc="10" dirty="0" smtClean="0">
                <a:cs typeface="Arial"/>
              </a:rPr>
              <a:t>notamment </a:t>
            </a:r>
            <a:r>
              <a:rPr lang="fr-FR" sz="2000" spc="15" dirty="0" smtClean="0">
                <a:cs typeface="Arial"/>
              </a:rPr>
              <a:t>FTP </a:t>
            </a:r>
            <a:r>
              <a:rPr lang="fr-FR" sz="2000" spc="5" dirty="0" smtClean="0">
                <a:cs typeface="Arial"/>
              </a:rPr>
              <a:t>et </a:t>
            </a:r>
            <a:r>
              <a:rPr lang="fr-FR" sz="2000" spc="0" dirty="0" smtClean="0">
                <a:cs typeface="Arial"/>
              </a:rPr>
              <a:t>le </a:t>
            </a:r>
            <a:r>
              <a:rPr lang="fr-FR" sz="2000" spc="5" dirty="0" smtClean="0">
                <a:cs typeface="Arial"/>
              </a:rPr>
              <a:t>protocole</a:t>
            </a:r>
            <a:r>
              <a:rPr lang="fr-FR" sz="2000" spc="55" dirty="0" smtClean="0">
                <a:cs typeface="Arial"/>
              </a:rPr>
              <a:t> </a:t>
            </a:r>
            <a:r>
              <a:rPr lang="fr-FR" sz="2000" spc="25" dirty="0" smtClean="0">
                <a:cs typeface="Arial"/>
              </a:rPr>
              <a:t>SMB</a:t>
            </a:r>
            <a:endParaRPr lang="fr-FR" sz="2000" dirty="0" smtClean="0">
              <a:cs typeface="Arial"/>
            </a:endParaRPr>
          </a:p>
          <a:p>
            <a:pPr marL="85090" marR="140970" indent="-77470">
              <a:spcBef>
                <a:spcPts val="360"/>
              </a:spcBef>
              <a:buClr>
                <a:srgbClr val="6F8CA1"/>
              </a:buClr>
              <a:buFont typeface="Wingdings"/>
              <a:buChar char=""/>
              <a:tabLst>
                <a:tab pos="85725" algn="l"/>
              </a:tabLst>
            </a:pPr>
            <a:r>
              <a:rPr lang="fr-FR" sz="2000" spc="5" dirty="0" smtClean="0">
                <a:cs typeface="Arial"/>
              </a:rPr>
              <a:t>Expliquer </a:t>
            </a:r>
            <a:r>
              <a:rPr lang="fr-FR" sz="2000" spc="10" dirty="0" smtClean="0">
                <a:cs typeface="Arial"/>
              </a:rPr>
              <a:t>comment </a:t>
            </a:r>
            <a:r>
              <a:rPr lang="fr-FR" sz="2000" spc="0" dirty="0" smtClean="0">
                <a:cs typeface="Arial"/>
              </a:rPr>
              <a:t>les </a:t>
            </a:r>
            <a:r>
              <a:rPr lang="fr-FR" sz="2000" spc="10" dirty="0" smtClean="0">
                <a:cs typeface="Arial"/>
              </a:rPr>
              <a:t>données sont </a:t>
            </a:r>
            <a:r>
              <a:rPr lang="fr-FR" sz="2000" spc="5" dirty="0" smtClean="0">
                <a:cs typeface="Arial"/>
              </a:rPr>
              <a:t>acheminées </a:t>
            </a:r>
            <a:r>
              <a:rPr lang="fr-FR" sz="2000" spc="10" dirty="0" smtClean="0">
                <a:cs typeface="Arial"/>
              </a:rPr>
              <a:t>sur </a:t>
            </a:r>
            <a:r>
              <a:rPr lang="fr-FR" sz="2000" spc="0" dirty="0" smtClean="0">
                <a:cs typeface="Arial"/>
              </a:rPr>
              <a:t>le </a:t>
            </a:r>
            <a:r>
              <a:rPr lang="fr-FR" sz="2000" spc="5" dirty="0" smtClean="0">
                <a:cs typeface="Arial"/>
              </a:rPr>
              <a:t>réseau, </a:t>
            </a:r>
            <a:r>
              <a:rPr lang="fr-FR" sz="2000" spc="10" dirty="0" smtClean="0">
                <a:cs typeface="Arial"/>
              </a:rPr>
              <a:t>de </a:t>
            </a:r>
            <a:r>
              <a:rPr lang="fr-FR" sz="2000" spc="5" dirty="0" smtClean="0">
                <a:cs typeface="Arial"/>
              </a:rPr>
              <a:t>l'ouverture  d'une application </a:t>
            </a:r>
            <a:r>
              <a:rPr lang="fr-FR" sz="2000" spc="15" dirty="0" smtClean="0">
                <a:cs typeface="Arial"/>
              </a:rPr>
              <a:t>à </a:t>
            </a:r>
            <a:r>
              <a:rPr lang="fr-FR" sz="2000" spc="0" dirty="0" smtClean="0">
                <a:cs typeface="Arial"/>
              </a:rPr>
              <a:t>leur</a:t>
            </a:r>
            <a:r>
              <a:rPr lang="fr-FR" sz="2000" spc="50" dirty="0" smtClean="0">
                <a:cs typeface="Arial"/>
              </a:rPr>
              <a:t> </a:t>
            </a:r>
            <a:r>
              <a:rPr lang="fr-FR" sz="2000" spc="5" dirty="0" smtClean="0">
                <a:cs typeface="Arial"/>
              </a:rPr>
              <a:t>réception</a:t>
            </a:r>
            <a:endParaRPr lang="fr-FR" sz="2000" dirty="0"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4800" y="685800"/>
            <a:ext cx="48006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lang="fr-FR" sz="2800" b="1" spc="-10" dirty="0" smtClean="0">
                <a:solidFill>
                  <a:srgbClr val="6F8CA1"/>
                </a:solidFill>
                <a:latin typeface="Arial"/>
                <a:cs typeface="Arial"/>
              </a:rPr>
              <a:t>Chapitre</a:t>
            </a:r>
            <a:r>
              <a:rPr lang="fr-FR" sz="2800" b="1" spc="5" dirty="0" smtClean="0">
                <a:solidFill>
                  <a:srgbClr val="6F8CA1"/>
                </a:solidFill>
                <a:latin typeface="Arial"/>
                <a:cs typeface="Arial"/>
              </a:rPr>
              <a:t> </a:t>
            </a:r>
            <a:r>
              <a:rPr lang="fr-FR" sz="2800" b="1" spc="-10" dirty="0" smtClean="0">
                <a:solidFill>
                  <a:srgbClr val="6F8CA1"/>
                </a:solidFill>
                <a:latin typeface="Arial"/>
                <a:cs typeface="Arial"/>
              </a:rPr>
              <a:t>10</a:t>
            </a:r>
            <a:endParaRPr lang="fr-FR" sz="2800" dirty="0">
              <a:latin typeface="Arial"/>
              <a:cs typeface="Arial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1295400"/>
            <a:ext cx="8686800" cy="25837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96215" lvl="1">
              <a:lnSpc>
                <a:spcPct val="200000"/>
              </a:lnSpc>
              <a:buAutoNum type="arabicPeriod"/>
              <a:tabLst>
                <a:tab pos="445134" algn="l"/>
              </a:tabLst>
            </a:pPr>
            <a:r>
              <a:rPr lang="fr-FR" sz="2000" spc="-5" dirty="0" smtClean="0">
                <a:latin typeface="+mj-lt"/>
                <a:cs typeface="Arial"/>
              </a:rPr>
              <a:t>Les protocoles de couche</a:t>
            </a:r>
            <a:r>
              <a:rPr lang="fr-FR" sz="2000" spc="-95" dirty="0" smtClean="0">
                <a:latin typeface="+mj-lt"/>
                <a:cs typeface="Arial"/>
              </a:rPr>
              <a:t> </a:t>
            </a:r>
            <a:r>
              <a:rPr lang="fr-FR" sz="2000" spc="-5" dirty="0" smtClean="0">
                <a:latin typeface="+mj-lt"/>
                <a:cs typeface="Arial"/>
              </a:rPr>
              <a:t>application</a:t>
            </a:r>
            <a:endParaRPr lang="fr-FR" sz="2000" dirty="0" smtClean="0">
              <a:latin typeface="+mj-lt"/>
              <a:cs typeface="Arial"/>
            </a:endParaRPr>
          </a:p>
          <a:p>
            <a:pPr marL="196215" marR="5080" lvl="1">
              <a:lnSpc>
                <a:spcPct val="200000"/>
              </a:lnSpc>
              <a:spcBef>
                <a:spcPts val="345"/>
              </a:spcBef>
              <a:buAutoNum type="arabicPeriod"/>
              <a:tabLst>
                <a:tab pos="445134" algn="l"/>
              </a:tabLst>
            </a:pPr>
            <a:r>
              <a:rPr lang="fr-FR" sz="2000" spc="-5" dirty="0" smtClean="0">
                <a:latin typeface="+mj-lt"/>
                <a:cs typeface="Arial"/>
              </a:rPr>
              <a:t>Les</a:t>
            </a:r>
            <a:r>
              <a:rPr lang="fr-FR" sz="2000" spc="-30" dirty="0" smtClean="0">
                <a:latin typeface="+mj-lt"/>
                <a:cs typeface="Arial"/>
              </a:rPr>
              <a:t> </a:t>
            </a:r>
            <a:r>
              <a:rPr lang="fr-FR" sz="2000" spc="-5" dirty="0" smtClean="0">
                <a:latin typeface="+mj-lt"/>
                <a:cs typeface="Arial"/>
              </a:rPr>
              <a:t>protocoles</a:t>
            </a:r>
            <a:r>
              <a:rPr lang="fr-FR" sz="2000" spc="-45" dirty="0" smtClean="0">
                <a:latin typeface="+mj-lt"/>
                <a:cs typeface="Arial"/>
              </a:rPr>
              <a:t> </a:t>
            </a:r>
            <a:r>
              <a:rPr lang="fr-FR" sz="2000" spc="-5" dirty="0" smtClean="0">
                <a:latin typeface="+mj-lt"/>
                <a:cs typeface="Arial"/>
              </a:rPr>
              <a:t>et</a:t>
            </a:r>
            <a:r>
              <a:rPr lang="fr-FR" sz="2000" spc="-25" dirty="0" smtClean="0">
                <a:latin typeface="+mj-lt"/>
                <a:cs typeface="Arial"/>
              </a:rPr>
              <a:t> </a:t>
            </a:r>
            <a:r>
              <a:rPr lang="fr-FR" sz="2000" spc="-5" dirty="0" smtClean="0">
                <a:latin typeface="+mj-lt"/>
                <a:cs typeface="Arial"/>
              </a:rPr>
              <a:t>services</a:t>
            </a:r>
            <a:r>
              <a:rPr lang="fr-FR" sz="2000" spc="-45" dirty="0" smtClean="0">
                <a:latin typeface="+mj-lt"/>
                <a:cs typeface="Arial"/>
              </a:rPr>
              <a:t> </a:t>
            </a:r>
            <a:r>
              <a:rPr lang="fr-FR" sz="2000" spc="-5" dirty="0" smtClean="0">
                <a:latin typeface="+mj-lt"/>
                <a:cs typeface="Arial"/>
              </a:rPr>
              <a:t>de</a:t>
            </a:r>
            <a:r>
              <a:rPr lang="fr-FR" sz="2000" spc="-25" dirty="0" smtClean="0">
                <a:latin typeface="+mj-lt"/>
                <a:cs typeface="Arial"/>
              </a:rPr>
              <a:t> </a:t>
            </a:r>
            <a:r>
              <a:rPr lang="fr-FR" sz="2000" spc="-5" dirty="0" smtClean="0">
                <a:latin typeface="+mj-lt"/>
                <a:cs typeface="Arial"/>
              </a:rPr>
              <a:t>couche</a:t>
            </a:r>
            <a:r>
              <a:rPr lang="fr-FR" sz="2000" spc="-40" dirty="0" smtClean="0">
                <a:latin typeface="+mj-lt"/>
                <a:cs typeface="Arial"/>
              </a:rPr>
              <a:t> </a:t>
            </a:r>
            <a:r>
              <a:rPr lang="fr-FR" sz="2000" spc="-5" dirty="0" smtClean="0">
                <a:latin typeface="+mj-lt"/>
                <a:cs typeface="Arial"/>
              </a:rPr>
              <a:t>application</a:t>
            </a:r>
            <a:r>
              <a:rPr lang="fr-FR" sz="2000" spc="-50" dirty="0" smtClean="0">
                <a:latin typeface="+mj-lt"/>
                <a:cs typeface="Arial"/>
              </a:rPr>
              <a:t> </a:t>
            </a:r>
            <a:r>
              <a:rPr lang="fr-FR" sz="2000" spc="-5" dirty="0" smtClean="0">
                <a:latin typeface="+mj-lt"/>
                <a:cs typeface="Arial"/>
              </a:rPr>
              <a:t>bien  connus</a:t>
            </a:r>
            <a:endParaRPr lang="fr-FR" sz="2000" dirty="0" smtClean="0">
              <a:latin typeface="+mj-lt"/>
              <a:cs typeface="Arial"/>
            </a:endParaRPr>
          </a:p>
          <a:p>
            <a:pPr marL="196215" lvl="1">
              <a:lnSpc>
                <a:spcPct val="200000"/>
              </a:lnSpc>
              <a:spcBef>
                <a:spcPts val="254"/>
              </a:spcBef>
              <a:buAutoNum type="arabicPeriod"/>
              <a:tabLst>
                <a:tab pos="445134" algn="l"/>
              </a:tabLst>
            </a:pPr>
            <a:r>
              <a:rPr lang="fr-FR" sz="2000" spc="-5" dirty="0" smtClean="0">
                <a:latin typeface="+mj-lt"/>
                <a:cs typeface="Arial"/>
              </a:rPr>
              <a:t>Le message entendu dans le monde</a:t>
            </a:r>
            <a:r>
              <a:rPr lang="fr-FR" sz="2000" spc="-125" dirty="0" smtClean="0">
                <a:latin typeface="+mj-lt"/>
                <a:cs typeface="Arial"/>
              </a:rPr>
              <a:t> </a:t>
            </a:r>
            <a:r>
              <a:rPr lang="fr-FR" sz="2000" spc="-5" dirty="0" smtClean="0">
                <a:latin typeface="+mj-lt"/>
                <a:cs typeface="Arial"/>
              </a:rPr>
              <a:t>entier</a:t>
            </a:r>
            <a:endParaRPr lang="fr-FR" sz="2000" dirty="0" smtClean="0">
              <a:latin typeface="+mj-lt"/>
              <a:cs typeface="Arial"/>
            </a:endParaRPr>
          </a:p>
          <a:p>
            <a:pPr marL="196215" lvl="1">
              <a:lnSpc>
                <a:spcPct val="200000"/>
              </a:lnSpc>
              <a:spcBef>
                <a:spcPts val="265"/>
              </a:spcBef>
              <a:buAutoNum type="arabicPeriod"/>
              <a:tabLst>
                <a:tab pos="445134" algn="l"/>
              </a:tabLst>
            </a:pPr>
            <a:r>
              <a:rPr lang="fr-FR" sz="2000" spc="-10" dirty="0" smtClean="0">
                <a:latin typeface="+mj-lt"/>
                <a:cs typeface="Arial"/>
              </a:rPr>
              <a:t>Résumé</a:t>
            </a:r>
            <a:endParaRPr lang="fr-FR" sz="2000" dirty="0">
              <a:latin typeface="+mj-lt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4800" y="685800"/>
            <a:ext cx="9144000" cy="966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lang="fr-FR" sz="2800" b="1" spc="-10" dirty="0" smtClean="0">
                <a:solidFill>
                  <a:srgbClr val="6F8CA1"/>
                </a:solidFill>
                <a:latin typeface="Arial"/>
                <a:cs typeface="Arial"/>
              </a:rPr>
              <a:t>Application, session et présentation</a:t>
            </a:r>
          </a:p>
          <a:p>
            <a:pPr>
              <a:lnSpc>
                <a:spcPct val="100000"/>
              </a:lnSpc>
              <a:spcBef>
                <a:spcPts val="90"/>
              </a:spcBef>
            </a:pPr>
            <a:r>
              <a:rPr lang="fr-FR" sz="2800" b="1" spc="-10" dirty="0" smtClean="0">
                <a:solidFill>
                  <a:srgbClr val="6F8CA1"/>
                </a:solidFill>
                <a:latin typeface="Arial"/>
                <a:cs typeface="Arial"/>
              </a:rPr>
              <a:t>Révision des modèles OSI et TCP/IP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5400"/>
            <a:ext cx="8686800" cy="6217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96215" lvl="1">
              <a:lnSpc>
                <a:spcPct val="200000"/>
              </a:lnSpc>
              <a:tabLst>
                <a:tab pos="445134" algn="l"/>
              </a:tabLst>
            </a:pPr>
            <a:r>
              <a:rPr lang="fr-FR" sz="2000" spc="-5" dirty="0" smtClean="0">
                <a:latin typeface="+mj-lt"/>
                <a:cs typeface="Arial"/>
              </a:rPr>
              <a:t>La couche application fournit l'interface avec le réseau.</a:t>
            </a:r>
          </a:p>
        </p:txBody>
      </p:sp>
      <p:sp>
        <p:nvSpPr>
          <p:cNvPr id="5" name="object 60"/>
          <p:cNvSpPr/>
          <p:nvPr/>
        </p:nvSpPr>
        <p:spPr>
          <a:xfrm>
            <a:off x="838200" y="2133600"/>
            <a:ext cx="7772399" cy="411873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4800" y="685800"/>
            <a:ext cx="8001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lang="fr-FR" sz="2800" b="1" spc="-10" dirty="0" smtClean="0">
                <a:solidFill>
                  <a:srgbClr val="6F8CA1"/>
                </a:solidFill>
                <a:latin typeface="Arial"/>
                <a:cs typeface="Arial"/>
              </a:rPr>
              <a:t>10.1 Les protocoles de couche</a:t>
            </a:r>
            <a:r>
              <a:rPr lang="fr-FR" sz="2800" b="1" spc="125" dirty="0" smtClean="0">
                <a:solidFill>
                  <a:srgbClr val="6F8CA1"/>
                </a:solidFill>
                <a:latin typeface="Arial"/>
                <a:cs typeface="Arial"/>
              </a:rPr>
              <a:t> </a:t>
            </a:r>
            <a:r>
              <a:rPr lang="fr-FR" sz="2800" b="1" spc="-10" dirty="0" smtClean="0">
                <a:solidFill>
                  <a:srgbClr val="6F8CA1"/>
                </a:solidFill>
                <a:latin typeface="Arial"/>
                <a:cs typeface="Arial"/>
              </a:rPr>
              <a:t>application</a:t>
            </a:r>
            <a:endParaRPr lang="fr-FR" sz="2800" dirty="0">
              <a:latin typeface="Arial"/>
              <a:cs typeface="Arial"/>
            </a:endParaRPr>
          </a:p>
        </p:txBody>
      </p:sp>
      <p:sp>
        <p:nvSpPr>
          <p:cNvPr id="7" name="object 6"/>
          <p:cNvSpPr/>
          <p:nvPr/>
        </p:nvSpPr>
        <p:spPr>
          <a:xfrm>
            <a:off x="1447800" y="1371600"/>
            <a:ext cx="7315200" cy="4191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81000" y="6096000"/>
            <a:ext cx="8368638" cy="3585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71805" marR="223520" indent="-472440">
              <a:lnSpc>
                <a:spcPct val="86300"/>
              </a:lnSpc>
              <a:spcBef>
                <a:spcPts val="180"/>
              </a:spcBef>
            </a:pPr>
            <a:r>
              <a:rPr lang="fr-FR" sz="2000" spc="-5" dirty="0" smtClean="0">
                <a:latin typeface="+mj-lt"/>
                <a:cs typeface="Arial"/>
              </a:rPr>
              <a:t>Les </a:t>
            </a:r>
            <a:r>
              <a:rPr lang="fr-FR" sz="2000" dirty="0" smtClean="0">
                <a:latin typeface="+mj-lt"/>
                <a:cs typeface="Arial"/>
              </a:rPr>
              <a:t>principaux </a:t>
            </a:r>
            <a:r>
              <a:rPr lang="fr-FR" sz="2000" spc="-5" dirty="0" smtClean="0">
                <a:latin typeface="+mj-lt"/>
                <a:cs typeface="Arial"/>
              </a:rPr>
              <a:t>parallèles </a:t>
            </a:r>
            <a:r>
              <a:rPr lang="fr-FR" sz="2000" dirty="0" smtClean="0">
                <a:latin typeface="+mj-lt"/>
                <a:cs typeface="Arial"/>
              </a:rPr>
              <a:t>se </a:t>
            </a:r>
            <a:r>
              <a:rPr lang="fr-FR" sz="2000" spc="-5" dirty="0" smtClean="0">
                <a:latin typeface="+mj-lt"/>
                <a:cs typeface="Arial"/>
              </a:rPr>
              <a:t>retrouvent dans les couches  </a:t>
            </a:r>
            <a:r>
              <a:rPr lang="fr-FR" sz="2000" dirty="0" smtClean="0">
                <a:latin typeface="+mj-lt"/>
                <a:cs typeface="Arial"/>
              </a:rPr>
              <a:t>transport </a:t>
            </a:r>
            <a:r>
              <a:rPr lang="fr-FR" sz="2000" spc="-5" dirty="0" smtClean="0">
                <a:latin typeface="+mj-lt"/>
                <a:cs typeface="Arial"/>
              </a:rPr>
              <a:t>et</a:t>
            </a:r>
            <a:r>
              <a:rPr lang="fr-FR" sz="2000" spc="-10" dirty="0" smtClean="0">
                <a:latin typeface="+mj-lt"/>
                <a:cs typeface="Arial"/>
              </a:rPr>
              <a:t> </a:t>
            </a:r>
            <a:r>
              <a:rPr lang="fr-FR" sz="2000" spc="-5" dirty="0" smtClean="0">
                <a:latin typeface="+mj-lt"/>
                <a:cs typeface="Arial"/>
              </a:rPr>
              <a:t>réseau.</a:t>
            </a:r>
            <a:endParaRPr lang="fr-FR" sz="2000" dirty="0">
              <a:latin typeface="+mj-lt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6"/>
          <p:cNvSpPr/>
          <p:nvPr/>
        </p:nvSpPr>
        <p:spPr>
          <a:xfrm>
            <a:off x="1447800" y="1371600"/>
            <a:ext cx="7315200" cy="4191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81000" y="6096000"/>
            <a:ext cx="8368638" cy="3585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71805" marR="223520" indent="-472440">
              <a:lnSpc>
                <a:spcPct val="86300"/>
              </a:lnSpc>
              <a:spcBef>
                <a:spcPts val="180"/>
              </a:spcBef>
            </a:pPr>
            <a:r>
              <a:rPr lang="fr-FR" sz="2000" spc="-5" dirty="0" smtClean="0">
                <a:latin typeface="+mj-lt"/>
                <a:cs typeface="Arial"/>
              </a:rPr>
              <a:t>Les </a:t>
            </a:r>
            <a:r>
              <a:rPr lang="fr-FR" sz="2000" dirty="0" smtClean="0">
                <a:latin typeface="+mj-lt"/>
                <a:cs typeface="Arial"/>
              </a:rPr>
              <a:t>principaux </a:t>
            </a:r>
            <a:r>
              <a:rPr lang="fr-FR" sz="2000" spc="-5" dirty="0" smtClean="0">
                <a:latin typeface="+mj-lt"/>
                <a:cs typeface="Arial"/>
              </a:rPr>
              <a:t>parallèles </a:t>
            </a:r>
            <a:r>
              <a:rPr lang="fr-FR" sz="2000" dirty="0" smtClean="0">
                <a:latin typeface="+mj-lt"/>
                <a:cs typeface="Arial"/>
              </a:rPr>
              <a:t>se </a:t>
            </a:r>
            <a:r>
              <a:rPr lang="fr-FR" sz="2000" spc="-5" dirty="0" smtClean="0">
                <a:latin typeface="+mj-lt"/>
                <a:cs typeface="Arial"/>
              </a:rPr>
              <a:t>retrouvent dans les couches  </a:t>
            </a:r>
            <a:r>
              <a:rPr lang="fr-FR" sz="2000" dirty="0" smtClean="0">
                <a:latin typeface="+mj-lt"/>
                <a:cs typeface="Arial"/>
              </a:rPr>
              <a:t>transport </a:t>
            </a:r>
            <a:r>
              <a:rPr lang="fr-FR" sz="2000" spc="-5" dirty="0" smtClean="0">
                <a:latin typeface="+mj-lt"/>
                <a:cs typeface="Arial"/>
              </a:rPr>
              <a:t>et</a:t>
            </a:r>
            <a:r>
              <a:rPr lang="fr-FR" sz="2000" spc="-10" dirty="0" smtClean="0">
                <a:latin typeface="+mj-lt"/>
                <a:cs typeface="Arial"/>
              </a:rPr>
              <a:t> </a:t>
            </a:r>
            <a:r>
              <a:rPr lang="fr-FR" sz="2000" spc="-5" dirty="0" smtClean="0">
                <a:latin typeface="+mj-lt"/>
                <a:cs typeface="Arial"/>
              </a:rPr>
              <a:t>réseau.</a:t>
            </a:r>
            <a:endParaRPr lang="fr-FR" sz="2000" dirty="0">
              <a:latin typeface="+mj-lt"/>
              <a:cs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28600" y="228600"/>
            <a:ext cx="4101123" cy="2077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910"/>
              </a:lnSpc>
              <a:spcBef>
                <a:spcPts val="90"/>
              </a:spcBef>
            </a:pPr>
            <a:r>
              <a:rPr lang="fr-FR" b="1" spc="-10" dirty="0" smtClean="0">
                <a:solidFill>
                  <a:srgbClr val="6F8CA1"/>
                </a:solidFill>
                <a:latin typeface="Arial"/>
                <a:cs typeface="Arial"/>
              </a:rPr>
              <a:t>Application, session </a:t>
            </a:r>
            <a:r>
              <a:rPr lang="fr-FR" b="1" spc="-5" dirty="0" smtClean="0">
                <a:solidFill>
                  <a:srgbClr val="6F8CA1"/>
                </a:solidFill>
                <a:latin typeface="Arial"/>
                <a:cs typeface="Arial"/>
              </a:rPr>
              <a:t>et</a:t>
            </a:r>
            <a:r>
              <a:rPr lang="fr-FR" b="1" spc="-20" dirty="0" smtClean="0">
                <a:solidFill>
                  <a:srgbClr val="6F8CA1"/>
                </a:solidFill>
                <a:latin typeface="Arial"/>
                <a:cs typeface="Arial"/>
              </a:rPr>
              <a:t> </a:t>
            </a:r>
            <a:r>
              <a:rPr lang="fr-FR" b="1" spc="-10" dirty="0" smtClean="0">
                <a:solidFill>
                  <a:srgbClr val="6F8CA1"/>
                </a:solidFill>
                <a:latin typeface="Arial"/>
                <a:cs typeface="Arial"/>
              </a:rPr>
              <a:t>présentation</a:t>
            </a:r>
            <a:endParaRPr lang="fr-FR" dirty="0">
              <a:latin typeface="Arial"/>
              <a:cs typeface="Arial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2400" y="609600"/>
            <a:ext cx="6352380" cy="2702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1030"/>
              </a:lnSpc>
            </a:pPr>
            <a:r>
              <a:rPr lang="fr-FR" sz="2800" b="1" spc="0" dirty="0" smtClean="0">
                <a:solidFill>
                  <a:srgbClr val="6F8CA1"/>
                </a:solidFill>
                <a:latin typeface="Arial"/>
                <a:cs typeface="Arial"/>
              </a:rPr>
              <a:t>Révision </a:t>
            </a:r>
            <a:r>
              <a:rPr lang="fr-FR" sz="2800" b="1" spc="5" dirty="0" smtClean="0">
                <a:solidFill>
                  <a:srgbClr val="6F8CA1"/>
                </a:solidFill>
                <a:latin typeface="Arial"/>
                <a:cs typeface="Arial"/>
              </a:rPr>
              <a:t>des modèles OSI et</a:t>
            </a:r>
            <a:r>
              <a:rPr lang="fr-FR" sz="2800" b="1" spc="-95" dirty="0" smtClean="0">
                <a:solidFill>
                  <a:srgbClr val="6F8CA1"/>
                </a:solidFill>
                <a:latin typeface="Arial"/>
                <a:cs typeface="Arial"/>
              </a:rPr>
              <a:t> </a:t>
            </a:r>
            <a:r>
              <a:rPr lang="fr-FR" sz="2800" b="1" spc="0" dirty="0" smtClean="0">
                <a:solidFill>
                  <a:srgbClr val="6F8CA1"/>
                </a:solidFill>
                <a:latin typeface="Arial"/>
                <a:cs typeface="Arial"/>
              </a:rPr>
              <a:t>TCP/IP</a:t>
            </a:r>
            <a:endParaRPr lang="fr-FR" sz="28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28600" y="228600"/>
            <a:ext cx="4101123" cy="2077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910"/>
              </a:lnSpc>
              <a:spcBef>
                <a:spcPts val="90"/>
              </a:spcBef>
            </a:pPr>
            <a:r>
              <a:rPr lang="fr-FR" b="1" spc="-10" dirty="0" smtClean="0">
                <a:solidFill>
                  <a:srgbClr val="6F8CA1"/>
                </a:solidFill>
                <a:latin typeface="Arial"/>
                <a:cs typeface="Arial"/>
              </a:rPr>
              <a:t>Application, session </a:t>
            </a:r>
            <a:r>
              <a:rPr lang="fr-FR" b="1" spc="-5" dirty="0" smtClean="0">
                <a:solidFill>
                  <a:srgbClr val="6F8CA1"/>
                </a:solidFill>
                <a:latin typeface="Arial"/>
                <a:cs typeface="Arial"/>
              </a:rPr>
              <a:t>et</a:t>
            </a:r>
            <a:r>
              <a:rPr lang="fr-FR" b="1" spc="-20" dirty="0" smtClean="0">
                <a:solidFill>
                  <a:srgbClr val="6F8CA1"/>
                </a:solidFill>
                <a:latin typeface="Arial"/>
                <a:cs typeface="Arial"/>
              </a:rPr>
              <a:t> </a:t>
            </a:r>
            <a:r>
              <a:rPr lang="fr-FR" b="1" spc="-10" dirty="0" smtClean="0">
                <a:solidFill>
                  <a:srgbClr val="6F8CA1"/>
                </a:solidFill>
                <a:latin typeface="Arial"/>
                <a:cs typeface="Arial"/>
              </a:rPr>
              <a:t>présentation</a:t>
            </a:r>
            <a:endParaRPr lang="fr-FR" dirty="0">
              <a:latin typeface="Arial"/>
              <a:cs typeface="Arial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2400" y="609600"/>
            <a:ext cx="3960058" cy="2702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1030"/>
              </a:lnSpc>
            </a:pPr>
            <a:r>
              <a:rPr lang="fr-FR" sz="2800" b="1" spc="5" dirty="0" smtClean="0">
                <a:solidFill>
                  <a:srgbClr val="6F8CA1"/>
                </a:solidFill>
                <a:latin typeface="Arial"/>
                <a:cs typeface="Arial"/>
              </a:rPr>
              <a:t>La couche</a:t>
            </a:r>
            <a:r>
              <a:rPr lang="fr-FR" sz="2800" b="1" spc="-55" dirty="0" smtClean="0">
                <a:solidFill>
                  <a:srgbClr val="6F8CA1"/>
                </a:solidFill>
                <a:latin typeface="Arial"/>
                <a:cs typeface="Arial"/>
              </a:rPr>
              <a:t> </a:t>
            </a:r>
            <a:r>
              <a:rPr lang="fr-FR" sz="2800" b="1" spc="0" dirty="0" smtClean="0">
                <a:solidFill>
                  <a:srgbClr val="6F8CA1"/>
                </a:solidFill>
                <a:latin typeface="Arial"/>
                <a:cs typeface="Arial"/>
              </a:rPr>
              <a:t>application</a:t>
            </a:r>
            <a:endParaRPr lang="fr-FR" sz="2800" dirty="0">
              <a:latin typeface="Arial"/>
              <a:cs typeface="Arial"/>
            </a:endParaRPr>
          </a:p>
        </p:txBody>
      </p:sp>
      <p:sp>
        <p:nvSpPr>
          <p:cNvPr id="8" name="object 15"/>
          <p:cNvSpPr/>
          <p:nvPr/>
        </p:nvSpPr>
        <p:spPr>
          <a:xfrm>
            <a:off x="533400" y="838200"/>
            <a:ext cx="8839200" cy="5638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28600" y="228600"/>
            <a:ext cx="4101123" cy="2077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910"/>
              </a:lnSpc>
              <a:spcBef>
                <a:spcPts val="90"/>
              </a:spcBef>
            </a:pPr>
            <a:r>
              <a:rPr lang="fr-FR" b="1" spc="-10" dirty="0" smtClean="0">
                <a:solidFill>
                  <a:srgbClr val="6F8CA1"/>
                </a:solidFill>
                <a:latin typeface="Arial"/>
                <a:cs typeface="Arial"/>
              </a:rPr>
              <a:t>Application, session </a:t>
            </a:r>
            <a:r>
              <a:rPr lang="fr-FR" b="1" spc="-5" dirty="0" smtClean="0">
                <a:solidFill>
                  <a:srgbClr val="6F8CA1"/>
                </a:solidFill>
                <a:latin typeface="Arial"/>
                <a:cs typeface="Arial"/>
              </a:rPr>
              <a:t>et</a:t>
            </a:r>
            <a:r>
              <a:rPr lang="fr-FR" b="1" spc="-20" dirty="0" smtClean="0">
                <a:solidFill>
                  <a:srgbClr val="6F8CA1"/>
                </a:solidFill>
                <a:latin typeface="Arial"/>
                <a:cs typeface="Arial"/>
              </a:rPr>
              <a:t> </a:t>
            </a:r>
            <a:r>
              <a:rPr lang="fr-FR" b="1" spc="-10" dirty="0" smtClean="0">
                <a:solidFill>
                  <a:srgbClr val="6F8CA1"/>
                </a:solidFill>
                <a:latin typeface="Arial"/>
                <a:cs typeface="Arial"/>
              </a:rPr>
              <a:t>présentation</a:t>
            </a:r>
            <a:endParaRPr lang="fr-FR" dirty="0">
              <a:latin typeface="Arial"/>
              <a:cs typeface="Arial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2400" y="609600"/>
            <a:ext cx="5842305" cy="2702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1030"/>
              </a:lnSpc>
            </a:pPr>
            <a:r>
              <a:rPr lang="fr-FR" sz="2800" b="1" spc="5" dirty="0" smtClean="0">
                <a:solidFill>
                  <a:srgbClr val="6F8CA1"/>
                </a:solidFill>
                <a:latin typeface="Arial"/>
                <a:cs typeface="Arial"/>
              </a:rPr>
              <a:t>Couches présentation et session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04800" y="1219200"/>
            <a:ext cx="8382000" cy="53501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10"/>
              </a:spcBef>
            </a:pPr>
            <a:r>
              <a:rPr lang="fr-FR" sz="2000" b="1" spc="0" dirty="0" smtClean="0">
                <a:latin typeface="+mj-lt"/>
                <a:cs typeface="Arial"/>
              </a:rPr>
              <a:t>La couche </a:t>
            </a:r>
            <a:r>
              <a:rPr lang="fr-FR" sz="2000" b="1" dirty="0" smtClean="0">
                <a:latin typeface="+mj-lt"/>
                <a:cs typeface="Arial"/>
              </a:rPr>
              <a:t>présentation </a:t>
            </a:r>
            <a:r>
              <a:rPr lang="fr-FR" sz="2000" b="1" spc="-5" dirty="0" smtClean="0">
                <a:latin typeface="+mj-lt"/>
                <a:cs typeface="Arial"/>
              </a:rPr>
              <a:t>remplit trois </a:t>
            </a:r>
            <a:r>
              <a:rPr lang="fr-FR" sz="2000" b="1" dirty="0" smtClean="0">
                <a:latin typeface="+mj-lt"/>
                <a:cs typeface="Arial"/>
              </a:rPr>
              <a:t>fonctions </a:t>
            </a:r>
            <a:r>
              <a:rPr lang="fr-FR" sz="2000" b="1" spc="-5" dirty="0" smtClean="0">
                <a:latin typeface="+mj-lt"/>
                <a:cs typeface="Arial"/>
              </a:rPr>
              <a:t>principales</a:t>
            </a:r>
            <a:r>
              <a:rPr lang="fr-FR" sz="2000" b="1" spc="-30" dirty="0" smtClean="0">
                <a:latin typeface="+mj-lt"/>
                <a:cs typeface="Arial"/>
              </a:rPr>
              <a:t> </a:t>
            </a:r>
            <a:r>
              <a:rPr lang="fr-FR" sz="2000" b="1" dirty="0" smtClean="0">
                <a:latin typeface="+mj-lt"/>
                <a:cs typeface="Arial"/>
              </a:rPr>
              <a:t>:</a:t>
            </a:r>
          </a:p>
          <a:p>
            <a:endParaRPr lang="fr-FR" sz="2000" dirty="0" smtClean="0">
              <a:latin typeface="+mj-lt"/>
              <a:cs typeface="Times New Roman"/>
            </a:endParaRPr>
          </a:p>
          <a:p>
            <a:pPr marL="112395" indent="-112395">
              <a:lnSpc>
                <a:spcPct val="150000"/>
              </a:lnSpc>
              <a:buChar char="•"/>
              <a:tabLst>
                <a:tab pos="113030" algn="l"/>
              </a:tabLst>
            </a:pPr>
            <a:r>
              <a:rPr lang="fr-FR" sz="2000" spc="0" dirty="0" smtClean="0">
                <a:latin typeface="+mj-lt"/>
                <a:cs typeface="Arial"/>
              </a:rPr>
              <a:t>Codage </a:t>
            </a:r>
            <a:r>
              <a:rPr lang="fr-FR" sz="2000" dirty="0" smtClean="0">
                <a:latin typeface="+mj-lt"/>
                <a:cs typeface="Arial"/>
              </a:rPr>
              <a:t>et conversion </a:t>
            </a:r>
            <a:r>
              <a:rPr lang="fr-FR" sz="2000" spc="0" dirty="0" smtClean="0">
                <a:latin typeface="+mj-lt"/>
                <a:cs typeface="Arial"/>
              </a:rPr>
              <a:t>des données de </a:t>
            </a:r>
            <a:r>
              <a:rPr lang="fr-FR" sz="2000" spc="-5" dirty="0" smtClean="0">
                <a:latin typeface="+mj-lt"/>
                <a:cs typeface="Arial"/>
              </a:rPr>
              <a:t>la </a:t>
            </a:r>
            <a:r>
              <a:rPr lang="fr-FR" sz="2000" spc="0" dirty="0" smtClean="0">
                <a:latin typeface="+mj-lt"/>
                <a:cs typeface="Arial"/>
              </a:rPr>
              <a:t>couche</a:t>
            </a:r>
            <a:r>
              <a:rPr lang="fr-FR" sz="2000" spc="-70" dirty="0" smtClean="0">
                <a:latin typeface="+mj-lt"/>
                <a:cs typeface="Arial"/>
              </a:rPr>
              <a:t> </a:t>
            </a:r>
            <a:r>
              <a:rPr lang="fr-FR" sz="2000" spc="-5" dirty="0" smtClean="0">
                <a:latin typeface="+mj-lt"/>
                <a:cs typeface="Arial"/>
              </a:rPr>
              <a:t>application</a:t>
            </a:r>
            <a:endParaRPr lang="fr-FR" sz="2000" dirty="0" smtClean="0">
              <a:latin typeface="+mj-lt"/>
              <a:cs typeface="Arial"/>
            </a:endParaRPr>
          </a:p>
          <a:p>
            <a:pPr marL="112395" indent="-112395">
              <a:lnSpc>
                <a:spcPct val="150000"/>
              </a:lnSpc>
              <a:buChar char="•"/>
              <a:tabLst>
                <a:tab pos="113030" algn="l"/>
              </a:tabLst>
            </a:pPr>
            <a:r>
              <a:rPr lang="fr-FR" sz="2000" dirty="0" smtClean="0">
                <a:latin typeface="+mj-lt"/>
                <a:cs typeface="Arial"/>
              </a:rPr>
              <a:t>Compression </a:t>
            </a:r>
            <a:r>
              <a:rPr lang="fr-FR" sz="2000" spc="0" dirty="0" smtClean="0">
                <a:latin typeface="+mj-lt"/>
                <a:cs typeface="Arial"/>
              </a:rPr>
              <a:t>des</a:t>
            </a:r>
            <a:r>
              <a:rPr lang="fr-FR" sz="2000" spc="-60" dirty="0" smtClean="0">
                <a:latin typeface="+mj-lt"/>
                <a:cs typeface="Arial"/>
              </a:rPr>
              <a:t> </a:t>
            </a:r>
            <a:r>
              <a:rPr lang="fr-FR" sz="2000" spc="0" dirty="0" smtClean="0">
                <a:latin typeface="+mj-lt"/>
                <a:cs typeface="Arial"/>
              </a:rPr>
              <a:t>données</a:t>
            </a:r>
            <a:endParaRPr lang="fr-FR" sz="2000" dirty="0" smtClean="0">
              <a:latin typeface="+mj-lt"/>
              <a:cs typeface="Arial"/>
            </a:endParaRPr>
          </a:p>
          <a:p>
            <a:pPr marL="112395" marR="269875" indent="-112395">
              <a:lnSpc>
                <a:spcPct val="150000"/>
              </a:lnSpc>
              <a:spcBef>
                <a:spcPts val="50"/>
              </a:spcBef>
              <a:buChar char="•"/>
              <a:tabLst>
                <a:tab pos="113030" algn="l"/>
              </a:tabLst>
            </a:pPr>
            <a:r>
              <a:rPr lang="fr-FR" sz="2000" dirty="0" smtClean="0">
                <a:latin typeface="+mj-lt"/>
                <a:cs typeface="Arial"/>
              </a:rPr>
              <a:t>Chiffrement </a:t>
            </a:r>
            <a:r>
              <a:rPr lang="fr-FR" sz="2000" spc="0" dirty="0" smtClean="0">
                <a:latin typeface="+mj-lt"/>
                <a:cs typeface="Arial"/>
              </a:rPr>
              <a:t>des données </a:t>
            </a:r>
            <a:r>
              <a:rPr lang="fr-FR" sz="2000" dirty="0" smtClean="0">
                <a:latin typeface="+mj-lt"/>
                <a:cs typeface="Arial"/>
              </a:rPr>
              <a:t>pour </a:t>
            </a:r>
            <a:r>
              <a:rPr lang="fr-FR" sz="2000" spc="-5" dirty="0" smtClean="0">
                <a:latin typeface="+mj-lt"/>
                <a:cs typeface="Arial"/>
              </a:rPr>
              <a:t>la </a:t>
            </a:r>
            <a:r>
              <a:rPr lang="fr-FR" sz="2000" dirty="0" smtClean="0">
                <a:latin typeface="+mj-lt"/>
                <a:cs typeface="Arial"/>
              </a:rPr>
              <a:t>transmission et  déchiffrement </a:t>
            </a:r>
            <a:r>
              <a:rPr lang="fr-FR" sz="2000" spc="0" dirty="0" smtClean="0">
                <a:latin typeface="+mj-lt"/>
                <a:cs typeface="Arial"/>
              </a:rPr>
              <a:t>de </a:t>
            </a:r>
            <a:r>
              <a:rPr lang="fr-FR" sz="2000" spc="-5" dirty="0" smtClean="0">
                <a:latin typeface="+mj-lt"/>
                <a:cs typeface="Arial"/>
              </a:rPr>
              <a:t>celles </a:t>
            </a:r>
            <a:r>
              <a:rPr lang="fr-FR" sz="2000" dirty="0" smtClean="0">
                <a:latin typeface="+mj-lt"/>
                <a:cs typeface="Arial"/>
              </a:rPr>
              <a:t>reçues par </a:t>
            </a:r>
            <a:r>
              <a:rPr lang="fr-FR" sz="2000" spc="-5" dirty="0" smtClean="0">
                <a:latin typeface="+mj-lt"/>
                <a:cs typeface="Arial"/>
              </a:rPr>
              <a:t>le </a:t>
            </a:r>
            <a:r>
              <a:rPr lang="fr-FR" sz="2000" dirty="0" smtClean="0">
                <a:latin typeface="+mj-lt"/>
                <a:cs typeface="Arial"/>
              </a:rPr>
              <a:t>périphérique </a:t>
            </a:r>
            <a:r>
              <a:rPr lang="fr-FR" sz="2000" spc="0" dirty="0" smtClean="0">
                <a:latin typeface="+mj-lt"/>
                <a:cs typeface="Arial"/>
              </a:rPr>
              <a:t>de  </a:t>
            </a:r>
            <a:r>
              <a:rPr lang="fr-FR" sz="2000" dirty="0" smtClean="0">
                <a:latin typeface="+mj-lt"/>
                <a:cs typeface="Arial"/>
              </a:rPr>
              <a:t>destination.</a:t>
            </a:r>
          </a:p>
          <a:p>
            <a:pPr>
              <a:spcBef>
                <a:spcPts val="50"/>
              </a:spcBef>
              <a:buFont typeface="Arial"/>
              <a:buChar char="•"/>
            </a:pPr>
            <a:endParaRPr lang="fr-FR" sz="2000" dirty="0" smtClean="0">
              <a:latin typeface="+mj-lt"/>
              <a:cs typeface="Times New Roman"/>
            </a:endParaRPr>
          </a:p>
          <a:p>
            <a:r>
              <a:rPr lang="fr-FR" sz="2000" b="1" spc="0" dirty="0" smtClean="0">
                <a:latin typeface="+mj-lt"/>
                <a:cs typeface="Arial"/>
              </a:rPr>
              <a:t>La couche</a:t>
            </a:r>
            <a:r>
              <a:rPr lang="fr-FR" sz="2000" b="1" spc="-75" dirty="0" smtClean="0">
                <a:latin typeface="+mj-lt"/>
                <a:cs typeface="Arial"/>
              </a:rPr>
              <a:t> </a:t>
            </a:r>
            <a:r>
              <a:rPr lang="fr-FR" sz="2000" b="1" dirty="0" smtClean="0">
                <a:latin typeface="+mj-lt"/>
                <a:cs typeface="Arial"/>
              </a:rPr>
              <a:t>session</a:t>
            </a:r>
          </a:p>
          <a:p>
            <a:pPr>
              <a:spcBef>
                <a:spcPts val="30"/>
              </a:spcBef>
            </a:pPr>
            <a:endParaRPr lang="fr-FR" sz="2000" dirty="0" smtClean="0">
              <a:latin typeface="+mj-lt"/>
              <a:cs typeface="Times New Roman"/>
            </a:endParaRPr>
          </a:p>
          <a:p>
            <a:pPr marL="112395" marR="208915" indent="-112395">
              <a:lnSpc>
                <a:spcPct val="150000"/>
              </a:lnSpc>
              <a:buChar char="•"/>
              <a:tabLst>
                <a:tab pos="113030" algn="l"/>
              </a:tabLst>
            </a:pPr>
            <a:r>
              <a:rPr lang="fr-FR" sz="2000" dirty="0" smtClean="0">
                <a:latin typeface="+mj-lt"/>
                <a:cs typeface="Arial"/>
              </a:rPr>
              <a:t>Crée et gère </a:t>
            </a:r>
            <a:r>
              <a:rPr lang="fr-FR" sz="2000" spc="-5" dirty="0" smtClean="0">
                <a:latin typeface="+mj-lt"/>
                <a:cs typeface="Arial"/>
              </a:rPr>
              <a:t>les </a:t>
            </a:r>
            <a:r>
              <a:rPr lang="fr-FR" sz="2000" dirty="0" smtClean="0">
                <a:latin typeface="+mj-lt"/>
                <a:cs typeface="Arial"/>
              </a:rPr>
              <a:t>communications entre </a:t>
            </a:r>
            <a:r>
              <a:rPr lang="fr-FR" sz="2000" spc="-5" dirty="0" smtClean="0">
                <a:latin typeface="+mj-lt"/>
                <a:cs typeface="Arial"/>
              </a:rPr>
              <a:t>les </a:t>
            </a:r>
            <a:r>
              <a:rPr lang="fr-FR" sz="2000" dirty="0" smtClean="0">
                <a:latin typeface="+mj-lt"/>
                <a:cs typeface="Arial"/>
              </a:rPr>
              <a:t>applications  source et </a:t>
            </a:r>
            <a:r>
              <a:rPr lang="fr-FR" sz="2000" spc="0" dirty="0" smtClean="0">
                <a:latin typeface="+mj-lt"/>
                <a:cs typeface="Arial"/>
              </a:rPr>
              <a:t>de</a:t>
            </a:r>
            <a:r>
              <a:rPr lang="fr-FR" sz="2000" spc="-60" dirty="0" smtClean="0">
                <a:latin typeface="+mj-lt"/>
                <a:cs typeface="Arial"/>
              </a:rPr>
              <a:t> </a:t>
            </a:r>
            <a:r>
              <a:rPr lang="fr-FR" sz="2000" dirty="0" smtClean="0">
                <a:latin typeface="+mj-lt"/>
                <a:cs typeface="Arial"/>
              </a:rPr>
              <a:t>destination</a:t>
            </a:r>
          </a:p>
          <a:p>
            <a:pPr marL="112395" indent="-112395">
              <a:lnSpc>
                <a:spcPct val="150000"/>
              </a:lnSpc>
              <a:buChar char="•"/>
              <a:tabLst>
                <a:tab pos="113030" algn="l"/>
              </a:tabLst>
            </a:pPr>
            <a:r>
              <a:rPr lang="fr-FR" sz="2000" dirty="0" smtClean="0">
                <a:latin typeface="+mj-lt"/>
                <a:cs typeface="Arial"/>
              </a:rPr>
              <a:t>Gère l'échange d'informations pour </a:t>
            </a:r>
            <a:r>
              <a:rPr lang="fr-FR" sz="2000" spc="0" dirty="0" smtClean="0">
                <a:latin typeface="+mj-lt"/>
                <a:cs typeface="Arial"/>
              </a:rPr>
              <a:t>entamer </a:t>
            </a:r>
            <a:r>
              <a:rPr lang="fr-FR" sz="2000" spc="-5" dirty="0" smtClean="0">
                <a:latin typeface="+mj-lt"/>
                <a:cs typeface="Arial"/>
              </a:rPr>
              <a:t>les</a:t>
            </a:r>
            <a:r>
              <a:rPr lang="fr-FR" sz="2000" spc="-90" dirty="0" smtClean="0">
                <a:latin typeface="+mj-lt"/>
                <a:cs typeface="Arial"/>
              </a:rPr>
              <a:t> </a:t>
            </a:r>
            <a:r>
              <a:rPr lang="fr-FR" sz="2000" dirty="0" smtClean="0">
                <a:latin typeface="+mj-lt"/>
                <a:cs typeface="Arial"/>
              </a:rPr>
              <a:t>dialogues et </a:t>
            </a:r>
            <a:r>
              <a:rPr lang="fr-FR" sz="2000" spc="-5" dirty="0" smtClean="0">
                <a:latin typeface="+mj-lt"/>
                <a:cs typeface="Arial"/>
              </a:rPr>
              <a:t>les </a:t>
            </a:r>
            <a:r>
              <a:rPr lang="fr-FR" sz="2000" dirty="0" smtClean="0">
                <a:latin typeface="+mj-lt"/>
                <a:cs typeface="Arial"/>
              </a:rPr>
              <a:t>maintenir actifs, et redémarrer </a:t>
            </a:r>
            <a:r>
              <a:rPr lang="fr-FR" sz="2000" spc="-5" dirty="0" smtClean="0">
                <a:latin typeface="+mj-lt"/>
                <a:cs typeface="Arial"/>
              </a:rPr>
              <a:t>les</a:t>
            </a:r>
            <a:r>
              <a:rPr lang="fr-FR" sz="2000" spc="-30" dirty="0" smtClean="0">
                <a:latin typeface="+mj-lt"/>
                <a:cs typeface="Arial"/>
              </a:rPr>
              <a:t> </a:t>
            </a:r>
            <a:r>
              <a:rPr lang="fr-FR" sz="2000" dirty="0" smtClean="0">
                <a:latin typeface="+mj-lt"/>
                <a:cs typeface="Arial"/>
              </a:rPr>
              <a:t>sessions</a:t>
            </a:r>
            <a:endParaRPr lang="fr-FR" sz="2000" dirty="0">
              <a:latin typeface="+mj-lt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28600" y="228600"/>
            <a:ext cx="4101123" cy="2077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910"/>
              </a:lnSpc>
              <a:spcBef>
                <a:spcPts val="90"/>
              </a:spcBef>
            </a:pPr>
            <a:r>
              <a:rPr lang="fr-FR" b="1" spc="-10" dirty="0" smtClean="0">
                <a:solidFill>
                  <a:srgbClr val="6F8CA1"/>
                </a:solidFill>
                <a:latin typeface="Arial"/>
                <a:cs typeface="Arial"/>
              </a:rPr>
              <a:t>Application, session </a:t>
            </a:r>
            <a:r>
              <a:rPr lang="fr-FR" b="1" spc="-5" dirty="0" smtClean="0">
                <a:solidFill>
                  <a:srgbClr val="6F8CA1"/>
                </a:solidFill>
                <a:latin typeface="Arial"/>
                <a:cs typeface="Arial"/>
              </a:rPr>
              <a:t>et</a:t>
            </a:r>
            <a:r>
              <a:rPr lang="fr-FR" b="1" spc="-20" dirty="0" smtClean="0">
                <a:solidFill>
                  <a:srgbClr val="6F8CA1"/>
                </a:solidFill>
                <a:latin typeface="Arial"/>
                <a:cs typeface="Arial"/>
              </a:rPr>
              <a:t> </a:t>
            </a:r>
            <a:r>
              <a:rPr lang="fr-FR" b="1" spc="-10" dirty="0" smtClean="0">
                <a:solidFill>
                  <a:srgbClr val="6F8CA1"/>
                </a:solidFill>
                <a:latin typeface="Arial"/>
                <a:cs typeface="Arial"/>
              </a:rPr>
              <a:t>présentation</a:t>
            </a:r>
            <a:endParaRPr lang="fr-FR" dirty="0">
              <a:latin typeface="Arial"/>
              <a:cs typeface="Arial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2400" y="609600"/>
            <a:ext cx="7172476" cy="2702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1030"/>
              </a:lnSpc>
            </a:pPr>
            <a:r>
              <a:rPr lang="fr-FR" sz="2800" b="1" spc="0" dirty="0" smtClean="0">
                <a:solidFill>
                  <a:srgbClr val="6F8CA1"/>
                </a:solidFill>
                <a:latin typeface="Arial"/>
                <a:cs typeface="Arial"/>
              </a:rPr>
              <a:t>Protocoles </a:t>
            </a:r>
            <a:r>
              <a:rPr lang="fr-FR" sz="2800" b="1" spc="5" dirty="0" smtClean="0">
                <a:solidFill>
                  <a:srgbClr val="6F8CA1"/>
                </a:solidFill>
                <a:latin typeface="Arial"/>
                <a:cs typeface="Arial"/>
              </a:rPr>
              <a:t>de couche </a:t>
            </a:r>
            <a:r>
              <a:rPr lang="fr-FR" sz="2800" b="1" spc="0" dirty="0" smtClean="0">
                <a:solidFill>
                  <a:srgbClr val="6F8CA1"/>
                </a:solidFill>
                <a:latin typeface="Arial"/>
                <a:cs typeface="Arial"/>
              </a:rPr>
              <a:t>application</a:t>
            </a:r>
            <a:r>
              <a:rPr lang="fr-FR" sz="2800" b="1" spc="-60" dirty="0" smtClean="0">
                <a:solidFill>
                  <a:srgbClr val="6F8CA1"/>
                </a:solidFill>
                <a:latin typeface="Arial"/>
                <a:cs typeface="Arial"/>
              </a:rPr>
              <a:t> </a:t>
            </a:r>
            <a:r>
              <a:rPr lang="fr-FR" sz="2800" b="1" spc="0" dirty="0" smtClean="0">
                <a:solidFill>
                  <a:srgbClr val="6F8CA1"/>
                </a:solidFill>
                <a:latin typeface="Arial"/>
                <a:cs typeface="Arial"/>
              </a:rPr>
              <a:t>TCP/IP</a:t>
            </a:r>
            <a:endParaRPr lang="fr-FR" sz="2800" dirty="0">
              <a:latin typeface="Arial"/>
              <a:cs typeface="Arial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04800" y="1219200"/>
            <a:ext cx="8382000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3500" marR="9525">
              <a:spcBef>
                <a:spcPts val="505"/>
              </a:spcBef>
            </a:pPr>
            <a:r>
              <a:rPr lang="fr-FR" sz="2000" b="1" spc="5" dirty="0" smtClean="0">
                <a:latin typeface="+mj-lt"/>
                <a:cs typeface="Arial"/>
              </a:rPr>
              <a:t>DNS </a:t>
            </a:r>
            <a:r>
              <a:rPr lang="fr-FR" sz="2000" b="1" spc="0" dirty="0" smtClean="0">
                <a:latin typeface="+mj-lt"/>
                <a:cs typeface="Arial"/>
              </a:rPr>
              <a:t>(Domain Name Service) : </a:t>
            </a:r>
            <a:r>
              <a:rPr lang="fr-FR" sz="2000" dirty="0" smtClean="0">
                <a:latin typeface="+mj-lt"/>
                <a:cs typeface="Arial"/>
              </a:rPr>
              <a:t>utilisé </a:t>
            </a:r>
            <a:r>
              <a:rPr lang="fr-FR" sz="2000" spc="0" dirty="0" smtClean="0">
                <a:latin typeface="+mj-lt"/>
                <a:cs typeface="Arial"/>
              </a:rPr>
              <a:t>pour traduire les adresses  </a:t>
            </a:r>
            <a:r>
              <a:rPr lang="fr-FR" sz="2000" dirty="0" smtClean="0">
                <a:latin typeface="+mj-lt"/>
                <a:cs typeface="Arial"/>
              </a:rPr>
              <a:t>Internet </a:t>
            </a:r>
            <a:r>
              <a:rPr lang="fr-FR" sz="2000" spc="0" dirty="0" smtClean="0">
                <a:latin typeface="+mj-lt"/>
                <a:cs typeface="Arial"/>
              </a:rPr>
              <a:t>en adresses</a:t>
            </a:r>
            <a:r>
              <a:rPr lang="fr-FR" sz="2000" spc="55" dirty="0" smtClean="0">
                <a:latin typeface="+mj-lt"/>
                <a:cs typeface="Arial"/>
              </a:rPr>
              <a:t> </a:t>
            </a:r>
            <a:r>
              <a:rPr lang="fr-FR" sz="2000" dirty="0" smtClean="0">
                <a:latin typeface="+mj-lt"/>
                <a:cs typeface="Arial"/>
              </a:rPr>
              <a:t>IP</a:t>
            </a:r>
          </a:p>
          <a:p>
            <a:pPr>
              <a:spcBef>
                <a:spcPts val="30"/>
              </a:spcBef>
            </a:pPr>
            <a:endParaRPr lang="fr-FR" sz="2000" dirty="0" smtClean="0">
              <a:latin typeface="+mj-lt"/>
              <a:cs typeface="Times New Roman"/>
            </a:endParaRPr>
          </a:p>
          <a:p>
            <a:pPr marL="63500" marR="204470">
              <a:spcBef>
                <a:spcPts val="5"/>
              </a:spcBef>
            </a:pPr>
            <a:r>
              <a:rPr lang="fr-FR" sz="2000" b="1" dirty="0" smtClean="0">
                <a:latin typeface="+mj-lt"/>
                <a:cs typeface="Arial"/>
              </a:rPr>
              <a:t>Telnet </a:t>
            </a:r>
            <a:r>
              <a:rPr lang="fr-FR" sz="2000" b="1" spc="0" dirty="0" smtClean="0">
                <a:latin typeface="+mj-lt"/>
                <a:cs typeface="Arial"/>
              </a:rPr>
              <a:t>: </a:t>
            </a:r>
            <a:r>
              <a:rPr lang="fr-FR" sz="2000" spc="0" dirty="0" smtClean="0">
                <a:latin typeface="+mj-lt"/>
                <a:cs typeface="Arial"/>
              </a:rPr>
              <a:t>protocole </a:t>
            </a:r>
            <a:r>
              <a:rPr lang="fr-FR" sz="2000" dirty="0" smtClean="0">
                <a:latin typeface="+mj-lt"/>
                <a:cs typeface="Arial"/>
              </a:rPr>
              <a:t>d'émulation </a:t>
            </a:r>
            <a:r>
              <a:rPr lang="fr-FR" sz="2000" spc="0" dirty="0" smtClean="0">
                <a:latin typeface="+mj-lt"/>
                <a:cs typeface="Arial"/>
              </a:rPr>
              <a:t>de </a:t>
            </a:r>
            <a:r>
              <a:rPr lang="fr-FR" sz="2000" dirty="0" smtClean="0">
                <a:latin typeface="+mj-lt"/>
                <a:cs typeface="Arial"/>
              </a:rPr>
              <a:t>terminal utilisé </a:t>
            </a:r>
            <a:r>
              <a:rPr lang="fr-FR" sz="2000" spc="0" dirty="0" smtClean="0">
                <a:latin typeface="+mj-lt"/>
                <a:cs typeface="Arial"/>
              </a:rPr>
              <a:t>pour fournir  l'accès distant aux serveurs et aux périphériques</a:t>
            </a:r>
            <a:r>
              <a:rPr lang="fr-FR" sz="2000" spc="125" dirty="0" smtClean="0">
                <a:latin typeface="+mj-lt"/>
                <a:cs typeface="Arial"/>
              </a:rPr>
              <a:t> </a:t>
            </a:r>
            <a:r>
              <a:rPr lang="fr-FR" sz="2000" spc="0" dirty="0" smtClean="0">
                <a:latin typeface="+mj-lt"/>
                <a:cs typeface="Arial"/>
              </a:rPr>
              <a:t>réseau</a:t>
            </a:r>
            <a:endParaRPr lang="fr-FR" sz="2000" dirty="0" smtClean="0">
              <a:latin typeface="+mj-lt"/>
              <a:cs typeface="Arial"/>
            </a:endParaRPr>
          </a:p>
          <a:p>
            <a:pPr>
              <a:spcBef>
                <a:spcPts val="30"/>
              </a:spcBef>
            </a:pPr>
            <a:endParaRPr lang="fr-FR" sz="2000" dirty="0" smtClean="0">
              <a:latin typeface="+mj-lt"/>
              <a:cs typeface="Times New Roman"/>
            </a:endParaRPr>
          </a:p>
          <a:p>
            <a:pPr marL="63500" marR="5080"/>
            <a:r>
              <a:rPr lang="fr-FR" sz="2000" b="1" spc="5" dirty="0" smtClean="0">
                <a:latin typeface="+mj-lt"/>
                <a:cs typeface="Arial"/>
              </a:rPr>
              <a:t>BOOTP </a:t>
            </a:r>
            <a:r>
              <a:rPr lang="fr-FR" sz="2000" b="1" spc="0" dirty="0" smtClean="0">
                <a:latin typeface="+mj-lt"/>
                <a:cs typeface="Arial"/>
              </a:rPr>
              <a:t>(</a:t>
            </a:r>
            <a:r>
              <a:rPr lang="fr-FR" sz="2000" b="1" spc="0" dirty="0" err="1" smtClean="0">
                <a:latin typeface="+mj-lt"/>
                <a:cs typeface="Arial"/>
              </a:rPr>
              <a:t>Bootstrap</a:t>
            </a:r>
            <a:r>
              <a:rPr lang="fr-FR" sz="2000" b="1" spc="0" dirty="0" smtClean="0">
                <a:latin typeface="+mj-lt"/>
                <a:cs typeface="Arial"/>
              </a:rPr>
              <a:t>) : </a:t>
            </a:r>
            <a:r>
              <a:rPr lang="fr-FR" sz="2000" spc="0" dirty="0" smtClean="0">
                <a:latin typeface="+mj-lt"/>
                <a:cs typeface="Arial"/>
              </a:rPr>
              <a:t>précurseur du protocole </a:t>
            </a:r>
            <a:r>
              <a:rPr lang="fr-FR" sz="2000" spc="5" dirty="0" smtClean="0">
                <a:latin typeface="+mj-lt"/>
                <a:cs typeface="Arial"/>
              </a:rPr>
              <a:t>DHCP </a:t>
            </a:r>
            <a:r>
              <a:rPr lang="fr-FR" sz="2000" dirty="0" smtClean="0">
                <a:latin typeface="+mj-lt"/>
                <a:cs typeface="Arial"/>
              </a:rPr>
              <a:t>utilisé </a:t>
            </a:r>
            <a:r>
              <a:rPr lang="fr-FR" sz="2000" spc="0" dirty="0" smtClean="0">
                <a:latin typeface="+mj-lt"/>
                <a:cs typeface="Arial"/>
              </a:rPr>
              <a:t>pour  obtenir des </a:t>
            </a:r>
            <a:r>
              <a:rPr lang="fr-FR" sz="2000" dirty="0" smtClean="0">
                <a:latin typeface="+mj-lt"/>
                <a:cs typeface="Arial"/>
              </a:rPr>
              <a:t>informations </a:t>
            </a:r>
            <a:r>
              <a:rPr lang="fr-FR" sz="2000" spc="0" dirty="0" smtClean="0">
                <a:latin typeface="+mj-lt"/>
                <a:cs typeface="Arial"/>
              </a:rPr>
              <a:t>d'adresse </a:t>
            </a:r>
            <a:r>
              <a:rPr lang="fr-FR" sz="2000" dirty="0" smtClean="0">
                <a:latin typeface="+mj-lt"/>
                <a:cs typeface="Arial"/>
              </a:rPr>
              <a:t>IP </a:t>
            </a:r>
            <a:r>
              <a:rPr lang="fr-FR" sz="2000" spc="0" dirty="0" smtClean="0">
                <a:latin typeface="+mj-lt"/>
                <a:cs typeface="Arial"/>
              </a:rPr>
              <a:t>pendant le</a:t>
            </a:r>
            <a:r>
              <a:rPr lang="fr-FR" sz="2000" spc="175" dirty="0" smtClean="0">
                <a:latin typeface="+mj-lt"/>
                <a:cs typeface="Arial"/>
              </a:rPr>
              <a:t> </a:t>
            </a:r>
            <a:r>
              <a:rPr lang="fr-FR" sz="2000" spc="0" dirty="0" smtClean="0">
                <a:latin typeface="+mj-lt"/>
                <a:cs typeface="Arial"/>
              </a:rPr>
              <a:t>démarrage</a:t>
            </a:r>
            <a:endParaRPr lang="fr-FR" sz="2000" dirty="0" smtClean="0">
              <a:latin typeface="+mj-lt"/>
              <a:cs typeface="Arial"/>
            </a:endParaRPr>
          </a:p>
          <a:p>
            <a:pPr>
              <a:spcBef>
                <a:spcPts val="30"/>
              </a:spcBef>
            </a:pPr>
            <a:endParaRPr lang="fr-FR" sz="2000" dirty="0" smtClean="0">
              <a:latin typeface="+mj-lt"/>
              <a:cs typeface="Times New Roman"/>
            </a:endParaRPr>
          </a:p>
          <a:p>
            <a:pPr marL="63500" marR="78105" algn="just">
              <a:spcBef>
                <a:spcPts val="5"/>
              </a:spcBef>
            </a:pPr>
            <a:r>
              <a:rPr lang="fr-FR" sz="2000" b="1" spc="5" dirty="0" smtClean="0">
                <a:latin typeface="+mj-lt"/>
                <a:cs typeface="Arial"/>
              </a:rPr>
              <a:t>DHCP </a:t>
            </a:r>
            <a:r>
              <a:rPr lang="fr-FR" sz="2000" b="1" spc="0" dirty="0" smtClean="0">
                <a:latin typeface="+mj-lt"/>
                <a:cs typeface="Arial"/>
              </a:rPr>
              <a:t>(</a:t>
            </a:r>
            <a:r>
              <a:rPr lang="fr-FR" sz="2000" b="1" spc="0" dirty="0" err="1" smtClean="0">
                <a:latin typeface="+mj-lt"/>
                <a:cs typeface="Arial"/>
              </a:rPr>
              <a:t>Dynamic</a:t>
            </a:r>
            <a:r>
              <a:rPr lang="fr-FR" sz="2000" b="1" spc="0" dirty="0" smtClean="0">
                <a:latin typeface="+mj-lt"/>
                <a:cs typeface="Arial"/>
              </a:rPr>
              <a:t> Host control </a:t>
            </a:r>
            <a:r>
              <a:rPr lang="fr-FR" sz="2000" b="1" spc="0" dirty="0" err="1" smtClean="0">
                <a:latin typeface="+mj-lt"/>
                <a:cs typeface="Arial"/>
              </a:rPr>
              <a:t>protocol</a:t>
            </a:r>
            <a:r>
              <a:rPr lang="fr-FR" sz="2000" b="1" spc="0" dirty="0" smtClean="0">
                <a:latin typeface="+mj-lt"/>
                <a:cs typeface="Arial"/>
              </a:rPr>
              <a:t>) : </a:t>
            </a:r>
            <a:r>
              <a:rPr lang="fr-FR" sz="2000" dirty="0" smtClean="0">
                <a:latin typeface="+mj-lt"/>
                <a:cs typeface="Arial"/>
              </a:rPr>
              <a:t>utilisé </a:t>
            </a:r>
            <a:r>
              <a:rPr lang="fr-FR" sz="2000" spc="0" dirty="0" smtClean="0">
                <a:latin typeface="+mj-lt"/>
                <a:cs typeface="Arial"/>
              </a:rPr>
              <a:t>pour attribuer  une adresse </a:t>
            </a:r>
            <a:r>
              <a:rPr lang="fr-FR" sz="2000" spc="-30" dirty="0" smtClean="0">
                <a:latin typeface="+mj-lt"/>
                <a:cs typeface="Arial"/>
              </a:rPr>
              <a:t>IP, </a:t>
            </a:r>
            <a:r>
              <a:rPr lang="fr-FR" sz="2000" spc="0" dirty="0" smtClean="0">
                <a:latin typeface="+mj-lt"/>
                <a:cs typeface="Arial"/>
              </a:rPr>
              <a:t>un masque de sous-réseau, une passerelle par  défaut et un serveur </a:t>
            </a:r>
            <a:r>
              <a:rPr lang="fr-FR" sz="2000" spc="5" dirty="0" smtClean="0">
                <a:latin typeface="+mj-lt"/>
                <a:cs typeface="Arial"/>
              </a:rPr>
              <a:t>DNS à </a:t>
            </a:r>
            <a:r>
              <a:rPr lang="fr-FR" sz="2000" spc="0" dirty="0" smtClean="0">
                <a:latin typeface="+mj-lt"/>
                <a:cs typeface="Arial"/>
              </a:rPr>
              <a:t>un</a:t>
            </a:r>
            <a:r>
              <a:rPr lang="fr-FR" sz="2000" spc="40" dirty="0" smtClean="0">
                <a:latin typeface="+mj-lt"/>
                <a:cs typeface="Arial"/>
              </a:rPr>
              <a:t> </a:t>
            </a:r>
            <a:r>
              <a:rPr lang="fr-FR" sz="2000" spc="0" dirty="0" smtClean="0">
                <a:latin typeface="+mj-lt"/>
                <a:cs typeface="Arial"/>
              </a:rPr>
              <a:t>hôte</a:t>
            </a:r>
            <a:endParaRPr lang="fr-FR" sz="2000" dirty="0" smtClean="0">
              <a:latin typeface="+mj-lt"/>
              <a:cs typeface="Arial"/>
            </a:endParaRPr>
          </a:p>
          <a:p>
            <a:pPr>
              <a:spcBef>
                <a:spcPts val="30"/>
              </a:spcBef>
            </a:pPr>
            <a:endParaRPr lang="fr-FR" sz="2000" dirty="0" smtClean="0">
              <a:latin typeface="+mj-lt"/>
              <a:cs typeface="Times New Roman"/>
            </a:endParaRPr>
          </a:p>
          <a:p>
            <a:pPr marL="63500" marR="32384" algn="just"/>
            <a:r>
              <a:rPr lang="fr-FR" sz="2000" b="1" spc="5" dirty="0" smtClean="0">
                <a:latin typeface="+mj-lt"/>
                <a:cs typeface="Arial"/>
              </a:rPr>
              <a:t>HTTP </a:t>
            </a:r>
            <a:r>
              <a:rPr lang="fr-FR" sz="2000" b="1" spc="0" dirty="0" smtClean="0">
                <a:latin typeface="+mj-lt"/>
                <a:cs typeface="Arial"/>
              </a:rPr>
              <a:t>(</a:t>
            </a:r>
            <a:r>
              <a:rPr lang="fr-FR" sz="2000" b="1" spc="0" dirty="0" err="1" smtClean="0">
                <a:latin typeface="+mj-lt"/>
                <a:cs typeface="Arial"/>
              </a:rPr>
              <a:t>Hypertext</a:t>
            </a:r>
            <a:r>
              <a:rPr lang="fr-FR" sz="2000" b="1" spc="0" dirty="0" smtClean="0">
                <a:latin typeface="+mj-lt"/>
                <a:cs typeface="Arial"/>
              </a:rPr>
              <a:t> </a:t>
            </a:r>
            <a:r>
              <a:rPr lang="fr-FR" sz="2000" b="1" dirty="0" smtClean="0">
                <a:latin typeface="+mj-lt"/>
                <a:cs typeface="Arial"/>
              </a:rPr>
              <a:t>Transfer </a:t>
            </a:r>
            <a:r>
              <a:rPr lang="fr-FR" sz="2000" b="1" spc="0" dirty="0" smtClean="0">
                <a:latin typeface="+mj-lt"/>
                <a:cs typeface="Arial"/>
              </a:rPr>
              <a:t>Protocol) : </a:t>
            </a:r>
            <a:r>
              <a:rPr lang="fr-FR" sz="2000" dirty="0" smtClean="0">
                <a:latin typeface="+mj-lt"/>
                <a:cs typeface="Arial"/>
              </a:rPr>
              <a:t>utilisé </a:t>
            </a:r>
            <a:r>
              <a:rPr lang="fr-FR" sz="2000" spc="0" dirty="0" smtClean="0">
                <a:latin typeface="+mj-lt"/>
                <a:cs typeface="Arial"/>
              </a:rPr>
              <a:t>pour transférer les  fichiers qui constituent les pages du</a:t>
            </a:r>
            <a:r>
              <a:rPr lang="fr-FR" sz="2000" spc="80" dirty="0" smtClean="0">
                <a:latin typeface="+mj-lt"/>
                <a:cs typeface="Arial"/>
              </a:rPr>
              <a:t> </a:t>
            </a:r>
            <a:r>
              <a:rPr lang="fr-FR" sz="2000" spc="15" dirty="0" smtClean="0">
                <a:latin typeface="+mj-lt"/>
                <a:cs typeface="Arial"/>
              </a:rPr>
              <a:t>Web</a:t>
            </a:r>
            <a:endParaRPr lang="fr-FR" sz="2000" dirty="0">
              <a:latin typeface="+mj-lt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28600" y="228600"/>
            <a:ext cx="4101123" cy="2077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910"/>
              </a:lnSpc>
              <a:spcBef>
                <a:spcPts val="90"/>
              </a:spcBef>
            </a:pPr>
            <a:r>
              <a:rPr lang="fr-FR" b="1" spc="-10" dirty="0" smtClean="0">
                <a:solidFill>
                  <a:srgbClr val="6F8CA1"/>
                </a:solidFill>
                <a:latin typeface="Arial"/>
                <a:cs typeface="Arial"/>
              </a:rPr>
              <a:t>Application, session </a:t>
            </a:r>
            <a:r>
              <a:rPr lang="fr-FR" b="1" spc="-5" dirty="0" smtClean="0">
                <a:solidFill>
                  <a:srgbClr val="6F8CA1"/>
                </a:solidFill>
                <a:latin typeface="Arial"/>
                <a:cs typeface="Arial"/>
              </a:rPr>
              <a:t>et</a:t>
            </a:r>
            <a:r>
              <a:rPr lang="fr-FR" b="1" spc="-20" dirty="0" smtClean="0">
                <a:solidFill>
                  <a:srgbClr val="6F8CA1"/>
                </a:solidFill>
                <a:latin typeface="Arial"/>
                <a:cs typeface="Arial"/>
              </a:rPr>
              <a:t> </a:t>
            </a:r>
            <a:r>
              <a:rPr lang="fr-FR" b="1" spc="-10" dirty="0" smtClean="0">
                <a:solidFill>
                  <a:srgbClr val="6F8CA1"/>
                </a:solidFill>
                <a:latin typeface="Arial"/>
                <a:cs typeface="Arial"/>
              </a:rPr>
              <a:t>présentation</a:t>
            </a:r>
            <a:endParaRPr lang="fr-FR" dirty="0">
              <a:latin typeface="Arial"/>
              <a:cs typeface="Arial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2400" y="609600"/>
            <a:ext cx="7172476" cy="2702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1030"/>
              </a:lnSpc>
            </a:pPr>
            <a:r>
              <a:rPr lang="fr-FR" sz="2800" b="1" spc="0" dirty="0" smtClean="0">
                <a:solidFill>
                  <a:srgbClr val="6F8CA1"/>
                </a:solidFill>
                <a:latin typeface="Arial"/>
                <a:cs typeface="Arial"/>
              </a:rPr>
              <a:t>Protocoles </a:t>
            </a:r>
            <a:r>
              <a:rPr lang="fr-FR" sz="2800" b="1" spc="5" dirty="0" smtClean="0">
                <a:solidFill>
                  <a:srgbClr val="6F8CA1"/>
                </a:solidFill>
                <a:latin typeface="Arial"/>
                <a:cs typeface="Arial"/>
              </a:rPr>
              <a:t>de couche </a:t>
            </a:r>
            <a:r>
              <a:rPr lang="fr-FR" sz="2800" b="1" spc="0" dirty="0" smtClean="0">
                <a:solidFill>
                  <a:srgbClr val="6F8CA1"/>
                </a:solidFill>
                <a:latin typeface="Arial"/>
                <a:cs typeface="Arial"/>
              </a:rPr>
              <a:t>application</a:t>
            </a:r>
            <a:r>
              <a:rPr lang="fr-FR" sz="2800" b="1" spc="-60" dirty="0" smtClean="0">
                <a:solidFill>
                  <a:srgbClr val="6F8CA1"/>
                </a:solidFill>
                <a:latin typeface="Arial"/>
                <a:cs typeface="Arial"/>
              </a:rPr>
              <a:t> </a:t>
            </a:r>
            <a:r>
              <a:rPr lang="fr-FR" sz="2800" b="1" spc="0" dirty="0" smtClean="0">
                <a:solidFill>
                  <a:srgbClr val="6F8CA1"/>
                </a:solidFill>
                <a:latin typeface="Arial"/>
                <a:cs typeface="Arial"/>
              </a:rPr>
              <a:t>TCP/IP</a:t>
            </a:r>
            <a:endParaRPr lang="fr-FR" sz="2800" dirty="0">
              <a:latin typeface="Arial"/>
              <a:cs typeface="Arial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04800" y="1219200"/>
            <a:ext cx="83820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3500" marR="5080"/>
            <a:r>
              <a:rPr lang="fr-FR" sz="2000" b="1" spc="5" dirty="0" smtClean="0">
                <a:latin typeface="+mj-lt"/>
                <a:cs typeface="Arial"/>
              </a:rPr>
              <a:t>FTP </a:t>
            </a:r>
            <a:r>
              <a:rPr lang="fr-FR" sz="2000" b="1" spc="0" dirty="0" smtClean="0">
                <a:latin typeface="+mj-lt"/>
                <a:cs typeface="Arial"/>
              </a:rPr>
              <a:t>(File </a:t>
            </a:r>
            <a:r>
              <a:rPr lang="fr-FR" sz="2000" b="1" dirty="0" smtClean="0">
                <a:latin typeface="+mj-lt"/>
                <a:cs typeface="Arial"/>
              </a:rPr>
              <a:t>Transfer </a:t>
            </a:r>
            <a:r>
              <a:rPr lang="fr-FR" sz="2000" b="1" spc="0" dirty="0" smtClean="0">
                <a:latin typeface="+mj-lt"/>
                <a:cs typeface="Arial"/>
              </a:rPr>
              <a:t>Protocol) : </a:t>
            </a:r>
            <a:r>
              <a:rPr lang="fr-FR" sz="2000" dirty="0" smtClean="0">
                <a:latin typeface="+mj-lt"/>
                <a:cs typeface="Arial"/>
              </a:rPr>
              <a:t>utilisé </a:t>
            </a:r>
            <a:r>
              <a:rPr lang="fr-FR" sz="2000" spc="0" dirty="0" smtClean="0">
                <a:latin typeface="+mj-lt"/>
                <a:cs typeface="Arial"/>
              </a:rPr>
              <a:t>pour le transfert interactif de  fichiers entre les</a:t>
            </a:r>
            <a:r>
              <a:rPr lang="fr-FR" sz="2000" spc="35" dirty="0" smtClean="0">
                <a:latin typeface="+mj-lt"/>
                <a:cs typeface="Arial"/>
              </a:rPr>
              <a:t> </a:t>
            </a:r>
            <a:r>
              <a:rPr lang="fr-FR" sz="2000" spc="0" dirty="0" smtClean="0">
                <a:latin typeface="+mj-lt"/>
                <a:cs typeface="Arial"/>
              </a:rPr>
              <a:t>systèmes</a:t>
            </a:r>
            <a:endParaRPr lang="fr-FR" sz="2000" dirty="0" smtClean="0">
              <a:latin typeface="+mj-lt"/>
              <a:cs typeface="Arial"/>
            </a:endParaRPr>
          </a:p>
          <a:p>
            <a:pPr>
              <a:spcBef>
                <a:spcPts val="30"/>
              </a:spcBef>
            </a:pPr>
            <a:endParaRPr lang="fr-FR" sz="2000" dirty="0" smtClean="0">
              <a:latin typeface="+mj-lt"/>
              <a:cs typeface="Times New Roman"/>
            </a:endParaRPr>
          </a:p>
          <a:p>
            <a:pPr marL="63500" marR="30480">
              <a:spcBef>
                <a:spcPts val="5"/>
              </a:spcBef>
            </a:pPr>
            <a:r>
              <a:rPr lang="fr-FR" sz="2000" b="1" spc="5" dirty="0" smtClean="0">
                <a:latin typeface="+mj-lt"/>
                <a:cs typeface="Arial"/>
              </a:rPr>
              <a:t>TFTP </a:t>
            </a:r>
            <a:r>
              <a:rPr lang="fr-FR" sz="2000" b="1" dirty="0" smtClean="0">
                <a:latin typeface="+mj-lt"/>
                <a:cs typeface="Arial"/>
              </a:rPr>
              <a:t>(Trivial </a:t>
            </a:r>
            <a:r>
              <a:rPr lang="fr-FR" sz="2000" b="1" spc="0" dirty="0" smtClean="0">
                <a:latin typeface="+mj-lt"/>
                <a:cs typeface="Arial"/>
              </a:rPr>
              <a:t>File </a:t>
            </a:r>
            <a:r>
              <a:rPr lang="fr-FR" sz="2000" b="1" dirty="0" smtClean="0">
                <a:latin typeface="+mj-lt"/>
                <a:cs typeface="Arial"/>
              </a:rPr>
              <a:t>Transfer </a:t>
            </a:r>
            <a:r>
              <a:rPr lang="fr-FR" sz="2000" b="1" spc="0" dirty="0" smtClean="0">
                <a:latin typeface="+mj-lt"/>
                <a:cs typeface="Arial"/>
              </a:rPr>
              <a:t>Protocol) : </a:t>
            </a:r>
            <a:r>
              <a:rPr lang="fr-FR" sz="2000" dirty="0" smtClean="0">
                <a:latin typeface="+mj-lt"/>
                <a:cs typeface="Arial"/>
              </a:rPr>
              <a:t>utilisé </a:t>
            </a:r>
            <a:r>
              <a:rPr lang="fr-FR" sz="2000" spc="0" dirty="0" smtClean="0">
                <a:latin typeface="+mj-lt"/>
                <a:cs typeface="Arial"/>
              </a:rPr>
              <a:t>pour le transfert de  fichiers </a:t>
            </a:r>
            <a:r>
              <a:rPr lang="fr-FR" sz="2000" dirty="0" smtClean="0">
                <a:latin typeface="+mj-lt"/>
                <a:cs typeface="Arial"/>
              </a:rPr>
              <a:t>simple </a:t>
            </a:r>
            <a:r>
              <a:rPr lang="fr-FR" sz="2000" spc="0" dirty="0" smtClean="0">
                <a:latin typeface="+mj-lt"/>
                <a:cs typeface="Arial"/>
              </a:rPr>
              <a:t>et sans</a:t>
            </a:r>
            <a:r>
              <a:rPr lang="fr-FR" sz="2000" spc="55" dirty="0" smtClean="0">
                <a:latin typeface="+mj-lt"/>
                <a:cs typeface="Arial"/>
              </a:rPr>
              <a:t> </a:t>
            </a:r>
            <a:r>
              <a:rPr lang="fr-FR" sz="2000" spc="0" dirty="0" smtClean="0">
                <a:latin typeface="+mj-lt"/>
                <a:cs typeface="Arial"/>
              </a:rPr>
              <a:t>connexion</a:t>
            </a:r>
            <a:endParaRPr lang="fr-FR" sz="2000" dirty="0" smtClean="0">
              <a:latin typeface="+mj-lt"/>
              <a:cs typeface="Arial"/>
            </a:endParaRPr>
          </a:p>
          <a:p>
            <a:pPr>
              <a:spcBef>
                <a:spcPts val="30"/>
              </a:spcBef>
            </a:pPr>
            <a:endParaRPr lang="fr-FR" sz="2000" dirty="0" smtClean="0">
              <a:latin typeface="+mj-lt"/>
              <a:cs typeface="Times New Roman"/>
            </a:endParaRPr>
          </a:p>
          <a:p>
            <a:pPr marL="63500" marR="125730"/>
            <a:r>
              <a:rPr lang="fr-FR" sz="2000" b="1" spc="5" dirty="0" smtClean="0">
                <a:latin typeface="+mj-lt"/>
                <a:cs typeface="Arial"/>
              </a:rPr>
              <a:t>SMTP </a:t>
            </a:r>
            <a:r>
              <a:rPr lang="fr-FR" sz="2000" b="1" spc="0" dirty="0" smtClean="0">
                <a:latin typeface="+mj-lt"/>
                <a:cs typeface="Arial"/>
              </a:rPr>
              <a:t>(Simple Mail </a:t>
            </a:r>
            <a:r>
              <a:rPr lang="fr-FR" sz="2000" b="1" dirty="0" smtClean="0">
                <a:latin typeface="+mj-lt"/>
                <a:cs typeface="Arial"/>
              </a:rPr>
              <a:t>Transfer </a:t>
            </a:r>
            <a:r>
              <a:rPr lang="fr-FR" sz="2000" b="1" spc="0" dirty="0" smtClean="0">
                <a:latin typeface="+mj-lt"/>
                <a:cs typeface="Arial"/>
              </a:rPr>
              <a:t>Protocol) </a:t>
            </a:r>
            <a:r>
              <a:rPr lang="fr-FR" sz="2000" spc="0" dirty="0" smtClean="0">
                <a:latin typeface="+mj-lt"/>
                <a:cs typeface="Arial"/>
              </a:rPr>
              <a:t>: </a:t>
            </a:r>
            <a:r>
              <a:rPr lang="fr-FR" sz="2000" dirty="0" smtClean="0">
                <a:latin typeface="+mj-lt"/>
                <a:cs typeface="Arial"/>
              </a:rPr>
              <a:t>utilisé </a:t>
            </a:r>
            <a:r>
              <a:rPr lang="fr-FR" sz="2000" spc="0" dirty="0" smtClean="0">
                <a:latin typeface="+mj-lt"/>
                <a:cs typeface="Arial"/>
              </a:rPr>
              <a:t>pour transférer  les </a:t>
            </a:r>
            <a:r>
              <a:rPr lang="fr-FR" sz="2000" dirty="0" smtClean="0">
                <a:latin typeface="+mj-lt"/>
                <a:cs typeface="Arial"/>
              </a:rPr>
              <a:t>e-mails </a:t>
            </a:r>
            <a:r>
              <a:rPr lang="fr-FR" sz="2000" spc="0" dirty="0" smtClean="0">
                <a:latin typeface="+mj-lt"/>
                <a:cs typeface="Arial"/>
              </a:rPr>
              <a:t>et les pièces</a:t>
            </a:r>
            <a:r>
              <a:rPr lang="fr-FR" sz="2000" spc="75" dirty="0" smtClean="0">
                <a:latin typeface="+mj-lt"/>
                <a:cs typeface="Arial"/>
              </a:rPr>
              <a:t> </a:t>
            </a:r>
            <a:r>
              <a:rPr lang="fr-FR" sz="2000" dirty="0" smtClean="0">
                <a:latin typeface="+mj-lt"/>
                <a:cs typeface="Arial"/>
              </a:rPr>
              <a:t>jointes</a:t>
            </a:r>
          </a:p>
          <a:p>
            <a:pPr>
              <a:spcBef>
                <a:spcPts val="30"/>
              </a:spcBef>
            </a:pPr>
            <a:endParaRPr lang="fr-FR" sz="2000" dirty="0" smtClean="0">
              <a:latin typeface="+mj-lt"/>
              <a:cs typeface="Times New Roman"/>
            </a:endParaRPr>
          </a:p>
          <a:p>
            <a:pPr marL="63500" marR="6350">
              <a:spcBef>
                <a:spcPts val="5"/>
              </a:spcBef>
            </a:pPr>
            <a:r>
              <a:rPr lang="fr-FR" sz="2000" b="1" spc="5" dirty="0" smtClean="0">
                <a:latin typeface="+mj-lt"/>
                <a:cs typeface="Arial"/>
              </a:rPr>
              <a:t>POP </a:t>
            </a:r>
            <a:r>
              <a:rPr lang="fr-FR" sz="2000" b="1" spc="0" dirty="0" smtClean="0">
                <a:latin typeface="+mj-lt"/>
                <a:cs typeface="Arial"/>
              </a:rPr>
              <a:t>(Post Office Protocol) : </a:t>
            </a:r>
            <a:r>
              <a:rPr lang="fr-FR" sz="2000" dirty="0" smtClean="0">
                <a:latin typeface="+mj-lt"/>
                <a:cs typeface="Arial"/>
              </a:rPr>
              <a:t>utilisé </a:t>
            </a:r>
            <a:r>
              <a:rPr lang="fr-FR" sz="2000" spc="0" dirty="0" smtClean="0">
                <a:latin typeface="+mj-lt"/>
                <a:cs typeface="Arial"/>
              </a:rPr>
              <a:t>par les clients de messagerie  pour récupérer des </a:t>
            </a:r>
            <a:r>
              <a:rPr lang="fr-FR" sz="2000" dirty="0" smtClean="0">
                <a:latin typeface="+mj-lt"/>
                <a:cs typeface="Arial"/>
              </a:rPr>
              <a:t>e-mails </a:t>
            </a:r>
            <a:r>
              <a:rPr lang="fr-FR" sz="2000" spc="0" dirty="0" smtClean="0">
                <a:latin typeface="+mj-lt"/>
                <a:cs typeface="Arial"/>
              </a:rPr>
              <a:t>sur un serveur de</a:t>
            </a:r>
            <a:r>
              <a:rPr lang="fr-FR" sz="2000" spc="150" dirty="0" smtClean="0">
                <a:latin typeface="+mj-lt"/>
                <a:cs typeface="Arial"/>
              </a:rPr>
              <a:t> </a:t>
            </a:r>
            <a:r>
              <a:rPr lang="fr-FR" sz="2000" spc="0" dirty="0" smtClean="0">
                <a:latin typeface="+mj-lt"/>
                <a:cs typeface="Arial"/>
              </a:rPr>
              <a:t>messagerie</a:t>
            </a:r>
            <a:endParaRPr lang="fr-FR" sz="2000" dirty="0" smtClean="0">
              <a:latin typeface="+mj-lt"/>
              <a:cs typeface="Arial"/>
            </a:endParaRPr>
          </a:p>
          <a:p>
            <a:pPr>
              <a:spcBef>
                <a:spcPts val="30"/>
              </a:spcBef>
            </a:pPr>
            <a:endParaRPr lang="fr-FR" sz="2000" dirty="0" smtClean="0">
              <a:latin typeface="+mj-lt"/>
              <a:cs typeface="Times New Roman"/>
            </a:endParaRPr>
          </a:p>
          <a:p>
            <a:pPr marL="63500" marR="67310"/>
            <a:r>
              <a:rPr lang="fr-FR" sz="2000" b="1" spc="0" dirty="0" smtClean="0">
                <a:latin typeface="+mj-lt"/>
                <a:cs typeface="Arial"/>
              </a:rPr>
              <a:t>IMAP (Internet Message </a:t>
            </a:r>
            <a:r>
              <a:rPr lang="fr-FR" sz="2000" b="1" dirty="0" smtClean="0">
                <a:latin typeface="+mj-lt"/>
                <a:cs typeface="Arial"/>
              </a:rPr>
              <a:t>Access </a:t>
            </a:r>
            <a:r>
              <a:rPr lang="fr-FR" sz="2000" b="1" spc="0" dirty="0" smtClean="0">
                <a:latin typeface="+mj-lt"/>
                <a:cs typeface="Arial"/>
              </a:rPr>
              <a:t>Protocol) : </a:t>
            </a:r>
            <a:r>
              <a:rPr lang="fr-FR" sz="2000" spc="0" dirty="0" smtClean="0">
                <a:latin typeface="+mj-lt"/>
                <a:cs typeface="Arial"/>
              </a:rPr>
              <a:t>un autre protocole  pour la récupération des</a:t>
            </a:r>
            <a:r>
              <a:rPr lang="fr-FR" sz="2000" spc="65" dirty="0" smtClean="0">
                <a:latin typeface="+mj-lt"/>
                <a:cs typeface="Arial"/>
              </a:rPr>
              <a:t> </a:t>
            </a:r>
            <a:r>
              <a:rPr lang="fr-FR" sz="2000" dirty="0" smtClean="0">
                <a:latin typeface="+mj-lt"/>
                <a:cs typeface="Arial"/>
              </a:rPr>
              <a:t>e-mails</a:t>
            </a:r>
            <a:endParaRPr lang="fr-FR" sz="2000" dirty="0">
              <a:latin typeface="+mj-lt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28600" y="228600"/>
            <a:ext cx="9310882" cy="2314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910"/>
              </a:lnSpc>
              <a:spcBef>
                <a:spcPts val="90"/>
              </a:spcBef>
            </a:pPr>
            <a:r>
              <a:rPr lang="fr-FR" b="1" spc="-10" dirty="0" smtClean="0">
                <a:solidFill>
                  <a:srgbClr val="6F8CA1"/>
                </a:solidFill>
                <a:latin typeface="Arial"/>
                <a:cs typeface="Arial"/>
              </a:rPr>
              <a:t>Interaction des protocoles d'application avec les applications des utilisateurs finaux</a:t>
            </a:r>
          </a:p>
        </p:txBody>
      </p:sp>
      <p:sp>
        <p:nvSpPr>
          <p:cNvPr id="6" name="Rectangle 5"/>
          <p:cNvSpPr/>
          <p:nvPr/>
        </p:nvSpPr>
        <p:spPr>
          <a:xfrm>
            <a:off x="152400" y="609600"/>
            <a:ext cx="4883068" cy="2702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1030"/>
              </a:lnSpc>
            </a:pPr>
            <a:r>
              <a:rPr lang="fr-FR" sz="2800" b="1" spc="0" dirty="0" smtClean="0">
                <a:solidFill>
                  <a:srgbClr val="6F8CA1"/>
                </a:solidFill>
                <a:latin typeface="Arial"/>
                <a:cs typeface="Arial"/>
              </a:rPr>
              <a:t>Réseaux </a:t>
            </a:r>
            <a:r>
              <a:rPr lang="fr-FR" sz="2800" b="1" spc="0" dirty="0" err="1" smtClean="0">
                <a:solidFill>
                  <a:srgbClr val="6F8CA1"/>
                </a:solidFill>
                <a:latin typeface="Arial"/>
                <a:cs typeface="Arial"/>
              </a:rPr>
              <a:t>peer</a:t>
            </a:r>
            <a:r>
              <a:rPr lang="fr-FR" sz="2800" b="1" spc="0" dirty="0" smtClean="0">
                <a:solidFill>
                  <a:srgbClr val="6F8CA1"/>
                </a:solidFill>
                <a:latin typeface="Arial"/>
                <a:cs typeface="Arial"/>
              </a:rPr>
              <a:t>-to-</a:t>
            </a:r>
            <a:r>
              <a:rPr lang="fr-FR" sz="2800" b="1" spc="0" dirty="0" err="1" smtClean="0">
                <a:solidFill>
                  <a:srgbClr val="6F8CA1"/>
                </a:solidFill>
                <a:latin typeface="Arial"/>
                <a:cs typeface="Arial"/>
              </a:rPr>
              <a:t>peer</a:t>
            </a:r>
            <a:r>
              <a:rPr lang="fr-FR" sz="2800" b="1" spc="0" dirty="0" smtClean="0">
                <a:solidFill>
                  <a:srgbClr val="6F8CA1"/>
                </a:solidFill>
                <a:latin typeface="Arial"/>
                <a:cs typeface="Arial"/>
              </a:rPr>
              <a:t> (P2P)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371600"/>
            <a:ext cx="898226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0955">
              <a:lnSpc>
                <a:spcPct val="100000"/>
              </a:lnSpc>
              <a:spcBef>
                <a:spcPts val="575"/>
              </a:spcBef>
            </a:pPr>
            <a:r>
              <a:rPr lang="fr-FR" sz="2000" spc="10" dirty="0" smtClean="0">
                <a:latin typeface="+mj-lt"/>
                <a:cs typeface="Arial"/>
              </a:rPr>
              <a:t>Les deux </a:t>
            </a:r>
            <a:r>
              <a:rPr lang="fr-FR" sz="2000" spc="5" dirty="0" smtClean="0">
                <a:latin typeface="+mj-lt"/>
                <a:cs typeface="Arial"/>
              </a:rPr>
              <a:t>périphériques </a:t>
            </a:r>
            <a:r>
              <a:rPr lang="fr-FR" sz="2000" spc="10" dirty="0" smtClean="0">
                <a:latin typeface="+mj-lt"/>
                <a:cs typeface="Arial"/>
              </a:rPr>
              <a:t>sont </a:t>
            </a:r>
            <a:r>
              <a:rPr lang="fr-FR" sz="2000" spc="5" dirty="0" smtClean="0">
                <a:latin typeface="+mj-lt"/>
                <a:cs typeface="Arial"/>
              </a:rPr>
              <a:t>considérés </a:t>
            </a:r>
            <a:r>
              <a:rPr lang="fr-FR" sz="2000" spc="10" dirty="0" smtClean="0">
                <a:latin typeface="+mj-lt"/>
                <a:cs typeface="Arial"/>
              </a:rPr>
              <a:t>comme </a:t>
            </a:r>
            <a:r>
              <a:rPr lang="fr-FR" sz="2000" spc="5" dirty="0" smtClean="0">
                <a:latin typeface="+mj-lt"/>
                <a:cs typeface="Arial"/>
              </a:rPr>
              <a:t>étant </a:t>
            </a:r>
            <a:r>
              <a:rPr lang="fr-FR" sz="2000" spc="10" dirty="0" smtClean="0">
                <a:latin typeface="+mj-lt"/>
                <a:cs typeface="Arial"/>
              </a:rPr>
              <a:t>égaux dans </a:t>
            </a:r>
            <a:r>
              <a:rPr lang="fr-FR" sz="2000" spc="0" dirty="0" smtClean="0">
                <a:latin typeface="+mj-lt"/>
                <a:cs typeface="Arial"/>
              </a:rPr>
              <a:t>la</a:t>
            </a:r>
            <a:r>
              <a:rPr lang="fr-FR" sz="2000" spc="50" dirty="0" smtClean="0">
                <a:latin typeface="+mj-lt"/>
                <a:cs typeface="Arial"/>
              </a:rPr>
              <a:t> </a:t>
            </a:r>
            <a:r>
              <a:rPr lang="fr-FR" sz="2000" spc="10" dirty="0" smtClean="0">
                <a:latin typeface="+mj-lt"/>
                <a:cs typeface="Arial"/>
              </a:rPr>
              <a:t>communication</a:t>
            </a:r>
            <a:endParaRPr lang="fr-FR" sz="2000" dirty="0">
              <a:latin typeface="+mj-lt"/>
              <a:cs typeface="Arial"/>
            </a:endParaRPr>
          </a:p>
        </p:txBody>
      </p:sp>
      <p:sp>
        <p:nvSpPr>
          <p:cNvPr id="9" name="object 21"/>
          <p:cNvSpPr/>
          <p:nvPr/>
        </p:nvSpPr>
        <p:spPr>
          <a:xfrm>
            <a:off x="1371600" y="1828800"/>
            <a:ext cx="6817301" cy="37687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81000" y="6400800"/>
            <a:ext cx="813799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lang="fr-FR" sz="2000" spc="10" dirty="0" smtClean="0">
                <a:latin typeface="+mj-lt"/>
                <a:cs typeface="Arial"/>
              </a:rPr>
              <a:t>Les </a:t>
            </a:r>
            <a:r>
              <a:rPr lang="fr-FR" sz="2000" spc="5" dirty="0" smtClean="0">
                <a:latin typeface="+mj-lt"/>
                <a:cs typeface="Arial"/>
              </a:rPr>
              <a:t>rôles </a:t>
            </a:r>
            <a:r>
              <a:rPr lang="fr-FR" sz="2000" spc="10" dirty="0" smtClean="0">
                <a:latin typeface="+mj-lt"/>
                <a:cs typeface="Arial"/>
              </a:rPr>
              <a:t>de </a:t>
            </a:r>
            <a:r>
              <a:rPr lang="fr-FR" sz="2000" spc="0" dirty="0" smtClean="0">
                <a:latin typeface="+mj-lt"/>
                <a:cs typeface="Arial"/>
              </a:rPr>
              <a:t>client </a:t>
            </a:r>
            <a:r>
              <a:rPr lang="fr-FR" sz="2000" spc="5" dirty="0" smtClean="0">
                <a:latin typeface="+mj-lt"/>
                <a:cs typeface="Arial"/>
              </a:rPr>
              <a:t>et </a:t>
            </a:r>
            <a:r>
              <a:rPr lang="fr-FR" sz="2000" spc="10" dirty="0" smtClean="0">
                <a:latin typeface="+mj-lt"/>
                <a:cs typeface="Arial"/>
              </a:rPr>
              <a:t>de serveur sont </a:t>
            </a:r>
            <a:r>
              <a:rPr lang="fr-FR" sz="2000" spc="0" dirty="0" smtClean="0">
                <a:latin typeface="+mj-lt"/>
                <a:cs typeface="Arial"/>
              </a:rPr>
              <a:t>définis </a:t>
            </a:r>
            <a:r>
              <a:rPr lang="fr-FR" sz="2000" spc="10" dirty="0" smtClean="0">
                <a:latin typeface="+mj-lt"/>
                <a:cs typeface="Arial"/>
              </a:rPr>
              <a:t>en </a:t>
            </a:r>
            <a:r>
              <a:rPr lang="fr-FR" sz="2000" spc="5" dirty="0" smtClean="0">
                <a:latin typeface="+mj-lt"/>
                <a:cs typeface="Arial"/>
              </a:rPr>
              <a:t>fonction </a:t>
            </a:r>
            <a:r>
              <a:rPr lang="fr-FR" sz="2000" spc="10" dirty="0" smtClean="0">
                <a:latin typeface="+mj-lt"/>
                <a:cs typeface="Arial"/>
              </a:rPr>
              <a:t>de chaque</a:t>
            </a:r>
            <a:r>
              <a:rPr lang="fr-FR" sz="2000" spc="25" dirty="0" smtClean="0">
                <a:latin typeface="+mj-lt"/>
                <a:cs typeface="Arial"/>
              </a:rPr>
              <a:t> </a:t>
            </a:r>
            <a:r>
              <a:rPr lang="fr-FR" sz="2000" spc="5" dirty="0" smtClean="0">
                <a:latin typeface="+mj-lt"/>
                <a:cs typeface="Arial"/>
              </a:rPr>
              <a:t>requête.</a:t>
            </a:r>
            <a:endParaRPr lang="fr-FR" sz="2000" dirty="0">
              <a:latin typeface="+mj-lt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28600" y="228600"/>
            <a:ext cx="9310882" cy="2314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910"/>
              </a:lnSpc>
              <a:spcBef>
                <a:spcPts val="90"/>
              </a:spcBef>
            </a:pPr>
            <a:r>
              <a:rPr lang="fr-FR" b="1" spc="-10" dirty="0" smtClean="0">
                <a:solidFill>
                  <a:srgbClr val="6F8CA1"/>
                </a:solidFill>
                <a:latin typeface="Arial"/>
                <a:cs typeface="Arial"/>
              </a:rPr>
              <a:t>Interaction des protocoles d'application avec les applications des utilisateurs finaux</a:t>
            </a:r>
          </a:p>
        </p:txBody>
      </p:sp>
      <p:sp>
        <p:nvSpPr>
          <p:cNvPr id="6" name="Rectangle 5"/>
          <p:cNvSpPr/>
          <p:nvPr/>
        </p:nvSpPr>
        <p:spPr>
          <a:xfrm>
            <a:off x="152400" y="609600"/>
            <a:ext cx="4883068" cy="2702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1030"/>
              </a:lnSpc>
            </a:pPr>
            <a:r>
              <a:rPr lang="fr-FR" sz="2800" b="1" spc="0" dirty="0" smtClean="0">
                <a:solidFill>
                  <a:srgbClr val="6F8CA1"/>
                </a:solidFill>
                <a:latin typeface="Arial"/>
                <a:cs typeface="Arial"/>
              </a:rPr>
              <a:t>Réseaux </a:t>
            </a:r>
            <a:r>
              <a:rPr lang="fr-FR" sz="2800" b="1" spc="0" dirty="0" err="1" smtClean="0">
                <a:solidFill>
                  <a:srgbClr val="6F8CA1"/>
                </a:solidFill>
                <a:latin typeface="Arial"/>
                <a:cs typeface="Arial"/>
              </a:rPr>
              <a:t>peer</a:t>
            </a:r>
            <a:r>
              <a:rPr lang="fr-FR" sz="2800" b="1" spc="0" dirty="0" smtClean="0">
                <a:solidFill>
                  <a:srgbClr val="6F8CA1"/>
                </a:solidFill>
                <a:latin typeface="Arial"/>
                <a:cs typeface="Arial"/>
              </a:rPr>
              <a:t>-to-</a:t>
            </a:r>
            <a:r>
              <a:rPr lang="fr-FR" sz="2800" b="1" spc="0" dirty="0" err="1" smtClean="0">
                <a:solidFill>
                  <a:srgbClr val="6F8CA1"/>
                </a:solidFill>
                <a:latin typeface="Arial"/>
                <a:cs typeface="Arial"/>
              </a:rPr>
              <a:t>peer</a:t>
            </a:r>
            <a:r>
              <a:rPr lang="fr-FR" sz="2800" b="1" spc="0" dirty="0" smtClean="0">
                <a:solidFill>
                  <a:srgbClr val="6F8CA1"/>
                </a:solidFill>
                <a:latin typeface="Arial"/>
                <a:cs typeface="Arial"/>
              </a:rPr>
              <a:t> (P2P)</a:t>
            </a:r>
          </a:p>
        </p:txBody>
      </p:sp>
      <p:sp>
        <p:nvSpPr>
          <p:cNvPr id="7" name="object 32"/>
          <p:cNvSpPr/>
          <p:nvPr/>
        </p:nvSpPr>
        <p:spPr>
          <a:xfrm>
            <a:off x="609600" y="1066800"/>
            <a:ext cx="8458200" cy="4953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09600" y="6400800"/>
            <a:ext cx="7656263" cy="6217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R="5080">
              <a:lnSpc>
                <a:spcPts val="710"/>
              </a:lnSpc>
              <a:spcBef>
                <a:spcPts val="190"/>
              </a:spcBef>
            </a:pPr>
            <a:r>
              <a:rPr lang="fr-FR" sz="2000" spc="-5" dirty="0" smtClean="0">
                <a:cs typeface="Arial"/>
              </a:rPr>
              <a:t>Ils </a:t>
            </a:r>
            <a:r>
              <a:rPr lang="fr-FR" sz="2000" spc="0" dirty="0" smtClean="0">
                <a:cs typeface="Arial"/>
              </a:rPr>
              <a:t>peuvent </a:t>
            </a:r>
            <a:r>
              <a:rPr lang="fr-FR" sz="2000" dirty="0" smtClean="0">
                <a:cs typeface="Arial"/>
              </a:rPr>
              <a:t>tous </a:t>
            </a:r>
            <a:r>
              <a:rPr lang="fr-FR" sz="2000" spc="0" dirty="0" smtClean="0">
                <a:cs typeface="Arial"/>
              </a:rPr>
              <a:t>deux </a:t>
            </a:r>
            <a:r>
              <a:rPr lang="fr-FR" sz="2000" dirty="0" smtClean="0">
                <a:cs typeface="Arial"/>
              </a:rPr>
              <a:t>démarrer </a:t>
            </a:r>
            <a:r>
              <a:rPr lang="fr-FR" sz="2000" spc="0" dirty="0" smtClean="0">
                <a:cs typeface="Arial"/>
              </a:rPr>
              <a:t>une </a:t>
            </a:r>
            <a:r>
              <a:rPr lang="fr-FR" sz="2000" dirty="0" smtClean="0">
                <a:cs typeface="Arial"/>
              </a:rPr>
              <a:t>communication et sont considérés  </a:t>
            </a:r>
          </a:p>
          <a:p>
            <a:pPr marR="5080">
              <a:lnSpc>
                <a:spcPct val="150000"/>
              </a:lnSpc>
              <a:spcBef>
                <a:spcPts val="190"/>
              </a:spcBef>
            </a:pPr>
            <a:r>
              <a:rPr lang="fr-FR" sz="2000" spc="0" dirty="0" smtClean="0">
                <a:cs typeface="Arial"/>
              </a:rPr>
              <a:t>comme</a:t>
            </a:r>
            <a:r>
              <a:rPr lang="fr-FR" sz="2000" spc="-145" dirty="0" smtClean="0">
                <a:cs typeface="Arial"/>
              </a:rPr>
              <a:t> </a:t>
            </a:r>
            <a:r>
              <a:rPr lang="fr-FR" sz="2000" spc="0" dirty="0" smtClean="0">
                <a:cs typeface="Arial"/>
              </a:rPr>
              <a:t>égaux dans </a:t>
            </a:r>
            <a:r>
              <a:rPr lang="fr-FR" sz="2000" dirty="0" smtClean="0">
                <a:cs typeface="Arial"/>
              </a:rPr>
              <a:t>cet </a:t>
            </a:r>
            <a:r>
              <a:rPr lang="fr-FR" sz="2000" spc="0" dirty="0" smtClean="0">
                <a:cs typeface="Arial"/>
              </a:rPr>
              <a:t>échange.</a:t>
            </a:r>
            <a:endParaRPr lang="fr-FR" sz="2000" dirty="0"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28600" y="228600"/>
            <a:ext cx="9310882" cy="2314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910"/>
              </a:lnSpc>
              <a:spcBef>
                <a:spcPts val="90"/>
              </a:spcBef>
            </a:pPr>
            <a:r>
              <a:rPr lang="fr-FR" b="1" spc="-10" dirty="0" smtClean="0">
                <a:solidFill>
                  <a:srgbClr val="6F8CA1"/>
                </a:solidFill>
                <a:latin typeface="Arial"/>
                <a:cs typeface="Arial"/>
              </a:rPr>
              <a:t>Interaction des protocoles d'application avec les applications des utilisateurs finaux</a:t>
            </a:r>
          </a:p>
        </p:txBody>
      </p:sp>
      <p:sp>
        <p:nvSpPr>
          <p:cNvPr id="6" name="Rectangle 5"/>
          <p:cNvSpPr/>
          <p:nvPr/>
        </p:nvSpPr>
        <p:spPr>
          <a:xfrm>
            <a:off x="152400" y="609600"/>
            <a:ext cx="4932697" cy="2702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1030"/>
              </a:lnSpc>
            </a:pPr>
            <a:r>
              <a:rPr lang="fr-FR" sz="2800" b="1" spc="0" dirty="0" smtClean="0">
                <a:solidFill>
                  <a:srgbClr val="6F8CA1"/>
                </a:solidFill>
                <a:latin typeface="Arial"/>
                <a:cs typeface="Arial"/>
              </a:rPr>
              <a:t>Applications P2P courantes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04800" y="1219200"/>
            <a:ext cx="8382000" cy="53373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56845" marR="50800" indent="-113030">
              <a:spcBef>
                <a:spcPts val="425"/>
              </a:spcBef>
              <a:buFont typeface="Wingdings"/>
              <a:buChar char=""/>
              <a:tabLst>
                <a:tab pos="157480" algn="l"/>
              </a:tabLst>
            </a:pPr>
            <a:r>
              <a:rPr lang="fr-FR" sz="2000" spc="0" dirty="0" smtClean="0">
                <a:cs typeface="Arial"/>
              </a:rPr>
              <a:t>Avec les </a:t>
            </a:r>
            <a:r>
              <a:rPr lang="fr-FR" sz="2000" dirty="0" smtClean="0">
                <a:cs typeface="Arial"/>
              </a:rPr>
              <a:t>applications </a:t>
            </a:r>
            <a:r>
              <a:rPr lang="fr-FR" sz="2000" spc="-20" dirty="0" smtClean="0">
                <a:cs typeface="Arial"/>
              </a:rPr>
              <a:t>P2P, </a:t>
            </a:r>
            <a:r>
              <a:rPr lang="fr-FR" sz="2000" spc="0" dirty="0" smtClean="0">
                <a:cs typeface="Arial"/>
              </a:rPr>
              <a:t>chaque ordinateur du réseau  exécutant </a:t>
            </a:r>
            <a:r>
              <a:rPr lang="fr-FR" sz="2000" dirty="0" smtClean="0">
                <a:cs typeface="Arial"/>
              </a:rPr>
              <a:t>l'application </a:t>
            </a:r>
            <a:r>
              <a:rPr lang="fr-FR" sz="2000" spc="0" dirty="0" smtClean="0">
                <a:cs typeface="Arial"/>
              </a:rPr>
              <a:t>peut faire </a:t>
            </a:r>
            <a:r>
              <a:rPr lang="fr-FR" sz="2000" dirty="0" smtClean="0">
                <a:cs typeface="Arial"/>
              </a:rPr>
              <a:t>office </a:t>
            </a:r>
            <a:r>
              <a:rPr lang="fr-FR" sz="2000" spc="0" dirty="0" smtClean="0">
                <a:cs typeface="Arial"/>
              </a:rPr>
              <a:t>de </a:t>
            </a:r>
            <a:r>
              <a:rPr lang="fr-FR" sz="2000" dirty="0" smtClean="0">
                <a:cs typeface="Arial"/>
              </a:rPr>
              <a:t>client </a:t>
            </a:r>
            <a:r>
              <a:rPr lang="fr-FR" sz="2000" spc="0" dirty="0" smtClean="0">
                <a:cs typeface="Arial"/>
              </a:rPr>
              <a:t>ou de serveur  pour les autres ordinateurs du réseau qui </a:t>
            </a:r>
            <a:r>
              <a:rPr lang="fr-FR" sz="2000" dirty="0" smtClean="0">
                <a:cs typeface="Arial"/>
              </a:rPr>
              <a:t>l'utilisent</a:t>
            </a:r>
            <a:r>
              <a:rPr lang="fr-FR" sz="2000" spc="155" dirty="0" smtClean="0">
                <a:cs typeface="Arial"/>
              </a:rPr>
              <a:t> </a:t>
            </a:r>
            <a:r>
              <a:rPr lang="fr-FR" sz="2000" spc="0" dirty="0" smtClean="0">
                <a:cs typeface="Arial"/>
              </a:rPr>
              <a:t>aussi</a:t>
            </a:r>
            <a:endParaRPr lang="fr-FR" sz="2000" dirty="0" smtClean="0">
              <a:cs typeface="Arial"/>
            </a:endParaRPr>
          </a:p>
          <a:p>
            <a:pPr>
              <a:spcBef>
                <a:spcPts val="15"/>
              </a:spcBef>
              <a:buFont typeface="Wingdings"/>
              <a:buChar char=""/>
            </a:pPr>
            <a:endParaRPr lang="fr-FR" sz="2000" dirty="0" smtClean="0">
              <a:cs typeface="Times New Roman"/>
            </a:endParaRPr>
          </a:p>
          <a:p>
            <a:pPr marL="156845" indent="-113030">
              <a:buFont typeface="Wingdings"/>
              <a:buChar char=""/>
              <a:tabLst>
                <a:tab pos="157480" algn="l"/>
              </a:tabLst>
            </a:pPr>
            <a:r>
              <a:rPr lang="fr-FR" sz="2000" spc="-5" dirty="0" smtClean="0">
                <a:cs typeface="Arial"/>
              </a:rPr>
              <a:t>Voici </a:t>
            </a:r>
            <a:r>
              <a:rPr lang="fr-FR" sz="2000" spc="0" dirty="0" smtClean="0">
                <a:cs typeface="Arial"/>
              </a:rPr>
              <a:t>quelques </a:t>
            </a:r>
            <a:r>
              <a:rPr lang="fr-FR" sz="2000" dirty="0" smtClean="0">
                <a:cs typeface="Arial"/>
              </a:rPr>
              <a:t>applications </a:t>
            </a:r>
            <a:r>
              <a:rPr lang="fr-FR" sz="2000" spc="0" dirty="0" smtClean="0">
                <a:cs typeface="Arial"/>
              </a:rPr>
              <a:t>P2P courantes</a:t>
            </a:r>
            <a:r>
              <a:rPr lang="fr-FR" sz="2000" spc="135" dirty="0" smtClean="0">
                <a:cs typeface="Arial"/>
              </a:rPr>
              <a:t> </a:t>
            </a:r>
            <a:r>
              <a:rPr lang="fr-FR" sz="2000" spc="0" dirty="0" smtClean="0">
                <a:cs typeface="Arial"/>
              </a:rPr>
              <a:t>:</a:t>
            </a:r>
            <a:endParaRPr lang="fr-FR" sz="2000" dirty="0" smtClean="0">
              <a:cs typeface="Arial"/>
            </a:endParaRPr>
          </a:p>
          <a:p>
            <a:pPr marL="306070" lvl="1" indent="-111125">
              <a:lnSpc>
                <a:spcPct val="150000"/>
              </a:lnSpc>
              <a:buChar char="•"/>
              <a:tabLst>
                <a:tab pos="306705" algn="l"/>
              </a:tabLst>
            </a:pPr>
            <a:r>
              <a:rPr lang="fr-FR" sz="2000" spc="0" dirty="0" err="1" smtClean="0">
                <a:cs typeface="Arial"/>
              </a:rPr>
              <a:t>eDonkey</a:t>
            </a:r>
            <a:endParaRPr lang="fr-FR" sz="2000" dirty="0" smtClean="0">
              <a:cs typeface="Arial"/>
            </a:endParaRPr>
          </a:p>
          <a:p>
            <a:pPr marL="306070" lvl="1" indent="-111125">
              <a:lnSpc>
                <a:spcPct val="150000"/>
              </a:lnSpc>
              <a:buChar char="•"/>
              <a:tabLst>
                <a:tab pos="306705" algn="l"/>
              </a:tabLst>
            </a:pPr>
            <a:r>
              <a:rPr lang="fr-FR" sz="2000" dirty="0" err="1" smtClean="0">
                <a:cs typeface="Arial"/>
              </a:rPr>
              <a:t>eMule</a:t>
            </a:r>
            <a:endParaRPr lang="fr-FR" sz="2000" dirty="0" smtClean="0">
              <a:cs typeface="Arial"/>
            </a:endParaRPr>
          </a:p>
          <a:p>
            <a:pPr marL="306070" lvl="1" indent="-111125">
              <a:lnSpc>
                <a:spcPct val="150000"/>
              </a:lnSpc>
              <a:buChar char="•"/>
              <a:tabLst>
                <a:tab pos="306705" algn="l"/>
              </a:tabLst>
            </a:pPr>
            <a:r>
              <a:rPr lang="fr-FR" sz="2000" spc="0" dirty="0" err="1" smtClean="0">
                <a:cs typeface="Arial"/>
              </a:rPr>
              <a:t>Shareaza</a:t>
            </a:r>
            <a:endParaRPr lang="fr-FR" sz="2000" dirty="0" smtClean="0">
              <a:cs typeface="Arial"/>
            </a:endParaRPr>
          </a:p>
          <a:p>
            <a:pPr marL="306070" lvl="1" indent="-111125">
              <a:lnSpc>
                <a:spcPct val="150000"/>
              </a:lnSpc>
              <a:buChar char="•"/>
              <a:tabLst>
                <a:tab pos="306705" algn="l"/>
              </a:tabLst>
            </a:pPr>
            <a:r>
              <a:rPr lang="fr-FR" sz="2000" spc="-5" dirty="0" err="1" smtClean="0">
                <a:cs typeface="Arial"/>
              </a:rPr>
              <a:t>BitTorrent</a:t>
            </a:r>
            <a:endParaRPr lang="fr-FR" sz="2000" dirty="0" smtClean="0">
              <a:cs typeface="Arial"/>
            </a:endParaRPr>
          </a:p>
          <a:p>
            <a:pPr marL="306070" lvl="1" indent="-111125">
              <a:lnSpc>
                <a:spcPct val="150000"/>
              </a:lnSpc>
              <a:buChar char="•"/>
              <a:tabLst>
                <a:tab pos="306705" algn="l"/>
              </a:tabLst>
            </a:pPr>
            <a:r>
              <a:rPr lang="fr-FR" sz="2000" spc="0" dirty="0" err="1" smtClean="0">
                <a:cs typeface="Arial"/>
              </a:rPr>
              <a:t>Bitcoin</a:t>
            </a:r>
            <a:endParaRPr lang="fr-FR" sz="2000" dirty="0" smtClean="0">
              <a:cs typeface="Arial"/>
            </a:endParaRPr>
          </a:p>
          <a:p>
            <a:pPr marL="306070" lvl="1" indent="-111125">
              <a:lnSpc>
                <a:spcPct val="150000"/>
              </a:lnSpc>
              <a:buChar char="•"/>
              <a:tabLst>
                <a:tab pos="306705" algn="l"/>
              </a:tabLst>
            </a:pPr>
            <a:r>
              <a:rPr lang="fr-FR" sz="2000" spc="0" dirty="0" err="1" smtClean="0">
                <a:cs typeface="Arial"/>
              </a:rPr>
              <a:t>LionShare</a:t>
            </a:r>
            <a:endParaRPr lang="fr-FR" sz="2000" dirty="0" smtClean="0">
              <a:cs typeface="Arial"/>
            </a:endParaRPr>
          </a:p>
          <a:p>
            <a:pPr lvl="1">
              <a:spcBef>
                <a:spcPts val="50"/>
              </a:spcBef>
              <a:buFont typeface="Arial"/>
              <a:buChar char="•"/>
            </a:pPr>
            <a:endParaRPr lang="fr-FR" sz="2000" dirty="0" smtClean="0">
              <a:cs typeface="Times New Roman"/>
            </a:endParaRPr>
          </a:p>
          <a:p>
            <a:pPr marL="156845" marR="5080" indent="-113030">
              <a:buFont typeface="Wingdings"/>
              <a:buChar char=""/>
              <a:tabLst>
                <a:tab pos="157480" algn="l"/>
              </a:tabLst>
            </a:pPr>
            <a:r>
              <a:rPr lang="fr-FR" sz="2000" spc="0" dirty="0" smtClean="0">
                <a:cs typeface="Arial"/>
              </a:rPr>
              <a:t>Certaines </a:t>
            </a:r>
            <a:r>
              <a:rPr lang="fr-FR" sz="2000" dirty="0" smtClean="0">
                <a:cs typeface="Arial"/>
              </a:rPr>
              <a:t>applications </a:t>
            </a:r>
            <a:r>
              <a:rPr lang="fr-FR" sz="2000" spc="0" dirty="0" smtClean="0">
                <a:cs typeface="Arial"/>
              </a:rPr>
              <a:t>P2P sont basées sur le protocole  </a:t>
            </a:r>
            <a:r>
              <a:rPr lang="fr-FR" sz="2000" spc="0" dirty="0" err="1" smtClean="0">
                <a:cs typeface="Arial"/>
              </a:rPr>
              <a:t>Gnutella</a:t>
            </a:r>
            <a:r>
              <a:rPr lang="fr-FR" sz="2000" spc="0" dirty="0" smtClean="0">
                <a:cs typeface="Arial"/>
              </a:rPr>
              <a:t> qui permet aux utilisateurs de partager des fichiers de  </a:t>
            </a:r>
            <a:r>
              <a:rPr lang="fr-FR" sz="2000" dirty="0" smtClean="0">
                <a:cs typeface="Arial"/>
              </a:rPr>
              <a:t>leur </a:t>
            </a:r>
            <a:r>
              <a:rPr lang="fr-FR" sz="2000" spc="0" dirty="0" smtClean="0">
                <a:cs typeface="Arial"/>
              </a:rPr>
              <a:t>disque dur avec des</a:t>
            </a:r>
            <a:r>
              <a:rPr lang="fr-FR" sz="2000" spc="50" dirty="0" smtClean="0">
                <a:cs typeface="Arial"/>
              </a:rPr>
              <a:t> </a:t>
            </a:r>
            <a:r>
              <a:rPr lang="fr-FR" sz="2000" spc="0" dirty="0" smtClean="0">
                <a:cs typeface="Arial"/>
              </a:rPr>
              <a:t>tiers</a:t>
            </a:r>
            <a:endParaRPr lang="fr-FR" sz="2000" dirty="0"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28600" y="228600"/>
            <a:ext cx="9310882" cy="2314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910"/>
              </a:lnSpc>
              <a:spcBef>
                <a:spcPts val="90"/>
              </a:spcBef>
            </a:pPr>
            <a:r>
              <a:rPr lang="fr-FR" b="1" spc="-10" dirty="0" smtClean="0">
                <a:solidFill>
                  <a:srgbClr val="6F8CA1"/>
                </a:solidFill>
                <a:latin typeface="Arial"/>
                <a:cs typeface="Arial"/>
              </a:rPr>
              <a:t>Interaction des protocoles d'application avec les applications des utilisateurs finaux</a:t>
            </a:r>
          </a:p>
        </p:txBody>
      </p:sp>
      <p:sp>
        <p:nvSpPr>
          <p:cNvPr id="6" name="Rectangle 5"/>
          <p:cNvSpPr/>
          <p:nvPr/>
        </p:nvSpPr>
        <p:spPr>
          <a:xfrm>
            <a:off x="152400" y="609600"/>
            <a:ext cx="4932697" cy="2702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1030"/>
              </a:lnSpc>
            </a:pPr>
            <a:r>
              <a:rPr lang="fr-FR" sz="2800" b="1" spc="0" dirty="0" smtClean="0">
                <a:solidFill>
                  <a:srgbClr val="6F8CA1"/>
                </a:solidFill>
                <a:latin typeface="Arial"/>
                <a:cs typeface="Arial"/>
              </a:rPr>
              <a:t>Applications P2P courantes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76400" y="1219200"/>
            <a:ext cx="6553200" cy="53688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28600" y="228600"/>
            <a:ext cx="9310882" cy="2314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910"/>
              </a:lnSpc>
              <a:spcBef>
                <a:spcPts val="90"/>
              </a:spcBef>
            </a:pPr>
            <a:r>
              <a:rPr lang="fr-FR" b="1" spc="-10" dirty="0" smtClean="0">
                <a:solidFill>
                  <a:srgbClr val="6F8CA1"/>
                </a:solidFill>
                <a:latin typeface="Arial"/>
                <a:cs typeface="Arial"/>
              </a:rPr>
              <a:t>Interaction des protocoles d'application avec les applications des utilisateurs finaux</a:t>
            </a:r>
          </a:p>
        </p:txBody>
      </p:sp>
      <p:sp>
        <p:nvSpPr>
          <p:cNvPr id="6" name="Rectangle 5"/>
          <p:cNvSpPr/>
          <p:nvPr/>
        </p:nvSpPr>
        <p:spPr>
          <a:xfrm>
            <a:off x="152400" y="609600"/>
            <a:ext cx="3882794" cy="2702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1030"/>
              </a:lnSpc>
            </a:pPr>
            <a:r>
              <a:rPr lang="fr-FR" sz="2800" b="1" spc="0" dirty="0" smtClean="0">
                <a:solidFill>
                  <a:srgbClr val="6F8CA1"/>
                </a:solidFill>
                <a:latin typeface="Arial"/>
                <a:cs typeface="Arial"/>
              </a:rPr>
              <a:t>Modèle client-serveur</a:t>
            </a:r>
          </a:p>
        </p:txBody>
      </p:sp>
      <p:sp>
        <p:nvSpPr>
          <p:cNvPr id="8" name="object 15"/>
          <p:cNvSpPr/>
          <p:nvPr/>
        </p:nvSpPr>
        <p:spPr>
          <a:xfrm>
            <a:off x="609600" y="1371601"/>
            <a:ext cx="8064193" cy="5029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28600" y="228600"/>
            <a:ext cx="9310882" cy="2314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910"/>
              </a:lnSpc>
              <a:spcBef>
                <a:spcPts val="90"/>
              </a:spcBef>
            </a:pPr>
            <a:r>
              <a:rPr lang="fr-FR" b="1" spc="-10" dirty="0" smtClean="0">
                <a:solidFill>
                  <a:srgbClr val="6F8CA1"/>
                </a:solidFill>
                <a:latin typeface="Arial"/>
                <a:cs typeface="Arial"/>
              </a:rPr>
              <a:t>Interaction des protocoles d'application avec les applications des utilisateurs finaux</a:t>
            </a:r>
          </a:p>
        </p:txBody>
      </p:sp>
      <p:sp>
        <p:nvSpPr>
          <p:cNvPr id="6" name="Rectangle 5"/>
          <p:cNvSpPr/>
          <p:nvPr/>
        </p:nvSpPr>
        <p:spPr>
          <a:xfrm>
            <a:off x="152400" y="609600"/>
            <a:ext cx="3882794" cy="2702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1030"/>
              </a:lnSpc>
            </a:pPr>
            <a:r>
              <a:rPr lang="fr-FR" sz="2800" b="1" spc="0" dirty="0" smtClean="0">
                <a:solidFill>
                  <a:srgbClr val="6F8CA1"/>
                </a:solidFill>
                <a:latin typeface="Arial"/>
                <a:cs typeface="Arial"/>
              </a:rPr>
              <a:t>Modèle client-serveur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47800" y="1295400"/>
            <a:ext cx="7538962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52400" y="609600"/>
            <a:ext cx="6246903" cy="9053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R="5080">
              <a:lnSpc>
                <a:spcPts val="1130"/>
              </a:lnSpc>
              <a:spcBef>
                <a:spcPts val="240"/>
              </a:spcBef>
            </a:pPr>
            <a:r>
              <a:rPr lang="fr-FR" sz="2800" b="1" spc="-10" dirty="0" smtClean="0">
                <a:solidFill>
                  <a:srgbClr val="6F8CA1"/>
                </a:solidFill>
                <a:latin typeface="Arial"/>
                <a:cs typeface="Arial"/>
              </a:rPr>
              <a:t>10.2 Les protocoles et services </a:t>
            </a:r>
          </a:p>
          <a:p>
            <a:pPr marR="5080">
              <a:lnSpc>
                <a:spcPct val="150000"/>
              </a:lnSpc>
              <a:spcBef>
                <a:spcPts val="240"/>
              </a:spcBef>
            </a:pPr>
            <a:r>
              <a:rPr lang="fr-FR" sz="2800" b="1" spc="-10" dirty="0" smtClean="0">
                <a:solidFill>
                  <a:srgbClr val="6F8CA1"/>
                </a:solidFill>
                <a:latin typeface="Arial"/>
                <a:cs typeface="Arial"/>
              </a:rPr>
              <a:t>de couche  application bien</a:t>
            </a:r>
            <a:r>
              <a:rPr lang="fr-FR" sz="2800" b="1" spc="50" dirty="0" smtClean="0">
                <a:solidFill>
                  <a:srgbClr val="6F8CA1"/>
                </a:solidFill>
                <a:latin typeface="Arial"/>
                <a:cs typeface="Arial"/>
              </a:rPr>
              <a:t> </a:t>
            </a:r>
            <a:r>
              <a:rPr lang="fr-FR" sz="2800" b="1" spc="-10" dirty="0" smtClean="0">
                <a:solidFill>
                  <a:srgbClr val="6F8CA1"/>
                </a:solidFill>
                <a:latin typeface="Arial"/>
                <a:cs typeface="Arial"/>
              </a:rPr>
              <a:t>connus</a:t>
            </a:r>
            <a:endParaRPr lang="fr-FR" sz="28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28600" y="228600"/>
            <a:ext cx="5295039" cy="2314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910"/>
              </a:lnSpc>
              <a:spcBef>
                <a:spcPts val="90"/>
              </a:spcBef>
            </a:pPr>
            <a:r>
              <a:rPr lang="fr-FR" b="1" spc="-10" dirty="0" smtClean="0">
                <a:solidFill>
                  <a:srgbClr val="6F8CA1"/>
                </a:solidFill>
                <a:latin typeface="Arial"/>
                <a:cs typeface="Arial"/>
              </a:rPr>
              <a:t>Les protocoles de couche application courants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152400" y="609600"/>
            <a:ext cx="8316700" cy="2702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1030"/>
              </a:lnSpc>
            </a:pPr>
            <a:r>
              <a:rPr lang="fr-FR" sz="2800" b="1" spc="0" dirty="0" smtClean="0">
                <a:solidFill>
                  <a:srgbClr val="6F8CA1"/>
                </a:solidFill>
                <a:latin typeface="Arial"/>
                <a:cs typeface="Arial"/>
              </a:rPr>
              <a:t>Révision des protocoles de couche  application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04800" y="1219200"/>
            <a:ext cx="8382000" cy="39816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985" marR="5080">
              <a:lnSpc>
                <a:spcPct val="150000"/>
              </a:lnSpc>
              <a:spcBef>
                <a:spcPts val="645"/>
              </a:spcBef>
            </a:pPr>
            <a:r>
              <a:rPr lang="fr-FR" sz="2000" spc="-5" dirty="0" smtClean="0">
                <a:cs typeface="Arial"/>
              </a:rPr>
              <a:t>Les trois protocoles de couche application suivants sont  impliqués</a:t>
            </a:r>
            <a:r>
              <a:rPr lang="fr-FR" sz="2000" spc="-65" dirty="0" smtClean="0">
                <a:cs typeface="Arial"/>
              </a:rPr>
              <a:t> </a:t>
            </a:r>
            <a:r>
              <a:rPr lang="fr-FR" sz="2000" spc="-5" dirty="0" smtClean="0">
                <a:cs typeface="Arial"/>
              </a:rPr>
              <a:t>dans</a:t>
            </a:r>
            <a:r>
              <a:rPr lang="fr-FR" sz="2000" spc="-30" dirty="0" smtClean="0">
                <a:cs typeface="Arial"/>
              </a:rPr>
              <a:t> </a:t>
            </a:r>
            <a:r>
              <a:rPr lang="fr-FR" sz="2000" spc="-5" dirty="0" smtClean="0">
                <a:cs typeface="Arial"/>
              </a:rPr>
              <a:t>les</a:t>
            </a:r>
            <a:r>
              <a:rPr lang="fr-FR" sz="2000" spc="-30" dirty="0" smtClean="0">
                <a:cs typeface="Arial"/>
              </a:rPr>
              <a:t> </a:t>
            </a:r>
            <a:r>
              <a:rPr lang="fr-FR" sz="2000" spc="-5" dirty="0" smtClean="0">
                <a:cs typeface="Arial"/>
              </a:rPr>
              <a:t>tâches</a:t>
            </a:r>
            <a:r>
              <a:rPr lang="fr-FR" sz="2000" spc="-30" dirty="0" smtClean="0">
                <a:cs typeface="Arial"/>
              </a:rPr>
              <a:t> </a:t>
            </a:r>
            <a:r>
              <a:rPr lang="fr-FR" sz="2000" spc="-5" dirty="0" smtClean="0">
                <a:cs typeface="Arial"/>
              </a:rPr>
              <a:t>professionnelles</a:t>
            </a:r>
            <a:r>
              <a:rPr lang="fr-FR" sz="2000" spc="-65" dirty="0" smtClean="0">
                <a:cs typeface="Arial"/>
              </a:rPr>
              <a:t> </a:t>
            </a:r>
            <a:r>
              <a:rPr lang="fr-FR" sz="2000" spc="-5" dirty="0" smtClean="0">
                <a:cs typeface="Arial"/>
              </a:rPr>
              <a:t>ou</a:t>
            </a:r>
            <a:r>
              <a:rPr lang="fr-FR" sz="2000" spc="-20" dirty="0" smtClean="0">
                <a:cs typeface="Arial"/>
              </a:rPr>
              <a:t> </a:t>
            </a:r>
            <a:r>
              <a:rPr lang="fr-FR" sz="2000" spc="-5" dirty="0" smtClean="0">
                <a:cs typeface="Arial"/>
              </a:rPr>
              <a:t>personnelles  </a:t>
            </a:r>
            <a:r>
              <a:rPr lang="fr-FR" sz="2000" spc="-10" dirty="0" smtClean="0">
                <a:cs typeface="Arial"/>
              </a:rPr>
              <a:t>quotidiennes</a:t>
            </a:r>
            <a:r>
              <a:rPr lang="fr-FR" sz="2000" spc="-60" dirty="0" smtClean="0">
                <a:cs typeface="Arial"/>
              </a:rPr>
              <a:t> </a:t>
            </a:r>
            <a:r>
              <a:rPr lang="fr-FR" sz="2000" spc="-5" dirty="0" smtClean="0">
                <a:cs typeface="Arial"/>
              </a:rPr>
              <a:t>:</a:t>
            </a:r>
            <a:endParaRPr lang="fr-FR" sz="2000" dirty="0" smtClean="0">
              <a:cs typeface="Arial"/>
            </a:endParaRPr>
          </a:p>
          <a:p>
            <a:pPr marL="85090" indent="-77470">
              <a:lnSpc>
                <a:spcPct val="150000"/>
              </a:lnSpc>
              <a:spcBef>
                <a:spcPts val="390"/>
              </a:spcBef>
              <a:buClr>
                <a:srgbClr val="6F8CA1"/>
              </a:buClr>
              <a:buFont typeface="Wingdings"/>
              <a:buChar char=""/>
              <a:tabLst>
                <a:tab pos="85725" algn="l"/>
              </a:tabLst>
            </a:pPr>
            <a:r>
              <a:rPr lang="fr-FR" sz="2000" spc="-10" dirty="0" smtClean="0">
                <a:cs typeface="Arial"/>
              </a:rPr>
              <a:t>HTTP (HyperText </a:t>
            </a:r>
            <a:r>
              <a:rPr lang="fr-FR" sz="2000" spc="-5" dirty="0" smtClean="0">
                <a:cs typeface="Arial"/>
              </a:rPr>
              <a:t>Transfer</a:t>
            </a:r>
            <a:r>
              <a:rPr lang="fr-FR" sz="2000" spc="-55" dirty="0" smtClean="0">
                <a:cs typeface="Arial"/>
              </a:rPr>
              <a:t> </a:t>
            </a:r>
            <a:r>
              <a:rPr lang="fr-FR" sz="2000" spc="-5" dirty="0" smtClean="0">
                <a:cs typeface="Arial"/>
              </a:rPr>
              <a:t>Protocol)</a:t>
            </a:r>
            <a:endParaRPr lang="fr-FR" sz="2000" dirty="0" smtClean="0">
              <a:cs typeface="Arial"/>
            </a:endParaRPr>
          </a:p>
          <a:p>
            <a:pPr marL="269240" lvl="1" indent="-111125">
              <a:lnSpc>
                <a:spcPct val="150000"/>
              </a:lnSpc>
              <a:spcBef>
                <a:spcPts val="245"/>
              </a:spcBef>
              <a:buClr>
                <a:srgbClr val="6F8CA1"/>
              </a:buClr>
              <a:buChar char="•"/>
              <a:tabLst>
                <a:tab pos="269875" algn="l"/>
              </a:tabLst>
            </a:pPr>
            <a:r>
              <a:rPr lang="fr-FR" sz="2000" dirty="0" smtClean="0">
                <a:cs typeface="Arial"/>
              </a:rPr>
              <a:t>Navigation sur </a:t>
            </a:r>
            <a:r>
              <a:rPr lang="fr-FR" sz="2000" spc="-5" dirty="0" smtClean="0">
                <a:cs typeface="Arial"/>
              </a:rPr>
              <a:t>le</a:t>
            </a:r>
            <a:r>
              <a:rPr lang="fr-FR" sz="2000" spc="-45" dirty="0" smtClean="0">
                <a:cs typeface="Arial"/>
              </a:rPr>
              <a:t> </a:t>
            </a:r>
            <a:r>
              <a:rPr lang="fr-FR" sz="2000" spc="5" dirty="0" smtClean="0">
                <a:cs typeface="Arial"/>
              </a:rPr>
              <a:t>Web</a:t>
            </a:r>
            <a:endParaRPr lang="fr-FR" sz="2000" dirty="0" smtClean="0">
              <a:cs typeface="Arial"/>
            </a:endParaRPr>
          </a:p>
          <a:p>
            <a:pPr marL="85090" indent="-77470">
              <a:lnSpc>
                <a:spcPct val="150000"/>
              </a:lnSpc>
              <a:spcBef>
                <a:spcPts val="415"/>
              </a:spcBef>
              <a:buClr>
                <a:srgbClr val="6F8CA1"/>
              </a:buClr>
              <a:buFont typeface="Wingdings"/>
              <a:buChar char=""/>
              <a:tabLst>
                <a:tab pos="85725" algn="l"/>
              </a:tabLst>
            </a:pPr>
            <a:r>
              <a:rPr lang="fr-FR" sz="2000" spc="-10" dirty="0" smtClean="0">
                <a:cs typeface="Arial"/>
              </a:rPr>
              <a:t>SMTP </a:t>
            </a:r>
            <a:r>
              <a:rPr lang="fr-FR" sz="2000" spc="-5" dirty="0" smtClean="0">
                <a:cs typeface="Arial"/>
              </a:rPr>
              <a:t>(Simple Mail Transfer</a:t>
            </a:r>
            <a:r>
              <a:rPr lang="fr-FR" sz="2000" spc="-100" dirty="0" smtClean="0">
                <a:cs typeface="Arial"/>
              </a:rPr>
              <a:t> </a:t>
            </a:r>
            <a:r>
              <a:rPr lang="fr-FR" sz="2000" spc="-5" dirty="0" smtClean="0">
                <a:cs typeface="Arial"/>
              </a:rPr>
              <a:t>Protocol)</a:t>
            </a:r>
            <a:endParaRPr lang="fr-FR" sz="2000" dirty="0" smtClean="0">
              <a:cs typeface="Arial"/>
            </a:endParaRPr>
          </a:p>
          <a:p>
            <a:pPr marL="269240" lvl="1" indent="-111125">
              <a:lnSpc>
                <a:spcPct val="150000"/>
              </a:lnSpc>
              <a:spcBef>
                <a:spcPts val="234"/>
              </a:spcBef>
              <a:buClr>
                <a:srgbClr val="6F8CA1"/>
              </a:buClr>
              <a:buChar char="•"/>
              <a:tabLst>
                <a:tab pos="269875" algn="l"/>
              </a:tabLst>
            </a:pPr>
            <a:r>
              <a:rPr lang="fr-FR" sz="2000" spc="0" dirty="0" smtClean="0">
                <a:cs typeface="Arial"/>
              </a:rPr>
              <a:t>Permet aux </a:t>
            </a:r>
            <a:r>
              <a:rPr lang="fr-FR" sz="2000" spc="-5" dirty="0" smtClean="0">
                <a:cs typeface="Arial"/>
              </a:rPr>
              <a:t>utilisateurs </a:t>
            </a:r>
            <a:r>
              <a:rPr lang="fr-FR" sz="2000" dirty="0" smtClean="0">
                <a:cs typeface="Arial"/>
              </a:rPr>
              <a:t>d'envoyer </a:t>
            </a:r>
            <a:r>
              <a:rPr lang="fr-FR" sz="2000" spc="0" dirty="0" smtClean="0">
                <a:cs typeface="Arial"/>
              </a:rPr>
              <a:t>des</a:t>
            </a:r>
            <a:r>
              <a:rPr lang="fr-FR" sz="2000" spc="-130" dirty="0" smtClean="0">
                <a:cs typeface="Arial"/>
              </a:rPr>
              <a:t> </a:t>
            </a:r>
            <a:r>
              <a:rPr lang="fr-FR" sz="2000" dirty="0" smtClean="0">
                <a:cs typeface="Arial"/>
              </a:rPr>
              <a:t>e-mails</a:t>
            </a:r>
          </a:p>
          <a:p>
            <a:pPr marL="85090" indent="-77470">
              <a:lnSpc>
                <a:spcPct val="150000"/>
              </a:lnSpc>
              <a:spcBef>
                <a:spcPts val="409"/>
              </a:spcBef>
              <a:buClr>
                <a:srgbClr val="6F8CA1"/>
              </a:buClr>
              <a:buFont typeface="Wingdings"/>
              <a:buChar char=""/>
              <a:tabLst>
                <a:tab pos="85725" algn="l"/>
              </a:tabLst>
            </a:pPr>
            <a:r>
              <a:rPr lang="fr-FR" sz="2000" spc="-10" dirty="0" smtClean="0">
                <a:cs typeface="Arial"/>
              </a:rPr>
              <a:t>POP </a:t>
            </a:r>
            <a:r>
              <a:rPr lang="fr-FR" sz="2000" spc="-5" dirty="0" smtClean="0">
                <a:cs typeface="Arial"/>
              </a:rPr>
              <a:t>(Post Office</a:t>
            </a:r>
            <a:r>
              <a:rPr lang="fr-FR" sz="2000" spc="-75" dirty="0" smtClean="0">
                <a:cs typeface="Arial"/>
              </a:rPr>
              <a:t> </a:t>
            </a:r>
            <a:r>
              <a:rPr lang="fr-FR" sz="2000" spc="-5" dirty="0" smtClean="0">
                <a:cs typeface="Arial"/>
              </a:rPr>
              <a:t>Protocol)</a:t>
            </a:r>
            <a:endParaRPr lang="fr-FR" sz="2000" dirty="0" smtClean="0">
              <a:cs typeface="Arial"/>
            </a:endParaRPr>
          </a:p>
          <a:p>
            <a:pPr marL="269240" lvl="1" indent="-111125">
              <a:lnSpc>
                <a:spcPct val="150000"/>
              </a:lnSpc>
              <a:spcBef>
                <a:spcPts val="250"/>
              </a:spcBef>
              <a:buClr>
                <a:srgbClr val="6F8CA1"/>
              </a:buClr>
              <a:buChar char="•"/>
              <a:tabLst>
                <a:tab pos="269875" algn="l"/>
              </a:tabLst>
            </a:pPr>
            <a:r>
              <a:rPr lang="fr-FR" sz="2000" spc="0" dirty="0" smtClean="0">
                <a:cs typeface="Arial"/>
              </a:rPr>
              <a:t>Permet aux </a:t>
            </a:r>
            <a:r>
              <a:rPr lang="fr-FR" sz="2000" spc="-5" dirty="0" smtClean="0">
                <a:cs typeface="Arial"/>
              </a:rPr>
              <a:t>utilisateurs </a:t>
            </a:r>
            <a:r>
              <a:rPr lang="fr-FR" sz="2000" spc="0" dirty="0" smtClean="0">
                <a:cs typeface="Arial"/>
              </a:rPr>
              <a:t>de </a:t>
            </a:r>
            <a:r>
              <a:rPr lang="fr-FR" sz="2000" dirty="0" smtClean="0">
                <a:cs typeface="Arial"/>
              </a:rPr>
              <a:t>recevoir </a:t>
            </a:r>
            <a:r>
              <a:rPr lang="fr-FR" sz="2000" spc="0" dirty="0" smtClean="0">
                <a:cs typeface="Arial"/>
              </a:rPr>
              <a:t>des</a:t>
            </a:r>
            <a:r>
              <a:rPr lang="fr-FR" sz="2000" spc="-120" dirty="0" smtClean="0">
                <a:cs typeface="Arial"/>
              </a:rPr>
              <a:t> </a:t>
            </a:r>
            <a:r>
              <a:rPr lang="fr-FR" sz="2000" dirty="0" smtClean="0">
                <a:cs typeface="Arial"/>
              </a:rPr>
              <a:t>e-mails</a:t>
            </a:r>
            <a:endParaRPr lang="fr-FR" sz="2000" dirty="0"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28600" y="228600"/>
            <a:ext cx="5295039" cy="2314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910"/>
              </a:lnSpc>
              <a:spcBef>
                <a:spcPts val="90"/>
              </a:spcBef>
            </a:pPr>
            <a:r>
              <a:rPr lang="fr-FR" b="1" spc="-10" dirty="0" smtClean="0">
                <a:solidFill>
                  <a:srgbClr val="6F8CA1"/>
                </a:solidFill>
                <a:latin typeface="Arial"/>
                <a:cs typeface="Arial"/>
              </a:rPr>
              <a:t>Les protocoles de couche application courants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152400" y="609600"/>
            <a:ext cx="2633991" cy="2702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1030"/>
              </a:lnSpc>
            </a:pPr>
            <a:r>
              <a:rPr lang="fr-FR" sz="2800" b="1" spc="0" dirty="0" smtClean="0">
                <a:solidFill>
                  <a:srgbClr val="6F8CA1"/>
                </a:solidFill>
                <a:latin typeface="Arial"/>
                <a:cs typeface="Arial"/>
              </a:rPr>
              <a:t>HTTP et HTML</a:t>
            </a:r>
          </a:p>
        </p:txBody>
      </p:sp>
      <p:sp>
        <p:nvSpPr>
          <p:cNvPr id="7" name="Rectangle 6"/>
          <p:cNvSpPr/>
          <p:nvPr/>
        </p:nvSpPr>
        <p:spPr>
          <a:xfrm>
            <a:off x="304800" y="1219200"/>
            <a:ext cx="8382000" cy="57220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fr-FR" sz="2000" dirty="0" smtClean="0">
              <a:latin typeface="+mj-lt"/>
              <a:cs typeface="Arial"/>
            </a:endParaRPr>
          </a:p>
          <a:p>
            <a:pPr marL="6985">
              <a:spcBef>
                <a:spcPts val="484"/>
              </a:spcBef>
            </a:pPr>
            <a:r>
              <a:rPr lang="fr-FR" sz="2000" spc="-10" dirty="0" smtClean="0">
                <a:latin typeface="+mj-lt"/>
                <a:cs typeface="Arial"/>
              </a:rPr>
              <a:t>Exemple</a:t>
            </a:r>
            <a:endParaRPr lang="fr-FR" sz="2000" dirty="0" smtClean="0">
              <a:latin typeface="+mj-lt"/>
              <a:cs typeface="Arial"/>
            </a:endParaRPr>
          </a:p>
          <a:p>
            <a:pPr marL="6985"/>
            <a:r>
              <a:rPr lang="fr-FR" sz="2000" spc="-10" dirty="0" smtClean="0">
                <a:latin typeface="+mj-lt"/>
                <a:cs typeface="Arial"/>
              </a:rPr>
              <a:t>URL </a:t>
            </a:r>
            <a:r>
              <a:rPr lang="fr-FR" sz="2000" spc="-5" dirty="0" smtClean="0">
                <a:latin typeface="+mj-lt"/>
                <a:cs typeface="Arial"/>
              </a:rPr>
              <a:t>:</a:t>
            </a:r>
            <a:r>
              <a:rPr lang="fr-FR" sz="2000" spc="-35" dirty="0" smtClean="0">
                <a:latin typeface="+mj-lt"/>
                <a:cs typeface="Arial"/>
              </a:rPr>
              <a:t> </a:t>
            </a:r>
            <a:r>
              <a:rPr lang="fr-FR" sz="2000" spc="-10" dirty="0" smtClean="0">
                <a:latin typeface="+mj-lt"/>
                <a:cs typeface="Arial"/>
                <a:hlinkClick r:id="rId2"/>
              </a:rPr>
              <a:t>http://www.cisco.com/index.html</a:t>
            </a:r>
            <a:endParaRPr lang="fr-FR" sz="2000" dirty="0" smtClean="0">
              <a:latin typeface="+mj-lt"/>
              <a:cs typeface="Arial"/>
            </a:endParaRPr>
          </a:p>
          <a:p>
            <a:pPr>
              <a:spcBef>
                <a:spcPts val="5"/>
              </a:spcBef>
            </a:pPr>
            <a:endParaRPr lang="fr-FR" sz="2000" dirty="0" smtClean="0">
              <a:latin typeface="+mj-lt"/>
              <a:cs typeface="Times New Roman"/>
            </a:endParaRPr>
          </a:p>
          <a:p>
            <a:pPr marL="85090" marR="111125" indent="-77470">
              <a:buClr>
                <a:srgbClr val="6F8CA1"/>
              </a:buClr>
              <a:buFont typeface="Wingdings"/>
              <a:buChar char=""/>
              <a:tabLst>
                <a:tab pos="85725" algn="l"/>
              </a:tabLst>
            </a:pPr>
            <a:r>
              <a:rPr lang="fr-FR" sz="2000" spc="-5" dirty="0" smtClean="0">
                <a:latin typeface="+mj-lt"/>
                <a:cs typeface="Arial"/>
              </a:rPr>
              <a:t>Le</a:t>
            </a:r>
            <a:r>
              <a:rPr lang="fr-FR" sz="2000" spc="-40" dirty="0" smtClean="0">
                <a:latin typeface="+mj-lt"/>
                <a:cs typeface="Arial"/>
              </a:rPr>
              <a:t> </a:t>
            </a:r>
            <a:r>
              <a:rPr lang="fr-FR" sz="2000" spc="-5" dirty="0" smtClean="0">
                <a:latin typeface="+mj-lt"/>
                <a:cs typeface="Arial"/>
              </a:rPr>
              <a:t>navigateur</a:t>
            </a:r>
            <a:r>
              <a:rPr lang="fr-FR" sz="2000" spc="-40" dirty="0" smtClean="0">
                <a:latin typeface="+mj-lt"/>
                <a:cs typeface="Arial"/>
              </a:rPr>
              <a:t> </a:t>
            </a:r>
            <a:r>
              <a:rPr lang="fr-FR" sz="2000" spc="-5" dirty="0" smtClean="0">
                <a:latin typeface="+mj-lt"/>
                <a:cs typeface="Arial"/>
              </a:rPr>
              <a:t>commence</a:t>
            </a:r>
            <a:r>
              <a:rPr lang="fr-FR" sz="2000" spc="-50" dirty="0" smtClean="0">
                <a:latin typeface="+mj-lt"/>
                <a:cs typeface="Arial"/>
              </a:rPr>
              <a:t> </a:t>
            </a:r>
            <a:r>
              <a:rPr lang="fr-FR" sz="2000" spc="-5" dirty="0" smtClean="0">
                <a:latin typeface="+mj-lt"/>
                <a:cs typeface="Arial"/>
              </a:rPr>
              <a:t>par</a:t>
            </a:r>
            <a:r>
              <a:rPr lang="fr-FR" sz="2000" spc="-30" dirty="0" smtClean="0">
                <a:latin typeface="+mj-lt"/>
                <a:cs typeface="Arial"/>
              </a:rPr>
              <a:t> </a:t>
            </a:r>
            <a:r>
              <a:rPr lang="fr-FR" sz="2000" spc="-5" dirty="0" smtClean="0">
                <a:latin typeface="+mj-lt"/>
                <a:cs typeface="Arial"/>
              </a:rPr>
              <a:t>interpréter</a:t>
            </a:r>
            <a:r>
              <a:rPr lang="fr-FR" sz="2000" spc="-40" dirty="0" smtClean="0">
                <a:latin typeface="+mj-lt"/>
                <a:cs typeface="Arial"/>
              </a:rPr>
              <a:t> </a:t>
            </a:r>
            <a:r>
              <a:rPr lang="fr-FR" sz="2000" spc="-5" dirty="0" smtClean="0">
                <a:latin typeface="+mj-lt"/>
                <a:cs typeface="Arial"/>
              </a:rPr>
              <a:t>les</a:t>
            </a:r>
            <a:r>
              <a:rPr lang="fr-FR" sz="2000" spc="-30" dirty="0" smtClean="0">
                <a:latin typeface="+mj-lt"/>
                <a:cs typeface="Arial"/>
              </a:rPr>
              <a:t> </a:t>
            </a:r>
            <a:r>
              <a:rPr lang="fr-FR" sz="2000" spc="-5" dirty="0" smtClean="0">
                <a:latin typeface="+mj-lt"/>
                <a:cs typeface="Arial"/>
              </a:rPr>
              <a:t>trois</a:t>
            </a:r>
            <a:r>
              <a:rPr lang="fr-FR" sz="2000" spc="-20" dirty="0" smtClean="0">
                <a:latin typeface="+mj-lt"/>
                <a:cs typeface="Arial"/>
              </a:rPr>
              <a:t> </a:t>
            </a:r>
            <a:r>
              <a:rPr lang="fr-FR" sz="2000" spc="-5" dirty="0" smtClean="0">
                <a:latin typeface="+mj-lt"/>
                <a:cs typeface="Arial"/>
              </a:rPr>
              <a:t>parties</a:t>
            </a:r>
            <a:r>
              <a:rPr lang="fr-FR" sz="2000" spc="-45" dirty="0" smtClean="0">
                <a:latin typeface="+mj-lt"/>
                <a:cs typeface="Arial"/>
              </a:rPr>
              <a:t> </a:t>
            </a:r>
            <a:r>
              <a:rPr lang="fr-FR" sz="2000" spc="-5" dirty="0" smtClean="0">
                <a:latin typeface="+mj-lt"/>
                <a:cs typeface="Arial"/>
              </a:rPr>
              <a:t>de  l'adresse </a:t>
            </a:r>
            <a:r>
              <a:rPr lang="fr-FR" sz="2000" spc="-10" dirty="0" smtClean="0">
                <a:latin typeface="+mj-lt"/>
                <a:cs typeface="Arial"/>
              </a:rPr>
              <a:t>URL</a:t>
            </a:r>
            <a:r>
              <a:rPr lang="fr-FR" sz="2000" spc="-70" dirty="0" smtClean="0">
                <a:latin typeface="+mj-lt"/>
                <a:cs typeface="Arial"/>
              </a:rPr>
              <a:t> </a:t>
            </a:r>
            <a:r>
              <a:rPr lang="fr-FR" sz="2000" spc="-5" dirty="0" smtClean="0">
                <a:latin typeface="+mj-lt"/>
                <a:cs typeface="Arial"/>
              </a:rPr>
              <a:t>:</a:t>
            </a:r>
            <a:endParaRPr lang="fr-FR" sz="2000" dirty="0" smtClean="0">
              <a:latin typeface="+mj-lt"/>
              <a:cs typeface="Arial"/>
            </a:endParaRPr>
          </a:p>
          <a:p>
            <a:pPr marL="210185" lvl="1" indent="-91440">
              <a:buFont typeface="Arial"/>
              <a:buAutoNum type="arabicPeriod"/>
              <a:tabLst>
                <a:tab pos="210820" algn="l"/>
              </a:tabLst>
            </a:pPr>
            <a:r>
              <a:rPr lang="fr-FR" sz="2000" b="1" dirty="0" smtClean="0">
                <a:latin typeface="+mj-lt"/>
                <a:cs typeface="Arial"/>
              </a:rPr>
              <a:t>http </a:t>
            </a:r>
            <a:r>
              <a:rPr lang="fr-FR" sz="2000" dirty="0" smtClean="0">
                <a:latin typeface="+mj-lt"/>
                <a:cs typeface="Arial"/>
              </a:rPr>
              <a:t>(protocole </a:t>
            </a:r>
            <a:r>
              <a:rPr lang="fr-FR" sz="2000" spc="0" dirty="0" smtClean="0">
                <a:latin typeface="+mj-lt"/>
                <a:cs typeface="Arial"/>
              </a:rPr>
              <a:t>ou</a:t>
            </a:r>
            <a:r>
              <a:rPr lang="fr-FR" sz="2000" spc="-45" dirty="0" smtClean="0">
                <a:latin typeface="+mj-lt"/>
                <a:cs typeface="Arial"/>
              </a:rPr>
              <a:t> </a:t>
            </a:r>
            <a:r>
              <a:rPr lang="fr-FR" sz="2000" spc="0" dirty="0" smtClean="0">
                <a:latin typeface="+mj-lt"/>
                <a:cs typeface="Arial"/>
              </a:rPr>
              <a:t>schéma)</a:t>
            </a:r>
            <a:endParaRPr lang="fr-FR" sz="2000" dirty="0" smtClean="0">
              <a:latin typeface="+mj-lt"/>
              <a:cs typeface="Arial"/>
            </a:endParaRPr>
          </a:p>
          <a:p>
            <a:pPr marL="210185" lvl="1" indent="-91440">
              <a:buAutoNum type="arabicPeriod"/>
              <a:tabLst>
                <a:tab pos="210820" algn="l"/>
              </a:tabLst>
            </a:pPr>
            <a:r>
              <a:rPr lang="fr-FR" sz="2000" dirty="0" smtClean="0">
                <a:latin typeface="+mj-lt"/>
                <a:cs typeface="Arial"/>
                <a:hlinkClick r:id="rId3"/>
              </a:rPr>
              <a:t>www.cisco.com </a:t>
            </a:r>
            <a:r>
              <a:rPr lang="fr-FR" sz="2000" dirty="0" smtClean="0">
                <a:latin typeface="+mj-lt"/>
                <a:cs typeface="Arial"/>
              </a:rPr>
              <a:t>(nom </a:t>
            </a:r>
            <a:r>
              <a:rPr lang="fr-FR" sz="2000" spc="0" dirty="0" smtClean="0">
                <a:latin typeface="+mj-lt"/>
                <a:cs typeface="Arial"/>
              </a:rPr>
              <a:t>du</a:t>
            </a:r>
            <a:r>
              <a:rPr lang="fr-FR" sz="2000" spc="-50" dirty="0" smtClean="0">
                <a:latin typeface="+mj-lt"/>
                <a:cs typeface="Arial"/>
              </a:rPr>
              <a:t> </a:t>
            </a:r>
            <a:r>
              <a:rPr lang="fr-FR" sz="2000" dirty="0" smtClean="0">
                <a:latin typeface="+mj-lt"/>
                <a:cs typeface="Arial"/>
              </a:rPr>
              <a:t>serveur)</a:t>
            </a:r>
          </a:p>
          <a:p>
            <a:pPr marL="210185" lvl="1" indent="-91440">
              <a:buFont typeface="Arial"/>
              <a:buAutoNum type="arabicPeriod"/>
              <a:tabLst>
                <a:tab pos="210820" algn="l"/>
              </a:tabLst>
            </a:pPr>
            <a:r>
              <a:rPr lang="fr-FR" sz="2000" b="1" dirty="0" smtClean="0">
                <a:latin typeface="+mj-lt"/>
                <a:cs typeface="Arial"/>
              </a:rPr>
              <a:t>index.html </a:t>
            </a:r>
            <a:r>
              <a:rPr lang="fr-FR" sz="2000" dirty="0" smtClean="0">
                <a:latin typeface="+mj-lt"/>
                <a:cs typeface="Arial"/>
              </a:rPr>
              <a:t>(nom </a:t>
            </a:r>
            <a:r>
              <a:rPr lang="fr-FR" sz="2000" spc="0" dirty="0" smtClean="0">
                <a:latin typeface="+mj-lt"/>
                <a:cs typeface="Arial"/>
              </a:rPr>
              <a:t>du </a:t>
            </a:r>
            <a:r>
              <a:rPr lang="fr-FR" sz="2000" spc="-5" dirty="0" smtClean="0">
                <a:latin typeface="+mj-lt"/>
                <a:cs typeface="Arial"/>
              </a:rPr>
              <a:t>fichier</a:t>
            </a:r>
            <a:r>
              <a:rPr lang="fr-FR" sz="2000" spc="-65" dirty="0" smtClean="0">
                <a:latin typeface="+mj-lt"/>
                <a:cs typeface="Arial"/>
              </a:rPr>
              <a:t> </a:t>
            </a:r>
            <a:r>
              <a:rPr lang="fr-FR" sz="2000" spc="0" dirty="0" smtClean="0">
                <a:latin typeface="+mj-lt"/>
                <a:cs typeface="Arial"/>
              </a:rPr>
              <a:t>demandé)</a:t>
            </a:r>
            <a:endParaRPr lang="fr-FR" sz="2000" dirty="0" smtClean="0">
              <a:latin typeface="+mj-lt"/>
              <a:cs typeface="Arial"/>
            </a:endParaRPr>
          </a:p>
          <a:p>
            <a:pPr lvl="1">
              <a:spcBef>
                <a:spcPts val="50"/>
              </a:spcBef>
              <a:buFont typeface="Arial"/>
              <a:buAutoNum type="arabicPeriod"/>
            </a:pPr>
            <a:endParaRPr lang="fr-FR" sz="2000" dirty="0" smtClean="0">
              <a:latin typeface="+mj-lt"/>
              <a:cs typeface="Times New Roman"/>
            </a:endParaRPr>
          </a:p>
          <a:p>
            <a:pPr marL="85090" marR="52705" indent="-77470">
              <a:spcBef>
                <a:spcPts val="5"/>
              </a:spcBef>
              <a:buClr>
                <a:srgbClr val="6F8CA1"/>
              </a:buClr>
              <a:buFont typeface="Wingdings"/>
              <a:buChar char=""/>
              <a:tabLst>
                <a:tab pos="85725" algn="l"/>
              </a:tabLst>
            </a:pPr>
            <a:r>
              <a:rPr lang="fr-FR" sz="2000" spc="-5" dirty="0" smtClean="0">
                <a:latin typeface="+mj-lt"/>
                <a:cs typeface="Arial"/>
              </a:rPr>
              <a:t>Le</a:t>
            </a:r>
            <a:r>
              <a:rPr lang="fr-FR" sz="2000" spc="-35" dirty="0" smtClean="0">
                <a:latin typeface="+mj-lt"/>
                <a:cs typeface="Arial"/>
              </a:rPr>
              <a:t> </a:t>
            </a:r>
            <a:r>
              <a:rPr lang="fr-FR" sz="2000" spc="-5" dirty="0" smtClean="0">
                <a:latin typeface="+mj-lt"/>
                <a:cs typeface="Arial"/>
              </a:rPr>
              <a:t>navigateur</a:t>
            </a:r>
            <a:r>
              <a:rPr lang="fr-FR" sz="2000" spc="-35" dirty="0" smtClean="0">
                <a:latin typeface="+mj-lt"/>
                <a:cs typeface="Arial"/>
              </a:rPr>
              <a:t> </a:t>
            </a:r>
            <a:r>
              <a:rPr lang="fr-FR" sz="2000" spc="-5" dirty="0" smtClean="0">
                <a:latin typeface="+mj-lt"/>
                <a:cs typeface="Arial"/>
              </a:rPr>
              <a:t>fait</a:t>
            </a:r>
            <a:r>
              <a:rPr lang="fr-FR" sz="2000" spc="-40" dirty="0" smtClean="0">
                <a:latin typeface="+mj-lt"/>
                <a:cs typeface="Arial"/>
              </a:rPr>
              <a:t> </a:t>
            </a:r>
            <a:r>
              <a:rPr lang="fr-FR" sz="2000" spc="-5" dirty="0" smtClean="0">
                <a:latin typeface="+mj-lt"/>
                <a:cs typeface="Arial"/>
              </a:rPr>
              <a:t>appel</a:t>
            </a:r>
            <a:r>
              <a:rPr lang="fr-FR" sz="2000" spc="-35" dirty="0" smtClean="0">
                <a:latin typeface="+mj-lt"/>
                <a:cs typeface="Arial"/>
              </a:rPr>
              <a:t> </a:t>
            </a:r>
            <a:r>
              <a:rPr lang="fr-FR" sz="2000" spc="-5" dirty="0" smtClean="0">
                <a:latin typeface="+mj-lt"/>
                <a:cs typeface="Arial"/>
              </a:rPr>
              <a:t>à</a:t>
            </a:r>
            <a:r>
              <a:rPr lang="fr-FR" sz="2000" spc="-15" dirty="0" smtClean="0">
                <a:latin typeface="+mj-lt"/>
                <a:cs typeface="Arial"/>
              </a:rPr>
              <a:t> </a:t>
            </a:r>
            <a:r>
              <a:rPr lang="fr-FR" sz="2000" spc="-5" dirty="0" smtClean="0">
                <a:latin typeface="+mj-lt"/>
                <a:cs typeface="Arial"/>
              </a:rPr>
              <a:t>un</a:t>
            </a:r>
            <a:r>
              <a:rPr lang="fr-FR" sz="2000" spc="-15" dirty="0" smtClean="0">
                <a:latin typeface="+mj-lt"/>
                <a:cs typeface="Arial"/>
              </a:rPr>
              <a:t> </a:t>
            </a:r>
            <a:r>
              <a:rPr lang="fr-FR" sz="2000" spc="-5" dirty="0" smtClean="0">
                <a:latin typeface="+mj-lt"/>
                <a:cs typeface="Arial"/>
              </a:rPr>
              <a:t>serveur</a:t>
            </a:r>
            <a:r>
              <a:rPr lang="fr-FR" sz="2000" spc="-35" dirty="0" smtClean="0">
                <a:latin typeface="+mj-lt"/>
                <a:cs typeface="Arial"/>
              </a:rPr>
              <a:t> </a:t>
            </a:r>
            <a:r>
              <a:rPr lang="fr-FR" sz="2000" spc="-5" dirty="0" smtClean="0">
                <a:latin typeface="+mj-lt"/>
                <a:cs typeface="Arial"/>
              </a:rPr>
              <a:t>de</a:t>
            </a:r>
            <a:r>
              <a:rPr lang="fr-FR" sz="2000" spc="-20" dirty="0" smtClean="0">
                <a:latin typeface="+mj-lt"/>
                <a:cs typeface="Arial"/>
              </a:rPr>
              <a:t> </a:t>
            </a:r>
            <a:r>
              <a:rPr lang="fr-FR" sz="2000" spc="-5" dirty="0" smtClean="0">
                <a:latin typeface="+mj-lt"/>
                <a:cs typeface="Arial"/>
              </a:rPr>
              <a:t>noms</a:t>
            </a:r>
            <a:r>
              <a:rPr lang="fr-FR" sz="2000" spc="-25" dirty="0" smtClean="0">
                <a:latin typeface="+mj-lt"/>
                <a:cs typeface="Arial"/>
              </a:rPr>
              <a:t> </a:t>
            </a:r>
            <a:r>
              <a:rPr lang="fr-FR" sz="2000" spc="-5" dirty="0" smtClean="0">
                <a:latin typeface="+mj-lt"/>
                <a:cs typeface="Arial"/>
              </a:rPr>
              <a:t>pour</a:t>
            </a:r>
            <a:r>
              <a:rPr lang="fr-FR" sz="2000" spc="-25" dirty="0" smtClean="0">
                <a:latin typeface="+mj-lt"/>
                <a:cs typeface="Arial"/>
              </a:rPr>
              <a:t> </a:t>
            </a:r>
            <a:r>
              <a:rPr lang="fr-FR" sz="2000" spc="-5" dirty="0" smtClean="0">
                <a:latin typeface="+mj-lt"/>
                <a:cs typeface="Arial"/>
              </a:rPr>
              <a:t>convertir </a:t>
            </a:r>
            <a:r>
              <a:rPr lang="fr-FR" sz="2000" spc="-5" dirty="0" smtClean="0">
                <a:latin typeface="+mj-lt"/>
                <a:cs typeface="Arial"/>
                <a:hlinkClick r:id="rId3"/>
              </a:rPr>
              <a:t> </a:t>
            </a:r>
            <a:r>
              <a:rPr lang="fr-FR" sz="2000" spc="-10" dirty="0" smtClean="0">
                <a:latin typeface="+mj-lt"/>
                <a:cs typeface="Arial"/>
                <a:hlinkClick r:id="rId3"/>
              </a:rPr>
              <a:t>www.cisco.com </a:t>
            </a:r>
            <a:r>
              <a:rPr lang="fr-FR" sz="2000" spc="-5" dirty="0" smtClean="0">
                <a:latin typeface="+mj-lt"/>
                <a:cs typeface="Arial"/>
              </a:rPr>
              <a:t>en adresse</a:t>
            </a:r>
            <a:r>
              <a:rPr lang="fr-FR" sz="2000" spc="-55" dirty="0" smtClean="0">
                <a:latin typeface="+mj-lt"/>
                <a:cs typeface="Arial"/>
              </a:rPr>
              <a:t> </a:t>
            </a:r>
            <a:r>
              <a:rPr lang="fr-FR" sz="2000" spc="-5" dirty="0" smtClean="0">
                <a:latin typeface="+mj-lt"/>
                <a:cs typeface="Arial"/>
              </a:rPr>
              <a:t>numérique</a:t>
            </a:r>
          </a:p>
          <a:p>
            <a:pPr marL="85090" marR="52705" indent="-77470">
              <a:spcBef>
                <a:spcPts val="5"/>
              </a:spcBef>
              <a:buClr>
                <a:srgbClr val="6F8CA1"/>
              </a:buClr>
              <a:buFont typeface="Wingdings"/>
              <a:buChar char=""/>
              <a:tabLst>
                <a:tab pos="85725" algn="l"/>
              </a:tabLst>
            </a:pPr>
            <a:endParaRPr lang="fr-FR" sz="2000" dirty="0" smtClean="0">
              <a:latin typeface="+mj-lt"/>
              <a:cs typeface="Arial"/>
            </a:endParaRPr>
          </a:p>
          <a:p>
            <a:pPr marL="85090" marR="5080" indent="-77470">
              <a:spcBef>
                <a:spcPts val="5"/>
              </a:spcBef>
              <a:buClr>
                <a:srgbClr val="6F8CA1"/>
              </a:buClr>
              <a:buFont typeface="Wingdings"/>
              <a:buChar char=""/>
              <a:tabLst>
                <a:tab pos="85725" algn="l"/>
              </a:tabLst>
            </a:pPr>
            <a:r>
              <a:rPr lang="fr-FR" sz="2000" spc="-10" dirty="0" smtClean="0">
                <a:latin typeface="+mj-lt"/>
                <a:cs typeface="Arial"/>
              </a:rPr>
              <a:t>Selon</a:t>
            </a:r>
            <a:r>
              <a:rPr lang="fr-FR" sz="2000" spc="-45" dirty="0" smtClean="0">
                <a:latin typeface="+mj-lt"/>
                <a:cs typeface="Arial"/>
              </a:rPr>
              <a:t> </a:t>
            </a:r>
            <a:r>
              <a:rPr lang="fr-FR" sz="2000" spc="-5" dirty="0" smtClean="0">
                <a:latin typeface="+mj-lt"/>
                <a:cs typeface="Arial"/>
              </a:rPr>
              <a:t>les</a:t>
            </a:r>
            <a:r>
              <a:rPr lang="fr-FR" sz="2000" spc="-15" dirty="0" smtClean="0">
                <a:latin typeface="+mj-lt"/>
                <a:cs typeface="Arial"/>
              </a:rPr>
              <a:t> </a:t>
            </a:r>
            <a:r>
              <a:rPr lang="fr-FR" sz="2000" spc="-5" dirty="0" smtClean="0">
                <a:latin typeface="+mj-lt"/>
                <a:cs typeface="Arial"/>
              </a:rPr>
              <a:t>règles</a:t>
            </a:r>
            <a:r>
              <a:rPr lang="fr-FR" sz="2000" spc="-40" dirty="0" smtClean="0">
                <a:latin typeface="+mj-lt"/>
                <a:cs typeface="Arial"/>
              </a:rPr>
              <a:t> </a:t>
            </a:r>
            <a:r>
              <a:rPr lang="fr-FR" sz="2000" spc="-5" dirty="0" smtClean="0">
                <a:latin typeface="+mj-lt"/>
                <a:cs typeface="Arial"/>
              </a:rPr>
              <a:t>du</a:t>
            </a:r>
            <a:r>
              <a:rPr lang="fr-FR" sz="2000" spc="-20" dirty="0" smtClean="0">
                <a:latin typeface="+mj-lt"/>
                <a:cs typeface="Arial"/>
              </a:rPr>
              <a:t> </a:t>
            </a:r>
            <a:r>
              <a:rPr lang="fr-FR" sz="2000" spc="-5" dirty="0" smtClean="0">
                <a:latin typeface="+mj-lt"/>
                <a:cs typeface="Arial"/>
              </a:rPr>
              <a:t>protocole</a:t>
            </a:r>
            <a:r>
              <a:rPr lang="fr-FR" sz="2000" spc="-35" dirty="0" smtClean="0">
                <a:latin typeface="+mj-lt"/>
                <a:cs typeface="Arial"/>
              </a:rPr>
              <a:t> </a:t>
            </a:r>
            <a:r>
              <a:rPr lang="fr-FR" sz="2000" spc="-10" dirty="0" smtClean="0">
                <a:latin typeface="+mj-lt"/>
                <a:cs typeface="Arial"/>
              </a:rPr>
              <a:t>HTTP,</a:t>
            </a:r>
            <a:r>
              <a:rPr lang="fr-FR" sz="2000" spc="-20" dirty="0" smtClean="0">
                <a:latin typeface="+mj-lt"/>
                <a:cs typeface="Arial"/>
              </a:rPr>
              <a:t> </a:t>
            </a:r>
            <a:r>
              <a:rPr lang="fr-FR" sz="2000" spc="-5" dirty="0" smtClean="0">
                <a:latin typeface="+mj-lt"/>
                <a:cs typeface="Arial"/>
              </a:rPr>
              <a:t>envoie</a:t>
            </a:r>
            <a:r>
              <a:rPr lang="fr-FR" sz="2000" spc="-35" dirty="0" smtClean="0">
                <a:latin typeface="+mj-lt"/>
                <a:cs typeface="Arial"/>
              </a:rPr>
              <a:t> </a:t>
            </a:r>
            <a:r>
              <a:rPr lang="fr-FR" sz="2000" spc="-5" dirty="0" smtClean="0">
                <a:latin typeface="+mj-lt"/>
                <a:cs typeface="Arial"/>
              </a:rPr>
              <a:t>une</a:t>
            </a:r>
            <a:r>
              <a:rPr lang="fr-FR" sz="2000" spc="-20" dirty="0" smtClean="0">
                <a:latin typeface="+mj-lt"/>
                <a:cs typeface="Arial"/>
              </a:rPr>
              <a:t> </a:t>
            </a:r>
            <a:r>
              <a:rPr lang="fr-FR" sz="2000" spc="-5" dirty="0" smtClean="0">
                <a:latin typeface="+mj-lt"/>
                <a:cs typeface="Arial"/>
              </a:rPr>
              <a:t>requête</a:t>
            </a:r>
            <a:r>
              <a:rPr lang="fr-FR" sz="2000" spc="-35" dirty="0" smtClean="0">
                <a:latin typeface="+mj-lt"/>
                <a:cs typeface="Arial"/>
              </a:rPr>
              <a:t> </a:t>
            </a:r>
            <a:r>
              <a:rPr lang="fr-FR" sz="2000" spc="-10" dirty="0" smtClean="0">
                <a:latin typeface="+mj-lt"/>
                <a:cs typeface="Arial"/>
              </a:rPr>
              <a:t>GET  </a:t>
            </a:r>
            <a:r>
              <a:rPr lang="fr-FR" sz="2000" spc="-5" dirty="0" smtClean="0">
                <a:latin typeface="+mj-lt"/>
                <a:cs typeface="Arial"/>
              </a:rPr>
              <a:t>au serveur et demande le fichier</a:t>
            </a:r>
            <a:r>
              <a:rPr lang="fr-FR" sz="2000" spc="-130" dirty="0" smtClean="0">
                <a:latin typeface="+mj-lt"/>
                <a:cs typeface="Arial"/>
              </a:rPr>
              <a:t> </a:t>
            </a:r>
            <a:r>
              <a:rPr lang="fr-FR" sz="2000" b="1" spc="-10" dirty="0" smtClean="0">
                <a:latin typeface="+mj-lt"/>
                <a:cs typeface="Arial"/>
              </a:rPr>
              <a:t>index.html</a:t>
            </a:r>
          </a:p>
          <a:p>
            <a:pPr marL="85090" marR="5080" indent="-77470">
              <a:spcBef>
                <a:spcPts val="5"/>
              </a:spcBef>
              <a:buClr>
                <a:srgbClr val="6F8CA1"/>
              </a:buClr>
              <a:buFont typeface="Wingdings"/>
              <a:buChar char=""/>
              <a:tabLst>
                <a:tab pos="85725" algn="l"/>
              </a:tabLst>
            </a:pPr>
            <a:endParaRPr lang="fr-FR" sz="2000" dirty="0" smtClean="0">
              <a:latin typeface="+mj-lt"/>
              <a:cs typeface="Arial"/>
            </a:endParaRPr>
          </a:p>
          <a:p>
            <a:pPr marL="85090" indent="-77470">
              <a:buClr>
                <a:srgbClr val="6F8CA1"/>
              </a:buClr>
              <a:buFont typeface="Wingdings"/>
              <a:buChar char=""/>
              <a:tabLst>
                <a:tab pos="85725" algn="l"/>
              </a:tabLst>
            </a:pPr>
            <a:r>
              <a:rPr lang="fr-FR" sz="2000" spc="-5" dirty="0" smtClean="0">
                <a:latin typeface="+mj-lt"/>
                <a:cs typeface="Arial"/>
              </a:rPr>
              <a:t>Le serveur envoie le code </a:t>
            </a:r>
            <a:r>
              <a:rPr lang="fr-FR" sz="2000" spc="-10" dirty="0" smtClean="0">
                <a:latin typeface="+mj-lt"/>
                <a:cs typeface="Arial"/>
              </a:rPr>
              <a:t>HTML </a:t>
            </a:r>
            <a:r>
              <a:rPr lang="fr-FR" sz="2000" spc="-5" dirty="0" smtClean="0">
                <a:latin typeface="+mj-lt"/>
                <a:cs typeface="Arial"/>
              </a:rPr>
              <a:t>de </a:t>
            </a:r>
            <a:r>
              <a:rPr lang="fr-FR" sz="2000" spc="-10" dirty="0" smtClean="0">
                <a:latin typeface="+mj-lt"/>
                <a:cs typeface="Arial"/>
              </a:rPr>
              <a:t>cette </a:t>
            </a:r>
            <a:r>
              <a:rPr lang="fr-FR" sz="2000" spc="-5" dirty="0" smtClean="0">
                <a:latin typeface="+mj-lt"/>
                <a:cs typeface="Arial"/>
              </a:rPr>
              <a:t>page</a:t>
            </a:r>
            <a:r>
              <a:rPr lang="fr-FR" sz="2000" spc="-140" dirty="0" smtClean="0">
                <a:latin typeface="+mj-lt"/>
                <a:cs typeface="Arial"/>
              </a:rPr>
              <a:t> </a:t>
            </a:r>
            <a:r>
              <a:rPr lang="fr-FR" sz="2000" spc="0" dirty="0" smtClean="0">
                <a:latin typeface="+mj-lt"/>
                <a:cs typeface="Arial"/>
              </a:rPr>
              <a:t>Web</a:t>
            </a:r>
          </a:p>
          <a:p>
            <a:pPr marL="85090" indent="-77470">
              <a:buClr>
                <a:srgbClr val="6F8CA1"/>
              </a:buClr>
              <a:buFont typeface="Wingdings"/>
              <a:buChar char=""/>
              <a:tabLst>
                <a:tab pos="85725" algn="l"/>
              </a:tabLst>
            </a:pPr>
            <a:endParaRPr lang="fr-FR" sz="2000" dirty="0" smtClean="0">
              <a:latin typeface="+mj-lt"/>
              <a:cs typeface="Arial"/>
            </a:endParaRPr>
          </a:p>
          <a:p>
            <a:pPr marL="85090" marR="261620" indent="-77470">
              <a:spcBef>
                <a:spcPts val="85"/>
              </a:spcBef>
              <a:buClr>
                <a:srgbClr val="6F8CA1"/>
              </a:buClr>
              <a:buFont typeface="Wingdings"/>
              <a:buChar char=""/>
              <a:tabLst>
                <a:tab pos="85725" algn="l"/>
              </a:tabLst>
            </a:pPr>
            <a:r>
              <a:rPr lang="fr-FR" sz="2000" spc="-5" dirty="0" smtClean="0">
                <a:latin typeface="+mj-lt"/>
                <a:cs typeface="Arial"/>
              </a:rPr>
              <a:t>Le</a:t>
            </a:r>
            <a:r>
              <a:rPr lang="fr-FR" sz="2000" spc="-35" dirty="0" smtClean="0">
                <a:latin typeface="+mj-lt"/>
                <a:cs typeface="Arial"/>
              </a:rPr>
              <a:t> </a:t>
            </a:r>
            <a:r>
              <a:rPr lang="fr-FR" sz="2000" spc="-5" dirty="0" smtClean="0">
                <a:latin typeface="+mj-lt"/>
                <a:cs typeface="Arial"/>
              </a:rPr>
              <a:t>navigateur</a:t>
            </a:r>
            <a:r>
              <a:rPr lang="fr-FR" sz="2000" spc="-35" dirty="0" smtClean="0">
                <a:latin typeface="+mj-lt"/>
                <a:cs typeface="Arial"/>
              </a:rPr>
              <a:t> </a:t>
            </a:r>
            <a:r>
              <a:rPr lang="fr-FR" sz="2000" spc="-5" dirty="0" smtClean="0">
                <a:latin typeface="+mj-lt"/>
                <a:cs typeface="Arial"/>
              </a:rPr>
              <a:t>déchiffre</a:t>
            </a:r>
            <a:r>
              <a:rPr lang="fr-FR" sz="2000" spc="-60" dirty="0" smtClean="0">
                <a:latin typeface="+mj-lt"/>
                <a:cs typeface="Arial"/>
              </a:rPr>
              <a:t> </a:t>
            </a:r>
            <a:r>
              <a:rPr lang="fr-FR" sz="2000" spc="-5" dirty="0" smtClean="0">
                <a:latin typeface="+mj-lt"/>
                <a:cs typeface="Arial"/>
              </a:rPr>
              <a:t>le</a:t>
            </a:r>
            <a:r>
              <a:rPr lang="fr-FR" sz="2000" spc="-20" dirty="0" smtClean="0">
                <a:latin typeface="+mj-lt"/>
                <a:cs typeface="Arial"/>
              </a:rPr>
              <a:t> </a:t>
            </a:r>
            <a:r>
              <a:rPr lang="fr-FR" sz="2000" spc="-5" dirty="0" smtClean="0">
                <a:latin typeface="+mj-lt"/>
                <a:cs typeface="Arial"/>
              </a:rPr>
              <a:t>code</a:t>
            </a:r>
            <a:r>
              <a:rPr lang="fr-FR" sz="2000" spc="-20" dirty="0" smtClean="0">
                <a:latin typeface="+mj-lt"/>
                <a:cs typeface="Arial"/>
              </a:rPr>
              <a:t> </a:t>
            </a:r>
            <a:r>
              <a:rPr lang="fr-FR" sz="2000" spc="-10" dirty="0" smtClean="0">
                <a:latin typeface="+mj-lt"/>
                <a:cs typeface="Arial"/>
              </a:rPr>
              <a:t>HTML</a:t>
            </a:r>
            <a:r>
              <a:rPr lang="fr-FR" sz="2000" spc="-20" dirty="0" smtClean="0">
                <a:latin typeface="+mj-lt"/>
                <a:cs typeface="Arial"/>
              </a:rPr>
              <a:t> </a:t>
            </a:r>
            <a:r>
              <a:rPr lang="fr-FR" sz="2000" spc="-5" dirty="0" smtClean="0">
                <a:latin typeface="+mj-lt"/>
                <a:cs typeface="Arial"/>
              </a:rPr>
              <a:t>et</a:t>
            </a:r>
            <a:r>
              <a:rPr lang="fr-FR" sz="2000" spc="-20" dirty="0" smtClean="0">
                <a:latin typeface="+mj-lt"/>
                <a:cs typeface="Arial"/>
              </a:rPr>
              <a:t> </a:t>
            </a:r>
            <a:r>
              <a:rPr lang="fr-FR" sz="2000" spc="-5" dirty="0" smtClean="0">
                <a:latin typeface="+mj-lt"/>
                <a:cs typeface="Arial"/>
              </a:rPr>
              <a:t>met</a:t>
            </a:r>
            <a:r>
              <a:rPr lang="fr-FR" sz="2000" spc="-30" dirty="0" smtClean="0">
                <a:latin typeface="+mj-lt"/>
                <a:cs typeface="Arial"/>
              </a:rPr>
              <a:t> </a:t>
            </a:r>
            <a:r>
              <a:rPr lang="fr-FR" sz="2000" spc="-5" dirty="0" smtClean="0">
                <a:latin typeface="+mj-lt"/>
                <a:cs typeface="Arial"/>
              </a:rPr>
              <a:t>la</a:t>
            </a:r>
            <a:r>
              <a:rPr lang="fr-FR" sz="2000" spc="-10" dirty="0" smtClean="0">
                <a:latin typeface="+mj-lt"/>
                <a:cs typeface="Arial"/>
              </a:rPr>
              <a:t> </a:t>
            </a:r>
            <a:r>
              <a:rPr lang="fr-FR" sz="2000" spc="-5" dirty="0" smtClean="0">
                <a:latin typeface="+mj-lt"/>
                <a:cs typeface="Arial"/>
              </a:rPr>
              <a:t>page</a:t>
            </a:r>
            <a:r>
              <a:rPr lang="fr-FR" sz="2000" spc="-35" dirty="0" smtClean="0">
                <a:latin typeface="+mj-lt"/>
                <a:cs typeface="Arial"/>
              </a:rPr>
              <a:t> </a:t>
            </a:r>
            <a:r>
              <a:rPr lang="fr-FR" sz="2000" spc="-5" dirty="0" smtClean="0">
                <a:latin typeface="+mj-lt"/>
                <a:cs typeface="Arial"/>
              </a:rPr>
              <a:t>en  forme</a:t>
            </a:r>
            <a:endParaRPr lang="fr-FR" sz="2000" dirty="0">
              <a:latin typeface="+mj-lt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28600" y="228600"/>
            <a:ext cx="5295039" cy="2314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910"/>
              </a:lnSpc>
              <a:spcBef>
                <a:spcPts val="90"/>
              </a:spcBef>
            </a:pPr>
            <a:r>
              <a:rPr lang="fr-FR" b="1" spc="-10" dirty="0" smtClean="0">
                <a:solidFill>
                  <a:srgbClr val="6F8CA1"/>
                </a:solidFill>
                <a:latin typeface="Arial"/>
                <a:cs typeface="Arial"/>
              </a:rPr>
              <a:t>Les protocoles de couche application courants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152400" y="609600"/>
            <a:ext cx="2814488" cy="2702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1030"/>
              </a:lnSpc>
            </a:pPr>
            <a:r>
              <a:rPr lang="fr-FR" sz="2800" b="1" spc="5" dirty="0" smtClean="0">
                <a:solidFill>
                  <a:srgbClr val="6F8CA1"/>
                </a:solidFill>
                <a:latin typeface="Arial"/>
                <a:cs typeface="Arial"/>
              </a:rPr>
              <a:t>HTTP et</a:t>
            </a:r>
            <a:r>
              <a:rPr lang="fr-FR" sz="2800" b="1" spc="-40" dirty="0" smtClean="0">
                <a:solidFill>
                  <a:srgbClr val="6F8CA1"/>
                </a:solidFill>
                <a:latin typeface="Arial"/>
                <a:cs typeface="Arial"/>
              </a:rPr>
              <a:t> </a:t>
            </a:r>
            <a:r>
              <a:rPr lang="fr-FR" sz="2800" b="1" spc="5" dirty="0" smtClean="0">
                <a:solidFill>
                  <a:srgbClr val="6F8CA1"/>
                </a:solidFill>
                <a:latin typeface="Arial"/>
                <a:cs typeface="Arial"/>
              </a:rPr>
              <a:t>HTTPS</a:t>
            </a:r>
            <a:endParaRPr lang="fr-FR" sz="2800" dirty="0">
              <a:latin typeface="Arial"/>
              <a:cs typeface="Arial"/>
            </a:endParaRPr>
          </a:p>
        </p:txBody>
      </p:sp>
      <p:sp>
        <p:nvSpPr>
          <p:cNvPr id="8" name="object 21"/>
          <p:cNvSpPr/>
          <p:nvPr/>
        </p:nvSpPr>
        <p:spPr>
          <a:xfrm>
            <a:off x="304800" y="1066800"/>
            <a:ext cx="4419600" cy="5334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0" y="1219200"/>
            <a:ext cx="4648200" cy="4022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2395" marR="49530" indent="-112395">
              <a:lnSpc>
                <a:spcPct val="107300"/>
              </a:lnSpc>
              <a:spcBef>
                <a:spcPts val="90"/>
              </a:spcBef>
              <a:buChar char="•"/>
              <a:tabLst>
                <a:tab pos="113030" algn="l"/>
              </a:tabLst>
            </a:pPr>
            <a:r>
              <a:rPr lang="fr-FR" sz="2000" spc="10" dirty="0" smtClean="0">
                <a:cs typeface="Arial"/>
              </a:rPr>
              <a:t>Développé pour </a:t>
            </a:r>
            <a:r>
              <a:rPr lang="fr-FR" sz="2000" spc="0" dirty="0" smtClean="0">
                <a:cs typeface="Arial"/>
              </a:rPr>
              <a:t>publier </a:t>
            </a:r>
            <a:r>
              <a:rPr lang="fr-FR" sz="2000" spc="5" dirty="0" smtClean="0">
                <a:cs typeface="Arial"/>
              </a:rPr>
              <a:t>et  récupérer </a:t>
            </a:r>
            <a:r>
              <a:rPr lang="fr-FR" sz="2000" spc="10" dirty="0" smtClean="0">
                <a:cs typeface="Arial"/>
              </a:rPr>
              <a:t>des pages</a:t>
            </a:r>
            <a:r>
              <a:rPr lang="fr-FR" sz="2000" spc="15" dirty="0" smtClean="0">
                <a:cs typeface="Arial"/>
              </a:rPr>
              <a:t> HTML</a:t>
            </a:r>
            <a:endParaRPr lang="fr-FR" sz="2000" dirty="0" smtClean="0">
              <a:cs typeface="Arial"/>
            </a:endParaRPr>
          </a:p>
          <a:p>
            <a:pPr marL="112395" marR="107314" indent="-112395">
              <a:lnSpc>
                <a:spcPct val="107300"/>
              </a:lnSpc>
              <a:buChar char="•"/>
              <a:tabLst>
                <a:tab pos="113030" algn="l"/>
              </a:tabLst>
            </a:pPr>
            <a:r>
              <a:rPr lang="fr-FR" sz="2000" spc="0" dirty="0" smtClean="0">
                <a:cs typeface="Arial"/>
              </a:rPr>
              <a:t>Utilisé </a:t>
            </a:r>
            <a:r>
              <a:rPr lang="fr-FR" sz="2000" spc="10" dirty="0" smtClean="0">
                <a:cs typeface="Arial"/>
              </a:rPr>
              <a:t>pour </a:t>
            </a:r>
            <a:r>
              <a:rPr lang="fr-FR" sz="2000" spc="0" dirty="0" smtClean="0">
                <a:cs typeface="Arial"/>
              </a:rPr>
              <a:t>le </a:t>
            </a:r>
            <a:r>
              <a:rPr lang="fr-FR" sz="2000" spc="5" dirty="0" smtClean="0">
                <a:cs typeface="Arial"/>
              </a:rPr>
              <a:t>transfert </a:t>
            </a:r>
            <a:r>
              <a:rPr lang="fr-FR" sz="2000" spc="10" dirty="0" smtClean="0">
                <a:cs typeface="Arial"/>
              </a:rPr>
              <a:t>de  données</a:t>
            </a:r>
            <a:endParaRPr lang="fr-FR" sz="2000" dirty="0" smtClean="0">
              <a:cs typeface="Arial"/>
            </a:endParaRPr>
          </a:p>
          <a:p>
            <a:pPr marL="112395" marR="107314" indent="-112395">
              <a:lnSpc>
                <a:spcPct val="107300"/>
              </a:lnSpc>
              <a:buChar char="•"/>
              <a:tabLst>
                <a:tab pos="113030" algn="l"/>
              </a:tabLst>
            </a:pPr>
            <a:r>
              <a:rPr lang="fr-FR" sz="2000" spc="5" dirty="0" smtClean="0">
                <a:cs typeface="Arial"/>
              </a:rPr>
              <a:t>Constitue </a:t>
            </a:r>
            <a:r>
              <a:rPr lang="fr-FR" sz="2000" spc="10" dirty="0" smtClean="0">
                <a:cs typeface="Arial"/>
              </a:rPr>
              <a:t>un </a:t>
            </a:r>
            <a:r>
              <a:rPr lang="fr-FR" sz="2000" spc="5" dirty="0" smtClean="0">
                <a:cs typeface="Arial"/>
              </a:rPr>
              <a:t>protocole </a:t>
            </a:r>
            <a:r>
              <a:rPr lang="fr-FR" sz="2000" spc="10" dirty="0" smtClean="0">
                <a:cs typeface="Arial"/>
              </a:rPr>
              <a:t>de  demande/réponse</a:t>
            </a:r>
            <a:endParaRPr lang="fr-FR" sz="2000" dirty="0" smtClean="0">
              <a:cs typeface="Arial"/>
            </a:endParaRPr>
          </a:p>
          <a:p>
            <a:pPr marL="112395" indent="-112395">
              <a:lnSpc>
                <a:spcPct val="100000"/>
              </a:lnSpc>
              <a:spcBef>
                <a:spcPts val="45"/>
              </a:spcBef>
              <a:buChar char="•"/>
              <a:tabLst>
                <a:tab pos="113030" algn="l"/>
              </a:tabLst>
            </a:pPr>
            <a:r>
              <a:rPr lang="fr-FR" sz="2000" spc="0" dirty="0" smtClean="0">
                <a:cs typeface="Arial"/>
              </a:rPr>
              <a:t>Trois </a:t>
            </a:r>
            <a:r>
              <a:rPr lang="fr-FR" sz="2000" spc="5" dirty="0" smtClean="0">
                <a:cs typeface="Arial"/>
              </a:rPr>
              <a:t>types </a:t>
            </a:r>
            <a:r>
              <a:rPr lang="fr-FR" sz="2000" spc="10" dirty="0" smtClean="0">
                <a:cs typeface="Arial"/>
              </a:rPr>
              <a:t>de</a:t>
            </a:r>
            <a:r>
              <a:rPr lang="fr-FR" sz="2000" spc="40" dirty="0" smtClean="0">
                <a:cs typeface="Arial"/>
              </a:rPr>
              <a:t> </a:t>
            </a:r>
            <a:r>
              <a:rPr lang="fr-FR" sz="2000" spc="10" dirty="0" smtClean="0">
                <a:cs typeface="Arial"/>
              </a:rPr>
              <a:t>messages</a:t>
            </a:r>
            <a:endParaRPr lang="fr-FR" sz="2000" dirty="0" smtClean="0">
              <a:cs typeface="Arial"/>
            </a:endParaRPr>
          </a:p>
          <a:p>
            <a:pPr marL="112395" marR="137160">
              <a:lnSpc>
                <a:spcPct val="107300"/>
              </a:lnSpc>
              <a:spcBef>
                <a:spcPts val="15"/>
              </a:spcBef>
            </a:pPr>
            <a:r>
              <a:rPr lang="fr-FR" sz="2000" spc="10" dirty="0" smtClean="0">
                <a:cs typeface="Arial"/>
              </a:rPr>
              <a:t>courants </a:t>
            </a:r>
            <a:r>
              <a:rPr lang="fr-FR" sz="2000" spc="5" dirty="0" smtClean="0">
                <a:cs typeface="Arial"/>
              </a:rPr>
              <a:t>: </a:t>
            </a:r>
            <a:r>
              <a:rPr lang="fr-FR" sz="2000" spc="0" dirty="0" smtClean="0">
                <a:cs typeface="Arial"/>
              </a:rPr>
              <a:t>GET, </a:t>
            </a:r>
            <a:r>
              <a:rPr lang="fr-FR" sz="2000" spc="15" dirty="0" smtClean="0">
                <a:cs typeface="Arial"/>
              </a:rPr>
              <a:t>POST</a:t>
            </a:r>
            <a:r>
              <a:rPr lang="fr-FR" sz="2000" spc="-65" dirty="0" smtClean="0">
                <a:cs typeface="Arial"/>
              </a:rPr>
              <a:t> </a:t>
            </a:r>
            <a:r>
              <a:rPr lang="fr-FR" sz="2000" spc="5" dirty="0" smtClean="0">
                <a:cs typeface="Arial"/>
              </a:rPr>
              <a:t>et  </a:t>
            </a:r>
            <a:r>
              <a:rPr lang="fr-FR" sz="2000" spc="15" dirty="0" smtClean="0">
                <a:cs typeface="Arial"/>
              </a:rPr>
              <a:t>PUT</a:t>
            </a:r>
            <a:endParaRPr lang="fr-FR" sz="2000" dirty="0" smtClean="0">
              <a:cs typeface="Arial"/>
            </a:endParaRPr>
          </a:p>
          <a:p>
            <a:pPr marL="112395" marR="5080" indent="-112395">
              <a:lnSpc>
                <a:spcPct val="107300"/>
              </a:lnSpc>
              <a:buFont typeface="Arial"/>
              <a:buChar char="•"/>
              <a:tabLst>
                <a:tab pos="113030" algn="l"/>
              </a:tabLst>
            </a:pPr>
            <a:r>
              <a:rPr lang="fr-FR" sz="2000" b="1" spc="15" dirty="0" smtClean="0">
                <a:cs typeface="Arial"/>
              </a:rPr>
              <a:t>GET </a:t>
            </a:r>
            <a:r>
              <a:rPr lang="fr-FR" sz="2000" spc="10" dirty="0" smtClean="0">
                <a:cs typeface="Arial"/>
              </a:rPr>
              <a:t>est une </a:t>
            </a:r>
            <a:r>
              <a:rPr lang="fr-FR" sz="2000" spc="5" dirty="0" smtClean="0">
                <a:cs typeface="Arial"/>
              </a:rPr>
              <a:t>requête </a:t>
            </a:r>
            <a:r>
              <a:rPr lang="fr-FR" sz="2000" spc="0" dirty="0" smtClean="0">
                <a:cs typeface="Arial"/>
              </a:rPr>
              <a:t>client  </a:t>
            </a:r>
            <a:r>
              <a:rPr lang="fr-FR" sz="2000" spc="10" dirty="0" smtClean="0">
                <a:cs typeface="Arial"/>
              </a:rPr>
              <a:t>pour demander des</a:t>
            </a:r>
            <a:r>
              <a:rPr lang="fr-FR" sz="2000" spc="-15" dirty="0" smtClean="0">
                <a:cs typeface="Arial"/>
              </a:rPr>
              <a:t> </a:t>
            </a:r>
            <a:r>
              <a:rPr lang="fr-FR" sz="2000" spc="10" dirty="0" smtClean="0">
                <a:cs typeface="Arial"/>
              </a:rPr>
              <a:t>données</a:t>
            </a:r>
            <a:endParaRPr lang="fr-FR" sz="2000" dirty="0" smtClean="0">
              <a:cs typeface="Arial"/>
            </a:endParaRPr>
          </a:p>
          <a:p>
            <a:pPr marL="112395" marR="23495" indent="-112395">
              <a:lnSpc>
                <a:spcPct val="107300"/>
              </a:lnSpc>
              <a:buFont typeface="Arial"/>
              <a:buChar char="•"/>
              <a:tabLst>
                <a:tab pos="113030" algn="l"/>
              </a:tabLst>
            </a:pPr>
            <a:r>
              <a:rPr lang="fr-FR" sz="2000" b="1" spc="15" dirty="0" smtClean="0">
                <a:cs typeface="Arial"/>
              </a:rPr>
              <a:t>POST </a:t>
            </a:r>
            <a:r>
              <a:rPr lang="fr-FR" sz="2000" spc="5" dirty="0" smtClean="0">
                <a:cs typeface="Arial"/>
              </a:rPr>
              <a:t>et </a:t>
            </a:r>
            <a:r>
              <a:rPr lang="fr-FR" sz="2000" b="1" spc="15" dirty="0" smtClean="0">
                <a:cs typeface="Arial"/>
              </a:rPr>
              <a:t>PUT </a:t>
            </a:r>
            <a:r>
              <a:rPr lang="fr-FR" sz="2000" spc="5" dirty="0" smtClean="0">
                <a:cs typeface="Arial"/>
              </a:rPr>
              <a:t>servent </a:t>
            </a:r>
            <a:r>
              <a:rPr lang="fr-FR" sz="2000" spc="15" dirty="0" smtClean="0">
                <a:cs typeface="Arial"/>
              </a:rPr>
              <a:t>à  </a:t>
            </a:r>
            <a:r>
              <a:rPr lang="fr-FR" sz="2000" spc="5" dirty="0" smtClean="0">
                <a:cs typeface="Arial"/>
              </a:rPr>
              <a:t>envoyer </a:t>
            </a:r>
            <a:r>
              <a:rPr lang="fr-FR" sz="2000" spc="10" dirty="0" smtClean="0">
                <a:cs typeface="Arial"/>
              </a:rPr>
              <a:t>des messages </a:t>
            </a:r>
            <a:r>
              <a:rPr lang="fr-FR" sz="2000" spc="5" dirty="0" smtClean="0">
                <a:cs typeface="Arial"/>
              </a:rPr>
              <a:t>qui  téléchargent (</a:t>
            </a:r>
            <a:r>
              <a:rPr lang="fr-FR" sz="2000" spc="5" dirty="0" err="1" smtClean="0">
                <a:cs typeface="Arial"/>
              </a:rPr>
              <a:t>upload</a:t>
            </a:r>
            <a:r>
              <a:rPr lang="fr-FR" sz="2000" spc="5" dirty="0" smtClean="0">
                <a:cs typeface="Arial"/>
              </a:rPr>
              <a:t>) </a:t>
            </a:r>
            <a:r>
              <a:rPr lang="fr-FR" sz="2000" spc="10" dirty="0" smtClean="0">
                <a:cs typeface="Arial"/>
              </a:rPr>
              <a:t>des  données sur </a:t>
            </a:r>
            <a:r>
              <a:rPr lang="fr-FR" sz="2000" spc="0" dirty="0" smtClean="0">
                <a:cs typeface="Arial"/>
              </a:rPr>
              <a:t>le </a:t>
            </a:r>
            <a:r>
              <a:rPr lang="fr-FR" sz="2000" spc="10" dirty="0" smtClean="0">
                <a:cs typeface="Arial"/>
              </a:rPr>
              <a:t>serveur</a:t>
            </a:r>
            <a:r>
              <a:rPr lang="fr-FR" sz="2000" spc="-10" dirty="0" smtClean="0">
                <a:cs typeface="Arial"/>
              </a:rPr>
              <a:t> </a:t>
            </a:r>
            <a:r>
              <a:rPr lang="fr-FR" sz="2000" spc="15" dirty="0" smtClean="0">
                <a:cs typeface="Arial"/>
              </a:rPr>
              <a:t>Web</a:t>
            </a:r>
            <a:endParaRPr lang="fr-FR" sz="2000" dirty="0"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28600" y="228600"/>
            <a:ext cx="5295039" cy="2314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910"/>
              </a:lnSpc>
              <a:spcBef>
                <a:spcPts val="90"/>
              </a:spcBef>
            </a:pPr>
            <a:r>
              <a:rPr lang="fr-FR" b="1" spc="-10" dirty="0" smtClean="0">
                <a:solidFill>
                  <a:srgbClr val="6F8CA1"/>
                </a:solidFill>
                <a:latin typeface="Arial"/>
                <a:cs typeface="Arial"/>
              </a:rPr>
              <a:t>Les protocoles de couche application courants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152400" y="609600"/>
            <a:ext cx="3501408" cy="2702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1030"/>
              </a:lnSpc>
            </a:pPr>
            <a:r>
              <a:rPr lang="fr-FR" sz="2800" b="1" spc="5" dirty="0" smtClean="0">
                <a:solidFill>
                  <a:srgbClr val="6F8CA1"/>
                </a:solidFill>
                <a:latin typeface="Arial"/>
                <a:cs typeface="Arial"/>
              </a:rPr>
              <a:t>SMTP, </a:t>
            </a:r>
            <a:r>
              <a:rPr lang="fr-FR" sz="2800" b="1" spc="10" dirty="0" smtClean="0">
                <a:solidFill>
                  <a:srgbClr val="6F8CA1"/>
                </a:solidFill>
                <a:latin typeface="Arial"/>
                <a:cs typeface="Arial"/>
              </a:rPr>
              <a:t>POP </a:t>
            </a:r>
            <a:r>
              <a:rPr lang="fr-FR" sz="2800" b="1" spc="5" dirty="0" smtClean="0">
                <a:solidFill>
                  <a:srgbClr val="6F8CA1"/>
                </a:solidFill>
                <a:latin typeface="Arial"/>
                <a:cs typeface="Arial"/>
              </a:rPr>
              <a:t>et</a:t>
            </a:r>
            <a:r>
              <a:rPr lang="fr-FR" sz="2800" b="1" spc="-80" dirty="0" smtClean="0">
                <a:solidFill>
                  <a:srgbClr val="6F8CA1"/>
                </a:solidFill>
                <a:latin typeface="Arial"/>
                <a:cs typeface="Arial"/>
              </a:rPr>
              <a:t> </a:t>
            </a:r>
            <a:r>
              <a:rPr lang="fr-FR" sz="2800" b="1" spc="0" dirty="0" smtClean="0">
                <a:solidFill>
                  <a:srgbClr val="6F8CA1"/>
                </a:solidFill>
                <a:latin typeface="Arial"/>
                <a:cs typeface="Arial"/>
              </a:rPr>
              <a:t>IMAP</a:t>
            </a:r>
            <a:endParaRPr lang="fr-FR" sz="2800" dirty="0">
              <a:latin typeface="Arial"/>
              <a:cs typeface="Arial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562600" y="685800"/>
            <a:ext cx="40386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785" marR="64769" indent="-57785">
              <a:spcBef>
                <a:spcPts val="155"/>
              </a:spcBef>
              <a:buChar char="•"/>
              <a:tabLst>
                <a:tab pos="58419" algn="l"/>
              </a:tabLst>
            </a:pPr>
            <a:r>
              <a:rPr lang="fr-FR" sz="2000" spc="0" dirty="0" smtClean="0">
                <a:cs typeface="Arial"/>
              </a:rPr>
              <a:t>Utilisent </a:t>
            </a:r>
            <a:r>
              <a:rPr lang="fr-FR" sz="2000" spc="5" dirty="0" smtClean="0">
                <a:cs typeface="Arial"/>
              </a:rPr>
              <a:t>généralement </a:t>
            </a:r>
            <a:r>
              <a:rPr lang="fr-FR" sz="2000" spc="10" dirty="0" smtClean="0">
                <a:cs typeface="Arial"/>
              </a:rPr>
              <a:t>une  </a:t>
            </a:r>
            <a:r>
              <a:rPr lang="fr-FR" sz="2000" spc="5" dirty="0" smtClean="0">
                <a:cs typeface="Arial"/>
              </a:rPr>
              <a:t>application appelée agent </a:t>
            </a:r>
            <a:r>
              <a:rPr lang="fr-FR" sz="2000" spc="10" dirty="0" smtClean="0">
                <a:cs typeface="Arial"/>
              </a:rPr>
              <a:t>de  </a:t>
            </a:r>
            <a:r>
              <a:rPr lang="fr-FR" sz="2000" spc="5" dirty="0" smtClean="0">
                <a:cs typeface="Arial"/>
              </a:rPr>
              <a:t>messagerie </a:t>
            </a:r>
            <a:r>
              <a:rPr lang="fr-FR" sz="2000" spc="0" dirty="0" smtClean="0">
                <a:cs typeface="Arial"/>
              </a:rPr>
              <a:t>(client </a:t>
            </a:r>
            <a:r>
              <a:rPr lang="fr-FR" sz="2000" spc="10" dirty="0" smtClean="0">
                <a:cs typeface="Arial"/>
              </a:rPr>
              <a:t>de  </a:t>
            </a:r>
            <a:r>
              <a:rPr lang="fr-FR" sz="2000" spc="5" dirty="0" smtClean="0">
                <a:cs typeface="Arial"/>
              </a:rPr>
              <a:t>messagerie)</a:t>
            </a:r>
            <a:endParaRPr lang="fr-FR" sz="2000" dirty="0" smtClean="0">
              <a:cs typeface="Arial"/>
            </a:endParaRPr>
          </a:p>
          <a:p>
            <a:pPr marL="57785" marR="285115" indent="-57785">
              <a:spcBef>
                <a:spcPts val="15"/>
              </a:spcBef>
              <a:buChar char="•"/>
              <a:tabLst>
                <a:tab pos="58419" algn="l"/>
              </a:tabLst>
            </a:pPr>
            <a:r>
              <a:rPr lang="fr-FR" sz="2000" spc="10" dirty="0" smtClean="0">
                <a:cs typeface="Arial"/>
              </a:rPr>
              <a:t>Permettent </a:t>
            </a:r>
            <a:r>
              <a:rPr lang="fr-FR" sz="2000" spc="5" dirty="0" smtClean="0">
                <a:cs typeface="Arial"/>
              </a:rPr>
              <a:t>l'envoi</a:t>
            </a:r>
            <a:r>
              <a:rPr lang="fr-FR" sz="2000" spc="-35" dirty="0" smtClean="0">
                <a:cs typeface="Arial"/>
              </a:rPr>
              <a:t> </a:t>
            </a:r>
            <a:r>
              <a:rPr lang="fr-FR" sz="2000" spc="10" dirty="0" smtClean="0">
                <a:cs typeface="Arial"/>
              </a:rPr>
              <a:t>des  messages</a:t>
            </a:r>
            <a:endParaRPr lang="fr-FR" sz="2000" dirty="0" smtClean="0">
              <a:cs typeface="Arial"/>
            </a:endParaRPr>
          </a:p>
          <a:p>
            <a:pPr marL="57785" indent="-57785">
              <a:buChar char="•"/>
              <a:tabLst>
                <a:tab pos="58419" algn="l"/>
              </a:tabLst>
            </a:pPr>
            <a:r>
              <a:rPr lang="fr-FR" sz="2000" spc="5" dirty="0" smtClean="0">
                <a:cs typeface="Arial"/>
              </a:rPr>
              <a:t>Placent </a:t>
            </a:r>
            <a:r>
              <a:rPr lang="fr-FR" sz="2000" spc="0" dirty="0" smtClean="0">
                <a:cs typeface="Arial"/>
              </a:rPr>
              <a:t>les </a:t>
            </a:r>
            <a:r>
              <a:rPr lang="fr-FR" sz="2000" spc="10" dirty="0" smtClean="0">
                <a:cs typeface="Arial"/>
              </a:rPr>
              <a:t>messages</a:t>
            </a:r>
            <a:r>
              <a:rPr lang="fr-FR" sz="2000" spc="35" dirty="0" smtClean="0">
                <a:cs typeface="Arial"/>
              </a:rPr>
              <a:t> </a:t>
            </a:r>
            <a:r>
              <a:rPr lang="fr-FR" sz="2000" spc="10" dirty="0" smtClean="0">
                <a:cs typeface="Arial"/>
              </a:rPr>
              <a:t>reçus</a:t>
            </a:r>
            <a:endParaRPr lang="fr-FR" sz="2000" dirty="0" smtClean="0">
              <a:cs typeface="Arial"/>
            </a:endParaRPr>
          </a:p>
          <a:p>
            <a:pPr marL="57785" marR="124460">
              <a:spcBef>
                <a:spcPts val="25"/>
              </a:spcBef>
            </a:pPr>
            <a:r>
              <a:rPr lang="fr-FR" sz="2000" spc="10" dirty="0" smtClean="0">
                <a:cs typeface="Arial"/>
              </a:rPr>
              <a:t>dans </a:t>
            </a:r>
            <a:r>
              <a:rPr lang="fr-FR" sz="2000" spc="0" dirty="0" smtClean="0">
                <a:cs typeface="Arial"/>
              </a:rPr>
              <a:t>la </a:t>
            </a:r>
            <a:r>
              <a:rPr lang="fr-FR" sz="2000" spc="5" dirty="0" smtClean="0">
                <a:cs typeface="Arial"/>
              </a:rPr>
              <a:t>boîte </a:t>
            </a:r>
            <a:r>
              <a:rPr lang="fr-FR" sz="2000" spc="10" dirty="0" smtClean="0">
                <a:cs typeface="Arial"/>
              </a:rPr>
              <a:t>aux </a:t>
            </a:r>
            <a:r>
              <a:rPr lang="fr-FR" sz="2000" spc="5" dirty="0" smtClean="0">
                <a:cs typeface="Arial"/>
              </a:rPr>
              <a:t>lettres </a:t>
            </a:r>
            <a:r>
              <a:rPr lang="fr-FR" sz="2000" spc="10" dirty="0" smtClean="0">
                <a:cs typeface="Arial"/>
              </a:rPr>
              <a:t>du  </a:t>
            </a:r>
            <a:r>
              <a:rPr lang="fr-FR" sz="2000" spc="0" dirty="0" smtClean="0">
                <a:cs typeface="Arial"/>
              </a:rPr>
              <a:t>client</a:t>
            </a:r>
            <a:endParaRPr lang="fr-FR" sz="2000" dirty="0" smtClean="0">
              <a:cs typeface="Arial"/>
            </a:endParaRPr>
          </a:p>
          <a:p>
            <a:pPr marL="57785" marR="24765" indent="-57785">
              <a:spcBef>
                <a:spcPts val="5"/>
              </a:spcBef>
              <a:buChar char="•"/>
              <a:tabLst>
                <a:tab pos="58419" algn="l"/>
              </a:tabLst>
            </a:pPr>
            <a:r>
              <a:rPr lang="fr-FR" sz="2000" spc="25" dirty="0" smtClean="0">
                <a:cs typeface="Arial"/>
              </a:rPr>
              <a:t>SMTP </a:t>
            </a:r>
            <a:r>
              <a:rPr lang="fr-FR" sz="2000" spc="15" dirty="0" smtClean="0">
                <a:cs typeface="Arial"/>
              </a:rPr>
              <a:t>– </a:t>
            </a:r>
            <a:r>
              <a:rPr lang="fr-FR" sz="2000" spc="10" dirty="0" smtClean="0">
                <a:cs typeface="Arial"/>
              </a:rPr>
              <a:t>Envoi </a:t>
            </a:r>
            <a:r>
              <a:rPr lang="fr-FR" sz="2000" spc="5" dirty="0" smtClean="0">
                <a:cs typeface="Arial"/>
              </a:rPr>
              <a:t>d'un e-mail  depuis </a:t>
            </a:r>
            <a:r>
              <a:rPr lang="fr-FR" sz="2000" spc="10" dirty="0" smtClean="0">
                <a:cs typeface="Arial"/>
              </a:rPr>
              <a:t>un </a:t>
            </a:r>
            <a:r>
              <a:rPr lang="fr-FR" sz="2000" spc="0" dirty="0" smtClean="0">
                <a:cs typeface="Arial"/>
              </a:rPr>
              <a:t>client </a:t>
            </a:r>
            <a:r>
              <a:rPr lang="fr-FR" sz="2000" spc="10" dirty="0" smtClean="0">
                <a:cs typeface="Arial"/>
              </a:rPr>
              <a:t>ou un</a:t>
            </a:r>
            <a:r>
              <a:rPr lang="fr-FR" sz="2000" spc="25" dirty="0" smtClean="0">
                <a:cs typeface="Arial"/>
              </a:rPr>
              <a:t> </a:t>
            </a:r>
            <a:r>
              <a:rPr lang="fr-FR" sz="2000" spc="10" dirty="0" smtClean="0">
                <a:cs typeface="Arial"/>
              </a:rPr>
              <a:t>serveur</a:t>
            </a:r>
            <a:endParaRPr lang="fr-FR" sz="2000" dirty="0" smtClean="0">
              <a:cs typeface="Arial"/>
            </a:endParaRPr>
          </a:p>
          <a:p>
            <a:pPr marL="57785" indent="-57785">
              <a:buChar char="•"/>
              <a:tabLst>
                <a:tab pos="58419" algn="l"/>
              </a:tabLst>
            </a:pPr>
            <a:r>
              <a:rPr lang="fr-FR" sz="2000" spc="25" dirty="0" smtClean="0">
                <a:cs typeface="Arial"/>
              </a:rPr>
              <a:t>POP </a:t>
            </a:r>
            <a:r>
              <a:rPr lang="fr-FR" sz="2000" spc="15" dirty="0" smtClean="0">
                <a:cs typeface="Arial"/>
              </a:rPr>
              <a:t>– </a:t>
            </a:r>
            <a:r>
              <a:rPr lang="fr-FR" sz="2000" spc="5" dirty="0" smtClean="0">
                <a:cs typeface="Arial"/>
              </a:rPr>
              <a:t>Réception </a:t>
            </a:r>
            <a:r>
              <a:rPr lang="fr-FR" sz="2000" spc="10" dirty="0" smtClean="0">
                <a:cs typeface="Arial"/>
              </a:rPr>
              <a:t>des</a:t>
            </a:r>
            <a:r>
              <a:rPr lang="fr-FR" sz="2000" spc="-5" dirty="0" smtClean="0">
                <a:cs typeface="Arial"/>
              </a:rPr>
              <a:t> </a:t>
            </a:r>
            <a:r>
              <a:rPr lang="fr-FR" sz="2000" spc="0" dirty="0" smtClean="0">
                <a:cs typeface="Arial"/>
              </a:rPr>
              <a:t>e-mails</a:t>
            </a:r>
            <a:endParaRPr lang="fr-FR" sz="2000" dirty="0" smtClean="0">
              <a:cs typeface="Arial"/>
            </a:endParaRPr>
          </a:p>
          <a:p>
            <a:pPr marL="57785" marR="323850">
              <a:spcBef>
                <a:spcPts val="25"/>
              </a:spcBef>
            </a:pPr>
            <a:r>
              <a:rPr lang="fr-FR" sz="2000" spc="5" dirty="0" smtClean="0">
                <a:cs typeface="Arial"/>
              </a:rPr>
              <a:t>depuis </a:t>
            </a:r>
            <a:r>
              <a:rPr lang="fr-FR" sz="2000" spc="10" dirty="0" smtClean="0">
                <a:cs typeface="Arial"/>
              </a:rPr>
              <a:t>un serveur de  </a:t>
            </a:r>
            <a:r>
              <a:rPr lang="fr-FR" sz="2000" spc="5" dirty="0" smtClean="0">
                <a:cs typeface="Arial"/>
              </a:rPr>
              <a:t>messagerie</a:t>
            </a:r>
            <a:endParaRPr lang="fr-FR" sz="2000" dirty="0" smtClean="0">
              <a:cs typeface="Arial"/>
            </a:endParaRPr>
          </a:p>
          <a:p>
            <a:pPr marL="57785" marR="179070" indent="-57785">
              <a:spcBef>
                <a:spcPts val="5"/>
              </a:spcBef>
              <a:buChar char="•"/>
              <a:tabLst>
                <a:tab pos="58419" algn="l"/>
              </a:tabLst>
            </a:pPr>
            <a:r>
              <a:rPr lang="fr-FR" sz="2000" spc="15" dirty="0" smtClean="0">
                <a:cs typeface="Arial"/>
              </a:rPr>
              <a:t>IMAP – </a:t>
            </a:r>
            <a:r>
              <a:rPr lang="fr-FR" sz="2000" spc="5" dirty="0" smtClean="0">
                <a:cs typeface="Arial"/>
              </a:rPr>
              <a:t>Internet </a:t>
            </a:r>
            <a:r>
              <a:rPr lang="fr-FR" sz="2000" spc="10" dirty="0" smtClean="0">
                <a:cs typeface="Arial"/>
              </a:rPr>
              <a:t>Message  Access</a:t>
            </a:r>
            <a:r>
              <a:rPr lang="fr-FR" sz="2000" spc="-20" dirty="0" smtClean="0">
                <a:cs typeface="Arial"/>
              </a:rPr>
              <a:t> </a:t>
            </a:r>
            <a:r>
              <a:rPr lang="fr-FR" sz="2000" spc="5" dirty="0" smtClean="0">
                <a:cs typeface="Arial"/>
              </a:rPr>
              <a:t>Protocol</a:t>
            </a:r>
            <a:endParaRPr lang="fr-FR" sz="2000" dirty="0" smtClean="0">
              <a:cs typeface="Arial"/>
            </a:endParaRPr>
          </a:p>
          <a:p>
            <a:pPr marL="57785" indent="-57785">
              <a:buChar char="•"/>
              <a:tabLst>
                <a:tab pos="58419" algn="l"/>
              </a:tabLst>
            </a:pPr>
            <a:r>
              <a:rPr lang="fr-FR" sz="2000" spc="10" dirty="0" smtClean="0">
                <a:cs typeface="Arial"/>
              </a:rPr>
              <a:t>Le </a:t>
            </a:r>
            <a:r>
              <a:rPr lang="fr-FR" sz="2000" spc="0" dirty="0" smtClean="0">
                <a:cs typeface="Arial"/>
              </a:rPr>
              <a:t>client </a:t>
            </a:r>
            <a:r>
              <a:rPr lang="fr-FR" sz="2000" spc="10" dirty="0" smtClean="0">
                <a:cs typeface="Arial"/>
              </a:rPr>
              <a:t>de </a:t>
            </a:r>
            <a:r>
              <a:rPr lang="fr-FR" sz="2000" spc="5" dirty="0" smtClean="0">
                <a:cs typeface="Arial"/>
              </a:rPr>
              <a:t>messagerie</a:t>
            </a:r>
            <a:r>
              <a:rPr lang="fr-FR" sz="2000" spc="65" dirty="0" smtClean="0">
                <a:cs typeface="Arial"/>
              </a:rPr>
              <a:t> </a:t>
            </a:r>
            <a:r>
              <a:rPr lang="fr-FR" sz="2000" spc="5" dirty="0" smtClean="0">
                <a:cs typeface="Arial"/>
              </a:rPr>
              <a:t>fournit</a:t>
            </a:r>
            <a:endParaRPr lang="fr-FR" sz="2000" dirty="0" smtClean="0">
              <a:cs typeface="Arial"/>
            </a:endParaRPr>
          </a:p>
          <a:p>
            <a:pPr marL="57785" marR="104139" algn="just">
              <a:spcBef>
                <a:spcPts val="5"/>
              </a:spcBef>
            </a:pPr>
            <a:r>
              <a:rPr lang="fr-FR" sz="2000" spc="0" dirty="0" smtClean="0">
                <a:cs typeface="Arial"/>
              </a:rPr>
              <a:t>les </a:t>
            </a:r>
            <a:r>
              <a:rPr lang="fr-FR" sz="2000" spc="5" dirty="0" smtClean="0">
                <a:cs typeface="Arial"/>
              </a:rPr>
              <a:t>fonctionnalités </a:t>
            </a:r>
            <a:r>
              <a:rPr lang="fr-FR" sz="2000" spc="10" dirty="0" smtClean="0">
                <a:cs typeface="Arial"/>
              </a:rPr>
              <a:t>des deux  </a:t>
            </a:r>
            <a:r>
              <a:rPr lang="fr-FR" sz="2000" spc="5" dirty="0" smtClean="0">
                <a:cs typeface="Arial"/>
              </a:rPr>
              <a:t>protocoles </a:t>
            </a:r>
            <a:r>
              <a:rPr lang="fr-FR" sz="2000" spc="10" dirty="0" smtClean="0">
                <a:cs typeface="Arial"/>
              </a:rPr>
              <a:t>dans une </a:t>
            </a:r>
            <a:r>
              <a:rPr lang="fr-FR" sz="2000" spc="15" dirty="0" smtClean="0">
                <a:cs typeface="Arial"/>
              </a:rPr>
              <a:t>même  </a:t>
            </a:r>
            <a:r>
              <a:rPr lang="fr-FR" sz="2000" spc="0" dirty="0" smtClean="0">
                <a:cs typeface="Arial"/>
              </a:rPr>
              <a:t>application.</a:t>
            </a:r>
            <a:endParaRPr lang="fr-FR" sz="2000" dirty="0">
              <a:cs typeface="Arial"/>
            </a:endParaRPr>
          </a:p>
        </p:txBody>
      </p:sp>
      <p:sp>
        <p:nvSpPr>
          <p:cNvPr id="7" name="object 32"/>
          <p:cNvSpPr/>
          <p:nvPr/>
        </p:nvSpPr>
        <p:spPr>
          <a:xfrm>
            <a:off x="152400" y="1371600"/>
            <a:ext cx="4724400" cy="4114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28600" y="228600"/>
            <a:ext cx="5295039" cy="2314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910"/>
              </a:lnSpc>
              <a:spcBef>
                <a:spcPts val="90"/>
              </a:spcBef>
            </a:pPr>
            <a:r>
              <a:rPr lang="fr-FR" b="1" spc="-10" dirty="0" smtClean="0">
                <a:solidFill>
                  <a:srgbClr val="6F8CA1"/>
                </a:solidFill>
                <a:latin typeface="Arial"/>
                <a:cs typeface="Arial"/>
              </a:rPr>
              <a:t>Les protocoles de couche application courants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152400" y="609600"/>
            <a:ext cx="3501408" cy="2702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1030"/>
              </a:lnSpc>
            </a:pPr>
            <a:r>
              <a:rPr lang="fr-FR" sz="2800" b="1" spc="5" dirty="0" smtClean="0">
                <a:solidFill>
                  <a:srgbClr val="6F8CA1"/>
                </a:solidFill>
                <a:latin typeface="Arial"/>
                <a:cs typeface="Arial"/>
              </a:rPr>
              <a:t>SMTP, </a:t>
            </a:r>
            <a:r>
              <a:rPr lang="fr-FR" sz="2800" b="1" spc="10" dirty="0" smtClean="0">
                <a:solidFill>
                  <a:srgbClr val="6F8CA1"/>
                </a:solidFill>
                <a:latin typeface="Arial"/>
                <a:cs typeface="Arial"/>
              </a:rPr>
              <a:t>POP </a:t>
            </a:r>
            <a:r>
              <a:rPr lang="fr-FR" sz="2800" b="1" spc="5" dirty="0" smtClean="0">
                <a:solidFill>
                  <a:srgbClr val="6F8CA1"/>
                </a:solidFill>
                <a:latin typeface="Arial"/>
                <a:cs typeface="Arial"/>
              </a:rPr>
              <a:t>et</a:t>
            </a:r>
            <a:r>
              <a:rPr lang="fr-FR" sz="2800" b="1" spc="-80" dirty="0" smtClean="0">
                <a:solidFill>
                  <a:srgbClr val="6F8CA1"/>
                </a:solidFill>
                <a:latin typeface="Arial"/>
                <a:cs typeface="Arial"/>
              </a:rPr>
              <a:t> </a:t>
            </a:r>
            <a:r>
              <a:rPr lang="fr-FR" sz="2800" b="1" spc="0" dirty="0" smtClean="0">
                <a:solidFill>
                  <a:srgbClr val="6F8CA1"/>
                </a:solidFill>
                <a:latin typeface="Arial"/>
                <a:cs typeface="Arial"/>
              </a:rPr>
              <a:t>IMAP</a:t>
            </a:r>
            <a:endParaRPr lang="fr-FR" sz="2800" dirty="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38200" y="1371600"/>
            <a:ext cx="8610600" cy="5105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28600" y="228600"/>
            <a:ext cx="5295039" cy="2314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910"/>
              </a:lnSpc>
              <a:spcBef>
                <a:spcPts val="90"/>
              </a:spcBef>
            </a:pPr>
            <a:r>
              <a:rPr lang="fr-FR" b="1" spc="-10" dirty="0" smtClean="0">
                <a:solidFill>
                  <a:srgbClr val="6F8CA1"/>
                </a:solidFill>
                <a:latin typeface="Arial"/>
                <a:cs typeface="Arial"/>
              </a:rPr>
              <a:t>Les protocoles de couche application courants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152400" y="609600"/>
            <a:ext cx="4675382" cy="2702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1030"/>
              </a:lnSpc>
            </a:pPr>
            <a:r>
              <a:rPr lang="fr-FR" sz="2800" b="1" spc="5" dirty="0" smtClean="0">
                <a:solidFill>
                  <a:srgbClr val="6F8CA1"/>
                </a:solidFill>
                <a:latin typeface="Arial"/>
                <a:cs typeface="Arial"/>
              </a:rPr>
              <a:t>SMTP, </a:t>
            </a:r>
            <a:r>
              <a:rPr lang="fr-FR" sz="2800" b="1" spc="10" dirty="0" smtClean="0">
                <a:solidFill>
                  <a:srgbClr val="6F8CA1"/>
                </a:solidFill>
                <a:latin typeface="Arial"/>
                <a:cs typeface="Arial"/>
              </a:rPr>
              <a:t>POP </a:t>
            </a:r>
            <a:r>
              <a:rPr lang="fr-FR" sz="2800" b="1" spc="5" dirty="0" smtClean="0">
                <a:solidFill>
                  <a:srgbClr val="6F8CA1"/>
                </a:solidFill>
                <a:latin typeface="Arial"/>
                <a:cs typeface="Arial"/>
              </a:rPr>
              <a:t>et </a:t>
            </a:r>
            <a:r>
              <a:rPr lang="fr-FR" sz="2800" b="1" spc="0" dirty="0" smtClean="0">
                <a:solidFill>
                  <a:srgbClr val="6F8CA1"/>
                </a:solidFill>
                <a:latin typeface="Arial"/>
                <a:cs typeface="Arial"/>
              </a:rPr>
              <a:t>IMAP</a:t>
            </a:r>
            <a:r>
              <a:rPr lang="fr-FR" sz="2800" b="1" spc="-80" dirty="0" smtClean="0">
                <a:solidFill>
                  <a:srgbClr val="6F8CA1"/>
                </a:solidFill>
                <a:latin typeface="Arial"/>
                <a:cs typeface="Arial"/>
              </a:rPr>
              <a:t> </a:t>
            </a:r>
            <a:r>
              <a:rPr lang="fr-FR" sz="2800" b="1" spc="0" dirty="0" smtClean="0">
                <a:solidFill>
                  <a:srgbClr val="6F8CA1"/>
                </a:solidFill>
                <a:latin typeface="Arial"/>
                <a:cs typeface="Arial"/>
              </a:rPr>
              <a:t>(suite)</a:t>
            </a:r>
            <a:endParaRPr lang="fr-FR" sz="2800" dirty="0">
              <a:latin typeface="Arial"/>
              <a:cs typeface="Arial"/>
            </a:endParaRPr>
          </a:p>
        </p:txBody>
      </p:sp>
      <p:sp>
        <p:nvSpPr>
          <p:cNvPr id="7" name="object 17"/>
          <p:cNvSpPr/>
          <p:nvPr/>
        </p:nvSpPr>
        <p:spPr>
          <a:xfrm>
            <a:off x="304800" y="1066800"/>
            <a:ext cx="4343400" cy="5638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724400" y="1295400"/>
            <a:ext cx="5029200" cy="5170646"/>
          </a:xfrm>
          <a:prstGeom prst="rect">
            <a:avLst/>
          </a:prstGeom>
        </p:spPr>
        <p:txBody>
          <a:bodyPr>
            <a:spAutoFit/>
          </a:bodyPr>
          <a:lstStyle/>
          <a:p>
            <a:pPr marR="224154">
              <a:lnSpc>
                <a:spcPct val="150000"/>
              </a:lnSpc>
              <a:spcBef>
                <a:spcPts val="190"/>
              </a:spcBef>
            </a:pPr>
            <a:r>
              <a:rPr lang="fr-FR" sz="2000" dirty="0" smtClean="0">
                <a:latin typeface="+mj-lt"/>
                <a:cs typeface="Arial"/>
              </a:rPr>
              <a:t>SMTP (Simple</a:t>
            </a:r>
            <a:r>
              <a:rPr lang="fr-FR" sz="2000" spc="-80" dirty="0" smtClean="0">
                <a:latin typeface="+mj-lt"/>
                <a:cs typeface="Arial"/>
              </a:rPr>
              <a:t> </a:t>
            </a:r>
            <a:r>
              <a:rPr lang="fr-FR" sz="2000" spc="-5" dirty="0" smtClean="0">
                <a:latin typeface="+mj-lt"/>
                <a:cs typeface="Arial"/>
              </a:rPr>
              <a:t>Mail  Transfer</a:t>
            </a:r>
            <a:r>
              <a:rPr lang="fr-FR" sz="2000" spc="-35" dirty="0" smtClean="0">
                <a:latin typeface="+mj-lt"/>
                <a:cs typeface="Arial"/>
              </a:rPr>
              <a:t> </a:t>
            </a:r>
            <a:r>
              <a:rPr lang="fr-FR" sz="2000" dirty="0" smtClean="0">
                <a:latin typeface="+mj-lt"/>
                <a:cs typeface="Arial"/>
              </a:rPr>
              <a:t>Protocol)</a:t>
            </a:r>
          </a:p>
          <a:p>
            <a:pPr marL="112395" indent="-112395">
              <a:lnSpc>
                <a:spcPct val="150000"/>
              </a:lnSpc>
              <a:buFont typeface="Wingdings"/>
              <a:buChar char=""/>
              <a:tabLst>
                <a:tab pos="113030" algn="l"/>
              </a:tabLst>
            </a:pPr>
            <a:r>
              <a:rPr lang="fr-FR" sz="2000" spc="-5" dirty="0" smtClean="0">
                <a:latin typeface="+mj-lt"/>
                <a:cs typeface="Arial"/>
              </a:rPr>
              <a:t>Transfert </a:t>
            </a:r>
            <a:r>
              <a:rPr lang="fr-FR" sz="2000" spc="0" dirty="0" smtClean="0">
                <a:latin typeface="+mj-lt"/>
                <a:cs typeface="Arial"/>
              </a:rPr>
              <a:t>du</a:t>
            </a:r>
            <a:r>
              <a:rPr lang="fr-FR" sz="2000" spc="-50" dirty="0" smtClean="0">
                <a:latin typeface="+mj-lt"/>
                <a:cs typeface="Arial"/>
              </a:rPr>
              <a:t> </a:t>
            </a:r>
            <a:r>
              <a:rPr lang="fr-FR" sz="2000" dirty="0" smtClean="0">
                <a:latin typeface="+mj-lt"/>
                <a:cs typeface="Arial"/>
              </a:rPr>
              <a:t>courrier de manière fiable et efficace </a:t>
            </a:r>
          </a:p>
          <a:p>
            <a:pPr marL="112395" marR="5080" indent="-112395">
              <a:lnSpc>
                <a:spcPct val="150000"/>
              </a:lnSpc>
              <a:spcBef>
                <a:spcPts val="45"/>
              </a:spcBef>
              <a:buFont typeface="Wingdings"/>
              <a:buChar char=""/>
              <a:tabLst>
                <a:tab pos="113030" algn="l"/>
              </a:tabLst>
            </a:pPr>
            <a:r>
              <a:rPr lang="fr-FR" sz="2000" spc="0" dirty="0" smtClean="0">
                <a:latin typeface="+mj-lt"/>
                <a:cs typeface="Arial"/>
              </a:rPr>
              <a:t>Le message </a:t>
            </a:r>
            <a:r>
              <a:rPr lang="fr-FR" sz="2000" dirty="0" smtClean="0">
                <a:latin typeface="+mj-lt"/>
                <a:cs typeface="Arial"/>
              </a:rPr>
              <a:t>doit</a:t>
            </a:r>
            <a:r>
              <a:rPr lang="fr-FR" sz="2000" spc="-105" dirty="0" smtClean="0">
                <a:latin typeface="+mj-lt"/>
                <a:cs typeface="Arial"/>
              </a:rPr>
              <a:t> </a:t>
            </a:r>
            <a:r>
              <a:rPr lang="fr-FR" sz="2000" dirty="0" smtClean="0">
                <a:latin typeface="+mj-lt"/>
                <a:cs typeface="Arial"/>
              </a:rPr>
              <a:t>avoir  </a:t>
            </a:r>
            <a:r>
              <a:rPr lang="fr-FR" sz="2000" spc="-5" dirty="0" smtClean="0">
                <a:latin typeface="+mj-lt"/>
                <a:cs typeface="Arial"/>
              </a:rPr>
              <a:t>le </a:t>
            </a:r>
            <a:r>
              <a:rPr lang="fr-FR" sz="2000" dirty="0" smtClean="0">
                <a:latin typeface="+mj-lt"/>
                <a:cs typeface="Arial"/>
              </a:rPr>
              <a:t>format</a:t>
            </a:r>
            <a:r>
              <a:rPr lang="fr-FR" sz="2000" spc="-45" dirty="0" smtClean="0">
                <a:latin typeface="+mj-lt"/>
                <a:cs typeface="Arial"/>
              </a:rPr>
              <a:t> </a:t>
            </a:r>
            <a:r>
              <a:rPr lang="fr-FR" sz="2000" dirty="0" smtClean="0">
                <a:latin typeface="+mj-lt"/>
                <a:cs typeface="Arial"/>
              </a:rPr>
              <a:t>correct</a:t>
            </a:r>
          </a:p>
          <a:p>
            <a:pPr marL="112395" indent="-112395">
              <a:lnSpc>
                <a:spcPct val="150000"/>
              </a:lnSpc>
              <a:buFont typeface="Wingdings"/>
              <a:buChar char=""/>
              <a:tabLst>
                <a:tab pos="113030" algn="l"/>
              </a:tabLst>
            </a:pPr>
            <a:r>
              <a:rPr lang="fr-FR" sz="2000" spc="0" dirty="0" smtClean="0">
                <a:latin typeface="+mj-lt"/>
                <a:cs typeface="Arial"/>
              </a:rPr>
              <a:t>Les </a:t>
            </a:r>
            <a:r>
              <a:rPr lang="fr-FR" sz="2000" dirty="0" smtClean="0">
                <a:latin typeface="+mj-lt"/>
                <a:cs typeface="Arial"/>
              </a:rPr>
              <a:t>processus</a:t>
            </a:r>
            <a:r>
              <a:rPr lang="fr-FR" sz="2000" spc="-90" dirty="0" smtClean="0">
                <a:latin typeface="+mj-lt"/>
                <a:cs typeface="Arial"/>
              </a:rPr>
              <a:t> </a:t>
            </a:r>
            <a:r>
              <a:rPr lang="fr-FR" sz="2000" dirty="0" smtClean="0">
                <a:latin typeface="+mj-lt"/>
                <a:cs typeface="Arial"/>
              </a:rPr>
              <a:t>SMTP</a:t>
            </a:r>
          </a:p>
          <a:p>
            <a:pPr marL="112395" marR="26034">
              <a:lnSpc>
                <a:spcPct val="150000"/>
              </a:lnSpc>
              <a:spcBef>
                <a:spcPts val="45"/>
              </a:spcBef>
            </a:pPr>
            <a:r>
              <a:rPr lang="fr-FR" sz="2000" dirty="0" smtClean="0">
                <a:latin typeface="+mj-lt"/>
                <a:cs typeface="Arial"/>
              </a:rPr>
              <a:t>doivent être</a:t>
            </a:r>
            <a:r>
              <a:rPr lang="fr-FR" sz="2000" spc="-45" dirty="0" smtClean="0">
                <a:latin typeface="+mj-lt"/>
                <a:cs typeface="Arial"/>
              </a:rPr>
              <a:t> </a:t>
            </a:r>
            <a:r>
              <a:rPr lang="fr-FR" sz="2000" dirty="0" smtClean="0">
                <a:latin typeface="+mj-lt"/>
                <a:cs typeface="Arial"/>
              </a:rPr>
              <a:t>exécutés  </a:t>
            </a:r>
            <a:r>
              <a:rPr lang="fr-FR" sz="2000" spc="0" dirty="0" smtClean="0">
                <a:latin typeface="+mj-lt"/>
                <a:cs typeface="Arial"/>
              </a:rPr>
              <a:t>à </a:t>
            </a:r>
            <a:r>
              <a:rPr lang="fr-FR" sz="2000" spc="-5" dirty="0" smtClean="0">
                <a:latin typeface="+mj-lt"/>
                <a:cs typeface="Arial"/>
              </a:rPr>
              <a:t>la fois </a:t>
            </a:r>
            <a:r>
              <a:rPr lang="fr-FR" sz="2000" dirty="0" smtClean="0">
                <a:latin typeface="+mj-lt"/>
                <a:cs typeface="Arial"/>
              </a:rPr>
              <a:t>sur </a:t>
            </a:r>
            <a:r>
              <a:rPr lang="fr-FR" sz="2000" spc="-5" dirty="0" smtClean="0">
                <a:latin typeface="+mj-lt"/>
                <a:cs typeface="Arial"/>
              </a:rPr>
              <a:t>le client  </a:t>
            </a:r>
            <a:r>
              <a:rPr lang="fr-FR" sz="2000" dirty="0" smtClean="0">
                <a:latin typeface="+mj-lt"/>
                <a:cs typeface="Arial"/>
              </a:rPr>
              <a:t>et sur </a:t>
            </a:r>
            <a:r>
              <a:rPr lang="fr-FR" sz="2000" spc="-5" dirty="0" smtClean="0">
                <a:latin typeface="+mj-lt"/>
                <a:cs typeface="Arial"/>
              </a:rPr>
              <a:t>le</a:t>
            </a:r>
            <a:r>
              <a:rPr lang="fr-FR" sz="2000" spc="-50" dirty="0" smtClean="0">
                <a:latin typeface="+mj-lt"/>
                <a:cs typeface="Arial"/>
              </a:rPr>
              <a:t> </a:t>
            </a:r>
            <a:r>
              <a:rPr lang="fr-FR" sz="2000" spc="0" dirty="0" smtClean="0">
                <a:latin typeface="+mj-lt"/>
                <a:cs typeface="Arial"/>
              </a:rPr>
              <a:t>serveur</a:t>
            </a:r>
            <a:endParaRPr lang="fr-FR" sz="2000" dirty="0" smtClean="0">
              <a:latin typeface="+mj-lt"/>
              <a:cs typeface="Arial"/>
            </a:endParaRPr>
          </a:p>
          <a:p>
            <a:pPr marL="112395" marR="12700" indent="-112395">
              <a:lnSpc>
                <a:spcPct val="150000"/>
              </a:lnSpc>
              <a:spcBef>
                <a:spcPts val="10"/>
              </a:spcBef>
              <a:buFont typeface="Wingdings"/>
              <a:buChar char=""/>
              <a:tabLst>
                <a:tab pos="113030" algn="l"/>
              </a:tabLst>
            </a:pPr>
            <a:r>
              <a:rPr lang="fr-FR" sz="2000" dirty="0" smtClean="0">
                <a:latin typeface="+mj-lt"/>
                <a:cs typeface="Arial"/>
              </a:rPr>
              <a:t>L'en-tête </a:t>
            </a:r>
            <a:r>
              <a:rPr lang="fr-FR" sz="2000" spc="0" dirty="0" smtClean="0">
                <a:latin typeface="+mj-lt"/>
                <a:cs typeface="Arial"/>
              </a:rPr>
              <a:t>de</a:t>
            </a:r>
            <a:r>
              <a:rPr lang="fr-FR" sz="2000" spc="-60" dirty="0" smtClean="0">
                <a:latin typeface="+mj-lt"/>
                <a:cs typeface="Arial"/>
              </a:rPr>
              <a:t> </a:t>
            </a:r>
            <a:r>
              <a:rPr lang="fr-FR" sz="2000" spc="0" dirty="0" smtClean="0">
                <a:latin typeface="+mj-lt"/>
                <a:cs typeface="Arial"/>
              </a:rPr>
              <a:t>message  </a:t>
            </a:r>
            <a:r>
              <a:rPr lang="fr-FR" sz="2000" dirty="0" smtClean="0">
                <a:latin typeface="+mj-lt"/>
                <a:cs typeface="Arial"/>
              </a:rPr>
              <a:t>doit comporter </a:t>
            </a:r>
            <a:r>
              <a:rPr lang="fr-FR" sz="2000" spc="0" dirty="0" smtClean="0">
                <a:latin typeface="+mj-lt"/>
                <a:cs typeface="Arial"/>
              </a:rPr>
              <a:t>une  </a:t>
            </a:r>
            <a:r>
              <a:rPr lang="fr-FR" sz="2000" dirty="0" smtClean="0">
                <a:latin typeface="+mj-lt"/>
                <a:cs typeface="Arial"/>
              </a:rPr>
              <a:t>adresse e-mail </a:t>
            </a:r>
            <a:r>
              <a:rPr lang="fr-FR" sz="2000" spc="0" dirty="0" smtClean="0">
                <a:latin typeface="+mj-lt"/>
                <a:cs typeface="Arial"/>
              </a:rPr>
              <a:t>du  </a:t>
            </a:r>
            <a:r>
              <a:rPr lang="fr-FR" sz="2000" dirty="0" smtClean="0">
                <a:latin typeface="+mj-lt"/>
                <a:cs typeface="Arial"/>
              </a:rPr>
              <a:t>destinataire </a:t>
            </a:r>
            <a:r>
              <a:rPr lang="fr-FR" sz="2000" spc="0" dirty="0" smtClean="0">
                <a:latin typeface="+mj-lt"/>
                <a:cs typeface="Arial"/>
              </a:rPr>
              <a:t>au</a:t>
            </a:r>
            <a:r>
              <a:rPr lang="fr-FR" sz="2000" spc="-50" dirty="0" smtClean="0">
                <a:latin typeface="+mj-lt"/>
                <a:cs typeface="Arial"/>
              </a:rPr>
              <a:t> </a:t>
            </a:r>
            <a:r>
              <a:rPr lang="fr-FR" sz="2000" dirty="0" smtClean="0">
                <a:latin typeface="+mj-lt"/>
                <a:cs typeface="Arial"/>
              </a:rPr>
              <a:t>format  correct et </a:t>
            </a:r>
            <a:r>
              <a:rPr lang="fr-FR" sz="2000" spc="0" dirty="0" smtClean="0">
                <a:latin typeface="+mj-lt"/>
                <a:cs typeface="Arial"/>
              </a:rPr>
              <a:t>un  </a:t>
            </a:r>
            <a:r>
              <a:rPr lang="fr-FR" sz="2000" dirty="0" smtClean="0">
                <a:latin typeface="+mj-lt"/>
                <a:cs typeface="Arial"/>
              </a:rPr>
              <a:t>expéditeur</a:t>
            </a:r>
          </a:p>
          <a:p>
            <a:pPr marL="112395" indent="-112395">
              <a:lnSpc>
                <a:spcPct val="150000"/>
              </a:lnSpc>
              <a:buFont typeface="Wingdings"/>
              <a:buChar char=""/>
              <a:tabLst>
                <a:tab pos="113030" algn="l"/>
              </a:tabLst>
            </a:pPr>
            <a:r>
              <a:rPr lang="fr-FR" sz="2000" spc="-5" dirty="0" smtClean="0">
                <a:latin typeface="+mj-lt"/>
                <a:cs typeface="Arial"/>
              </a:rPr>
              <a:t>Utilise le </a:t>
            </a:r>
            <a:r>
              <a:rPr lang="fr-FR" sz="2000" dirty="0" smtClean="0">
                <a:latin typeface="+mj-lt"/>
                <a:cs typeface="Arial"/>
              </a:rPr>
              <a:t>port </a:t>
            </a:r>
            <a:r>
              <a:rPr lang="fr-FR" sz="2000" spc="0" dirty="0" smtClean="0">
                <a:latin typeface="+mj-lt"/>
                <a:cs typeface="Arial"/>
              </a:rPr>
              <a:t>25</a:t>
            </a:r>
            <a:endParaRPr lang="fr-FR" sz="2000" dirty="0">
              <a:latin typeface="+mj-lt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28600" y="228600"/>
            <a:ext cx="5295039" cy="2314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910"/>
              </a:lnSpc>
              <a:spcBef>
                <a:spcPts val="90"/>
              </a:spcBef>
            </a:pPr>
            <a:r>
              <a:rPr lang="fr-FR" b="1" spc="-10" dirty="0" smtClean="0">
                <a:solidFill>
                  <a:srgbClr val="6F8CA1"/>
                </a:solidFill>
                <a:latin typeface="Arial"/>
                <a:cs typeface="Arial"/>
              </a:rPr>
              <a:t>Les protocoles de couche application courants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152400" y="609600"/>
            <a:ext cx="4675382" cy="2702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1030"/>
              </a:lnSpc>
            </a:pPr>
            <a:r>
              <a:rPr lang="fr-FR" sz="2800" b="1" spc="5" dirty="0" smtClean="0">
                <a:solidFill>
                  <a:srgbClr val="6F8CA1"/>
                </a:solidFill>
                <a:latin typeface="Arial"/>
                <a:cs typeface="Arial"/>
              </a:rPr>
              <a:t>SMTP, </a:t>
            </a:r>
            <a:r>
              <a:rPr lang="fr-FR" sz="2800" b="1" spc="10" dirty="0" smtClean="0">
                <a:solidFill>
                  <a:srgbClr val="6F8CA1"/>
                </a:solidFill>
                <a:latin typeface="Arial"/>
                <a:cs typeface="Arial"/>
              </a:rPr>
              <a:t>POP </a:t>
            </a:r>
            <a:r>
              <a:rPr lang="fr-FR" sz="2800" b="1" spc="5" dirty="0" smtClean="0">
                <a:solidFill>
                  <a:srgbClr val="6F8CA1"/>
                </a:solidFill>
                <a:latin typeface="Arial"/>
                <a:cs typeface="Arial"/>
              </a:rPr>
              <a:t>et </a:t>
            </a:r>
            <a:r>
              <a:rPr lang="fr-FR" sz="2800" b="1" spc="0" dirty="0" smtClean="0">
                <a:solidFill>
                  <a:srgbClr val="6F8CA1"/>
                </a:solidFill>
                <a:latin typeface="Arial"/>
                <a:cs typeface="Arial"/>
              </a:rPr>
              <a:t>IMAP</a:t>
            </a:r>
            <a:r>
              <a:rPr lang="fr-FR" sz="2800" b="1" spc="-80" dirty="0" smtClean="0">
                <a:solidFill>
                  <a:srgbClr val="6F8CA1"/>
                </a:solidFill>
                <a:latin typeface="Arial"/>
                <a:cs typeface="Arial"/>
              </a:rPr>
              <a:t> </a:t>
            </a:r>
            <a:r>
              <a:rPr lang="fr-FR" sz="2800" b="1" spc="0" dirty="0" smtClean="0">
                <a:solidFill>
                  <a:srgbClr val="6F8CA1"/>
                </a:solidFill>
                <a:latin typeface="Arial"/>
                <a:cs typeface="Arial"/>
              </a:rPr>
              <a:t>(suite)</a:t>
            </a:r>
            <a:endParaRPr lang="fr-FR" sz="2800" dirty="0">
              <a:latin typeface="Arial"/>
              <a:cs typeface="Arial"/>
            </a:endParaRPr>
          </a:p>
        </p:txBody>
      </p:sp>
      <p:sp>
        <p:nvSpPr>
          <p:cNvPr id="8" name="object 26"/>
          <p:cNvSpPr/>
          <p:nvPr/>
        </p:nvSpPr>
        <p:spPr>
          <a:xfrm>
            <a:off x="228600" y="1295400"/>
            <a:ext cx="4267200" cy="4572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876800" y="914400"/>
            <a:ext cx="4724400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lang="fr-FR" sz="2000" dirty="0" smtClean="0">
                <a:cs typeface="Arial"/>
              </a:rPr>
              <a:t>POP </a:t>
            </a:r>
            <a:r>
              <a:rPr lang="fr-FR" sz="2000" spc="-5" dirty="0" smtClean="0">
                <a:cs typeface="Arial"/>
              </a:rPr>
              <a:t>(Post </a:t>
            </a:r>
            <a:r>
              <a:rPr lang="fr-FR" sz="2000" dirty="0" smtClean="0">
                <a:cs typeface="Arial"/>
              </a:rPr>
              <a:t>Office </a:t>
            </a:r>
            <a:r>
              <a:rPr lang="fr-FR" sz="2000" spc="-5" dirty="0" smtClean="0">
                <a:cs typeface="Arial"/>
              </a:rPr>
              <a:t>Protocol)</a:t>
            </a:r>
            <a:endParaRPr lang="fr-FR" sz="2000" dirty="0" smtClean="0">
              <a:cs typeface="Arial"/>
            </a:endParaRPr>
          </a:p>
          <a:p>
            <a:pPr marL="112395" marR="59055" indent="-112395">
              <a:spcBef>
                <a:spcPts val="25"/>
              </a:spcBef>
              <a:buFont typeface="Wingdings"/>
              <a:buChar char=""/>
              <a:tabLst>
                <a:tab pos="113030" algn="l"/>
              </a:tabLst>
            </a:pPr>
            <a:r>
              <a:rPr lang="fr-FR" sz="2000" spc="-5" dirty="0" smtClean="0">
                <a:cs typeface="Arial"/>
              </a:rPr>
              <a:t>Permet </a:t>
            </a:r>
            <a:r>
              <a:rPr lang="fr-FR" sz="2000" dirty="0" smtClean="0">
                <a:cs typeface="Arial"/>
              </a:rPr>
              <a:t>à une station de  </a:t>
            </a:r>
            <a:r>
              <a:rPr lang="fr-FR" sz="2000" spc="-5" dirty="0" smtClean="0">
                <a:cs typeface="Arial"/>
              </a:rPr>
              <a:t>travail </a:t>
            </a:r>
            <a:r>
              <a:rPr lang="fr-FR" sz="2000" dirty="0" smtClean="0">
                <a:cs typeface="Arial"/>
              </a:rPr>
              <a:t>de </a:t>
            </a:r>
            <a:r>
              <a:rPr lang="fr-FR" sz="2000" spc="-5" dirty="0" smtClean="0">
                <a:cs typeface="Arial"/>
              </a:rPr>
              <a:t>récupérer le  courrier </a:t>
            </a:r>
            <a:r>
              <a:rPr lang="fr-FR" sz="2000" dirty="0" smtClean="0">
                <a:cs typeface="Arial"/>
              </a:rPr>
              <a:t>depuis un  serveur de</a:t>
            </a:r>
            <a:r>
              <a:rPr lang="fr-FR" sz="2000" spc="-10" dirty="0" smtClean="0">
                <a:cs typeface="Arial"/>
              </a:rPr>
              <a:t> </a:t>
            </a:r>
            <a:r>
              <a:rPr lang="fr-FR" sz="2000" spc="-5" dirty="0" smtClean="0">
                <a:cs typeface="Arial"/>
              </a:rPr>
              <a:t>messagerie</a:t>
            </a:r>
          </a:p>
          <a:p>
            <a:pPr marL="112395" marR="59055" indent="-112395">
              <a:spcBef>
                <a:spcPts val="25"/>
              </a:spcBef>
              <a:buFont typeface="Wingdings"/>
              <a:buChar char=""/>
              <a:tabLst>
                <a:tab pos="113030" algn="l"/>
              </a:tabLst>
            </a:pPr>
            <a:endParaRPr lang="fr-FR" sz="2000" dirty="0" smtClean="0">
              <a:cs typeface="Arial"/>
            </a:endParaRPr>
          </a:p>
          <a:p>
            <a:pPr marL="112395" marR="10160" indent="-112395">
              <a:spcBef>
                <a:spcPts val="10"/>
              </a:spcBef>
              <a:buFont typeface="Wingdings"/>
              <a:buChar char=""/>
              <a:tabLst>
                <a:tab pos="113030" algn="l"/>
              </a:tabLst>
            </a:pPr>
            <a:r>
              <a:rPr lang="fr-FR" sz="2000" dirty="0" smtClean="0">
                <a:cs typeface="Arial"/>
              </a:rPr>
              <a:t>Le </a:t>
            </a:r>
            <a:r>
              <a:rPr lang="fr-FR" sz="2000" spc="-5" dirty="0" smtClean="0">
                <a:cs typeface="Arial"/>
              </a:rPr>
              <a:t>courrier </a:t>
            </a:r>
            <a:r>
              <a:rPr lang="fr-FR" sz="2000" dirty="0" smtClean="0">
                <a:cs typeface="Arial"/>
              </a:rPr>
              <a:t>est </a:t>
            </a:r>
            <a:r>
              <a:rPr lang="fr-FR" sz="2000" spc="-5" dirty="0" smtClean="0">
                <a:cs typeface="Arial"/>
              </a:rPr>
              <a:t>téléchargé  </a:t>
            </a:r>
            <a:r>
              <a:rPr lang="fr-FR" sz="2000" dirty="0" smtClean="0">
                <a:cs typeface="Arial"/>
              </a:rPr>
              <a:t>depuis </a:t>
            </a:r>
            <a:r>
              <a:rPr lang="fr-FR" sz="2000" spc="-5" dirty="0" smtClean="0">
                <a:cs typeface="Arial"/>
              </a:rPr>
              <a:t>le </a:t>
            </a:r>
            <a:r>
              <a:rPr lang="fr-FR" sz="2000" dirty="0" smtClean="0">
                <a:cs typeface="Arial"/>
              </a:rPr>
              <a:t>serveur </a:t>
            </a:r>
            <a:r>
              <a:rPr lang="fr-FR" sz="2000" spc="-5" dirty="0" smtClean="0">
                <a:cs typeface="Arial"/>
              </a:rPr>
              <a:t>vers le  client, puis supprimé</a:t>
            </a:r>
            <a:r>
              <a:rPr lang="fr-FR" sz="2000" spc="50" dirty="0" smtClean="0">
                <a:cs typeface="Arial"/>
              </a:rPr>
              <a:t> </a:t>
            </a:r>
            <a:r>
              <a:rPr lang="fr-FR" sz="2000" dirty="0" smtClean="0">
                <a:cs typeface="Arial"/>
              </a:rPr>
              <a:t>du</a:t>
            </a:r>
          </a:p>
          <a:p>
            <a:pPr marL="112395"/>
            <a:r>
              <a:rPr lang="fr-FR" sz="2000" dirty="0" smtClean="0">
                <a:cs typeface="Arial"/>
              </a:rPr>
              <a:t>Serveur</a:t>
            </a:r>
          </a:p>
          <a:p>
            <a:pPr marL="112395">
              <a:buFont typeface="Arial" pitchFamily="34" charset="0"/>
              <a:buChar char="•"/>
            </a:pPr>
            <a:r>
              <a:rPr lang="fr-FR" sz="2000" dirty="0" smtClean="0"/>
              <a:t>Lorsqu'un client souhaite utiliser le service, il envoie une requête d'établissement de connexion TCP au serveur. </a:t>
            </a:r>
            <a:endParaRPr lang="fr-FR" sz="2000" dirty="0" smtClean="0">
              <a:cs typeface="Arial"/>
            </a:endParaRPr>
          </a:p>
          <a:p>
            <a:pPr marL="112395" indent="-112395">
              <a:buFont typeface="Wingdings"/>
              <a:buChar char=""/>
              <a:tabLst>
                <a:tab pos="113030" algn="l"/>
              </a:tabLst>
            </a:pPr>
            <a:r>
              <a:rPr lang="fr-FR" sz="2000" spc="-5" dirty="0" smtClean="0">
                <a:cs typeface="Arial"/>
              </a:rPr>
              <a:t>Utilise le port</a:t>
            </a:r>
            <a:r>
              <a:rPr lang="fr-FR" sz="2000" spc="30" dirty="0" smtClean="0">
                <a:cs typeface="Arial"/>
              </a:rPr>
              <a:t> </a:t>
            </a:r>
            <a:r>
              <a:rPr lang="fr-FR" sz="2000" spc="-15" dirty="0" smtClean="0">
                <a:cs typeface="Arial"/>
              </a:rPr>
              <a:t>110</a:t>
            </a:r>
          </a:p>
          <a:p>
            <a:pPr marL="112395" indent="-112395">
              <a:buFont typeface="Wingdings"/>
              <a:buChar char=""/>
              <a:tabLst>
                <a:tab pos="113030" algn="l"/>
              </a:tabLst>
            </a:pPr>
            <a:endParaRPr lang="fr-FR" sz="2000" dirty="0" smtClean="0">
              <a:cs typeface="Arial"/>
            </a:endParaRPr>
          </a:p>
          <a:p>
            <a:pPr marL="112395" marR="96520" indent="-112395">
              <a:spcBef>
                <a:spcPts val="40"/>
              </a:spcBef>
              <a:buFont typeface="Wingdings"/>
              <a:buChar char=""/>
              <a:tabLst>
                <a:tab pos="113030" algn="l"/>
              </a:tabLst>
            </a:pPr>
            <a:r>
              <a:rPr lang="fr-FR" sz="2000" dirty="0" smtClean="0">
                <a:cs typeface="Arial"/>
              </a:rPr>
              <a:t>POP ne stocke pas </a:t>
            </a:r>
            <a:r>
              <a:rPr lang="fr-FR" sz="2000" spc="-5" dirty="0" smtClean="0">
                <a:cs typeface="Arial"/>
              </a:rPr>
              <a:t>les  </a:t>
            </a:r>
            <a:r>
              <a:rPr lang="fr-FR" sz="2000" dirty="0" smtClean="0">
                <a:cs typeface="Arial"/>
              </a:rPr>
              <a:t>messages</a:t>
            </a:r>
          </a:p>
          <a:p>
            <a:pPr marL="112395" marR="96520" indent="-112395">
              <a:spcBef>
                <a:spcPts val="40"/>
              </a:spcBef>
              <a:buFont typeface="Wingdings"/>
              <a:buChar char=""/>
              <a:tabLst>
                <a:tab pos="113030" algn="l"/>
              </a:tabLst>
            </a:pPr>
            <a:endParaRPr lang="fr-FR" sz="2000" dirty="0" smtClean="0">
              <a:cs typeface="Arial"/>
            </a:endParaRPr>
          </a:p>
          <a:p>
            <a:pPr marL="112395" indent="-112395">
              <a:buFont typeface="Wingdings"/>
              <a:buChar char=""/>
              <a:tabLst>
                <a:tab pos="113030" algn="l"/>
              </a:tabLst>
            </a:pPr>
            <a:r>
              <a:rPr lang="fr-FR" sz="2000" dirty="0" smtClean="0">
                <a:cs typeface="Arial"/>
              </a:rPr>
              <a:t>Le </a:t>
            </a:r>
            <a:r>
              <a:rPr lang="fr-FR" sz="2000" spc="-5" dirty="0" smtClean="0">
                <a:cs typeface="Arial"/>
              </a:rPr>
              <a:t>protocole</a:t>
            </a:r>
            <a:r>
              <a:rPr lang="fr-FR" sz="2000" spc="5" dirty="0" smtClean="0">
                <a:cs typeface="Arial"/>
              </a:rPr>
              <a:t> </a:t>
            </a:r>
            <a:r>
              <a:rPr lang="fr-FR" sz="2000" dirty="0" smtClean="0">
                <a:cs typeface="Arial"/>
              </a:rPr>
              <a:t>POP3</a:t>
            </a:r>
          </a:p>
          <a:p>
            <a:pPr marL="112395" marR="5080">
              <a:spcBef>
                <a:spcPts val="35"/>
              </a:spcBef>
            </a:pPr>
            <a:r>
              <a:rPr lang="fr-FR" sz="2000" dirty="0" smtClean="0">
                <a:cs typeface="Arial"/>
              </a:rPr>
              <a:t>convient à un </a:t>
            </a:r>
            <a:r>
              <a:rPr lang="fr-FR" sz="2000" spc="-15" dirty="0" smtClean="0">
                <a:cs typeface="Arial"/>
              </a:rPr>
              <a:t>FAI  </a:t>
            </a:r>
            <a:r>
              <a:rPr lang="fr-FR" sz="2000" spc="-5" dirty="0" smtClean="0">
                <a:cs typeface="Arial"/>
              </a:rPr>
              <a:t>puisqu'il lui évite </a:t>
            </a:r>
            <a:r>
              <a:rPr lang="fr-FR" sz="2000" dirty="0" smtClean="0">
                <a:cs typeface="Arial"/>
              </a:rPr>
              <a:t>d'avoir à  </a:t>
            </a:r>
            <a:r>
              <a:rPr lang="fr-FR" sz="2000" spc="-5" dirty="0" smtClean="0">
                <a:cs typeface="Arial"/>
              </a:rPr>
              <a:t>gérer </a:t>
            </a:r>
            <a:r>
              <a:rPr lang="fr-FR" sz="2000" dirty="0" smtClean="0">
                <a:cs typeface="Arial"/>
              </a:rPr>
              <a:t>de grandes  quantités de stockage sur  ses </a:t>
            </a:r>
            <a:r>
              <a:rPr lang="fr-FR" sz="2000" spc="-5" dirty="0" smtClean="0">
                <a:cs typeface="Arial"/>
              </a:rPr>
              <a:t>serveurs </a:t>
            </a:r>
            <a:r>
              <a:rPr lang="fr-FR" sz="2000" dirty="0" smtClean="0">
                <a:cs typeface="Arial"/>
              </a:rPr>
              <a:t>de  </a:t>
            </a:r>
            <a:r>
              <a:rPr lang="fr-FR" sz="2000" spc="-5" dirty="0" smtClean="0">
                <a:cs typeface="Arial"/>
              </a:rPr>
              <a:t>messagerie.</a:t>
            </a:r>
            <a:endParaRPr lang="fr-FR" sz="2000" dirty="0"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28600" y="228600"/>
            <a:ext cx="5295039" cy="2314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910"/>
              </a:lnSpc>
              <a:spcBef>
                <a:spcPts val="90"/>
              </a:spcBef>
            </a:pPr>
            <a:r>
              <a:rPr lang="fr-FR" b="1" spc="-10" dirty="0" smtClean="0">
                <a:solidFill>
                  <a:srgbClr val="6F8CA1"/>
                </a:solidFill>
                <a:latin typeface="Arial"/>
                <a:cs typeface="Arial"/>
              </a:rPr>
              <a:t>Les protocoles de couche application courants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152400" y="609600"/>
            <a:ext cx="4675382" cy="2702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1030"/>
              </a:lnSpc>
            </a:pPr>
            <a:r>
              <a:rPr lang="fr-FR" sz="2800" b="1" spc="5" dirty="0" smtClean="0">
                <a:solidFill>
                  <a:srgbClr val="6F8CA1"/>
                </a:solidFill>
                <a:latin typeface="Arial"/>
                <a:cs typeface="Arial"/>
              </a:rPr>
              <a:t>SMTP, </a:t>
            </a:r>
            <a:r>
              <a:rPr lang="fr-FR" sz="2800" b="1" spc="10" dirty="0" smtClean="0">
                <a:solidFill>
                  <a:srgbClr val="6F8CA1"/>
                </a:solidFill>
                <a:latin typeface="Arial"/>
                <a:cs typeface="Arial"/>
              </a:rPr>
              <a:t>POP </a:t>
            </a:r>
            <a:r>
              <a:rPr lang="fr-FR" sz="2800" b="1" spc="5" dirty="0" smtClean="0">
                <a:solidFill>
                  <a:srgbClr val="6F8CA1"/>
                </a:solidFill>
                <a:latin typeface="Arial"/>
                <a:cs typeface="Arial"/>
              </a:rPr>
              <a:t>et </a:t>
            </a:r>
            <a:r>
              <a:rPr lang="fr-FR" sz="2800" b="1" spc="0" dirty="0" smtClean="0">
                <a:solidFill>
                  <a:srgbClr val="6F8CA1"/>
                </a:solidFill>
                <a:latin typeface="Arial"/>
                <a:cs typeface="Arial"/>
              </a:rPr>
              <a:t>IMAP</a:t>
            </a:r>
            <a:r>
              <a:rPr lang="fr-FR" sz="2800" b="1" spc="-80" dirty="0" smtClean="0">
                <a:solidFill>
                  <a:srgbClr val="6F8CA1"/>
                </a:solidFill>
                <a:latin typeface="Arial"/>
                <a:cs typeface="Arial"/>
              </a:rPr>
              <a:t> </a:t>
            </a:r>
            <a:r>
              <a:rPr lang="fr-FR" sz="2800" b="1" spc="0" dirty="0" smtClean="0">
                <a:solidFill>
                  <a:srgbClr val="6F8CA1"/>
                </a:solidFill>
                <a:latin typeface="Arial"/>
                <a:cs typeface="Arial"/>
              </a:rPr>
              <a:t>(suite)</a:t>
            </a:r>
            <a:endParaRPr lang="fr-FR" sz="2800" dirty="0">
              <a:latin typeface="Arial"/>
              <a:cs typeface="Arial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04800" y="1143000"/>
            <a:ext cx="9372600" cy="54784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0325">
              <a:spcBef>
                <a:spcPts val="335"/>
              </a:spcBef>
            </a:pPr>
            <a:r>
              <a:rPr lang="fr-FR" sz="2000" dirty="0" smtClean="0">
                <a:solidFill>
                  <a:srgbClr val="FF0000"/>
                </a:solidFill>
                <a:cs typeface="Arial"/>
              </a:rPr>
              <a:t>SMTP (Simple </a:t>
            </a:r>
            <a:r>
              <a:rPr lang="fr-FR" sz="2000" spc="-5" dirty="0" smtClean="0">
                <a:solidFill>
                  <a:srgbClr val="FF0000"/>
                </a:solidFill>
                <a:cs typeface="Arial"/>
              </a:rPr>
              <a:t>Mail Transfer</a:t>
            </a:r>
            <a:r>
              <a:rPr lang="fr-FR" sz="2000" spc="-20" dirty="0" smtClean="0">
                <a:solidFill>
                  <a:srgbClr val="FF0000"/>
                </a:solidFill>
                <a:cs typeface="Arial"/>
              </a:rPr>
              <a:t> </a:t>
            </a:r>
            <a:r>
              <a:rPr lang="fr-FR" sz="2000" dirty="0" smtClean="0">
                <a:solidFill>
                  <a:srgbClr val="FF0000"/>
                </a:solidFill>
                <a:cs typeface="Arial"/>
              </a:rPr>
              <a:t>Protocol)</a:t>
            </a:r>
          </a:p>
          <a:p>
            <a:pPr marL="630555" lvl="1" indent="-112395">
              <a:spcBef>
                <a:spcPts val="10"/>
              </a:spcBef>
              <a:buChar char="•"/>
              <a:tabLst>
                <a:tab pos="173990" algn="l"/>
              </a:tabLst>
            </a:pPr>
            <a:r>
              <a:rPr lang="fr-FR" sz="2000" spc="-5" dirty="0" smtClean="0">
                <a:cs typeface="Arial"/>
              </a:rPr>
              <a:t>Transfère le </a:t>
            </a:r>
            <a:r>
              <a:rPr lang="fr-FR" sz="2000" dirty="0" smtClean="0">
                <a:cs typeface="Arial"/>
              </a:rPr>
              <a:t>courrier </a:t>
            </a:r>
            <a:r>
              <a:rPr lang="fr-FR" sz="2000" spc="0" dirty="0" smtClean="0">
                <a:cs typeface="Arial"/>
              </a:rPr>
              <a:t>avec </a:t>
            </a:r>
            <a:r>
              <a:rPr lang="fr-FR" sz="2000" spc="-5" dirty="0" smtClean="0">
                <a:cs typeface="Arial"/>
              </a:rPr>
              <a:t>fiabilité </a:t>
            </a:r>
            <a:r>
              <a:rPr lang="fr-FR" sz="2000" dirty="0" smtClean="0">
                <a:cs typeface="Arial"/>
              </a:rPr>
              <a:t>et</a:t>
            </a:r>
            <a:r>
              <a:rPr lang="fr-FR" sz="2000" spc="-25" dirty="0" smtClean="0">
                <a:cs typeface="Arial"/>
              </a:rPr>
              <a:t> </a:t>
            </a:r>
            <a:r>
              <a:rPr lang="fr-FR" sz="2000" spc="-5" dirty="0" smtClean="0">
                <a:cs typeface="Arial"/>
              </a:rPr>
              <a:t>efficacité</a:t>
            </a:r>
            <a:endParaRPr lang="fr-FR" sz="2000" dirty="0" smtClean="0">
              <a:cs typeface="Arial"/>
            </a:endParaRPr>
          </a:p>
          <a:p>
            <a:pPr>
              <a:spcBef>
                <a:spcPts val="45"/>
              </a:spcBef>
              <a:buFont typeface="Arial"/>
              <a:buChar char="•"/>
            </a:pPr>
            <a:endParaRPr lang="fr-FR" sz="2000" dirty="0" smtClean="0">
              <a:cs typeface="Times New Roman"/>
            </a:endParaRPr>
          </a:p>
          <a:p>
            <a:pPr marL="60325"/>
            <a:r>
              <a:rPr lang="fr-FR" sz="2000" spc="0" dirty="0" smtClean="0">
                <a:solidFill>
                  <a:srgbClr val="FF0000"/>
                </a:solidFill>
                <a:cs typeface="Arial"/>
              </a:rPr>
              <a:t>POP </a:t>
            </a:r>
            <a:r>
              <a:rPr lang="fr-FR" sz="2000" dirty="0" smtClean="0">
                <a:solidFill>
                  <a:srgbClr val="FF0000"/>
                </a:solidFill>
                <a:cs typeface="Arial"/>
              </a:rPr>
              <a:t>(Post </a:t>
            </a:r>
            <a:r>
              <a:rPr lang="fr-FR" sz="2000" spc="-5" dirty="0" smtClean="0">
                <a:solidFill>
                  <a:srgbClr val="FF0000"/>
                </a:solidFill>
                <a:cs typeface="Arial"/>
              </a:rPr>
              <a:t>Office</a:t>
            </a:r>
            <a:r>
              <a:rPr lang="fr-FR" sz="2000" spc="-75" dirty="0" smtClean="0">
                <a:solidFill>
                  <a:srgbClr val="FF0000"/>
                </a:solidFill>
                <a:cs typeface="Arial"/>
              </a:rPr>
              <a:t> </a:t>
            </a:r>
            <a:r>
              <a:rPr lang="fr-FR" sz="2000" dirty="0" smtClean="0">
                <a:solidFill>
                  <a:srgbClr val="FF0000"/>
                </a:solidFill>
                <a:cs typeface="Arial"/>
              </a:rPr>
              <a:t>Protocol)</a:t>
            </a:r>
          </a:p>
          <a:p>
            <a:pPr marL="630555" marR="101600" lvl="1" indent="-112395">
              <a:lnSpc>
                <a:spcPct val="150000"/>
              </a:lnSpc>
              <a:buChar char="•"/>
              <a:tabLst>
                <a:tab pos="173990" algn="l"/>
              </a:tabLst>
            </a:pPr>
            <a:r>
              <a:rPr lang="fr-FR" sz="2000" spc="0" dirty="0" smtClean="0">
                <a:cs typeface="Arial"/>
              </a:rPr>
              <a:t>Permet à une </a:t>
            </a:r>
            <a:r>
              <a:rPr lang="fr-FR" sz="2000" dirty="0" smtClean="0">
                <a:cs typeface="Arial"/>
              </a:rPr>
              <a:t>station </a:t>
            </a:r>
            <a:r>
              <a:rPr lang="fr-FR" sz="2000" spc="0" dirty="0" smtClean="0">
                <a:cs typeface="Arial"/>
              </a:rPr>
              <a:t>de </a:t>
            </a:r>
            <a:r>
              <a:rPr lang="fr-FR" sz="2000" dirty="0" smtClean="0">
                <a:cs typeface="Arial"/>
              </a:rPr>
              <a:t>travail </a:t>
            </a:r>
            <a:r>
              <a:rPr lang="fr-FR" sz="2000" spc="0" dirty="0" smtClean="0">
                <a:cs typeface="Arial"/>
              </a:rPr>
              <a:t>de </a:t>
            </a:r>
            <a:r>
              <a:rPr lang="fr-FR" sz="2000" dirty="0" smtClean="0">
                <a:cs typeface="Arial"/>
              </a:rPr>
              <a:t>récupérer </a:t>
            </a:r>
            <a:r>
              <a:rPr lang="fr-FR" sz="2000" spc="-5" dirty="0" smtClean="0">
                <a:cs typeface="Arial"/>
              </a:rPr>
              <a:t>le </a:t>
            </a:r>
            <a:r>
              <a:rPr lang="fr-FR" sz="2000" dirty="0" smtClean="0">
                <a:cs typeface="Arial"/>
              </a:rPr>
              <a:t>courrier depuis</a:t>
            </a:r>
            <a:r>
              <a:rPr lang="fr-FR" sz="2000" spc="-95" dirty="0" smtClean="0">
                <a:cs typeface="Arial"/>
              </a:rPr>
              <a:t> </a:t>
            </a:r>
            <a:r>
              <a:rPr lang="fr-FR" sz="2000" spc="0" dirty="0" smtClean="0">
                <a:cs typeface="Arial"/>
              </a:rPr>
              <a:t>un  </a:t>
            </a:r>
            <a:r>
              <a:rPr lang="fr-FR" sz="2000" dirty="0" smtClean="0">
                <a:cs typeface="Arial"/>
              </a:rPr>
              <a:t>serveur </a:t>
            </a:r>
            <a:r>
              <a:rPr lang="fr-FR" sz="2000" spc="0" dirty="0" smtClean="0">
                <a:cs typeface="Arial"/>
              </a:rPr>
              <a:t>de</a:t>
            </a:r>
            <a:r>
              <a:rPr lang="fr-FR" sz="2000" spc="-65" dirty="0" smtClean="0">
                <a:cs typeface="Arial"/>
              </a:rPr>
              <a:t> </a:t>
            </a:r>
            <a:r>
              <a:rPr lang="fr-FR" sz="2000" dirty="0" smtClean="0">
                <a:cs typeface="Arial"/>
              </a:rPr>
              <a:t>messagerie</a:t>
            </a:r>
          </a:p>
          <a:p>
            <a:pPr marL="630555" marR="5080" lvl="1" indent="-112395">
              <a:spcBef>
                <a:spcPts val="20"/>
              </a:spcBef>
              <a:buChar char="•"/>
              <a:tabLst>
                <a:tab pos="173990" algn="l"/>
              </a:tabLst>
            </a:pPr>
            <a:r>
              <a:rPr lang="fr-FR" sz="2000" spc="0" dirty="0" smtClean="0">
                <a:cs typeface="Arial"/>
              </a:rPr>
              <a:t>Avec </a:t>
            </a:r>
            <a:r>
              <a:rPr lang="fr-FR" sz="2000" spc="-20" dirty="0" smtClean="0">
                <a:cs typeface="Arial"/>
              </a:rPr>
              <a:t>POP, </a:t>
            </a:r>
            <a:r>
              <a:rPr lang="fr-FR" sz="2000" spc="-5" dirty="0" smtClean="0">
                <a:cs typeface="Arial"/>
              </a:rPr>
              <a:t>le </a:t>
            </a:r>
            <a:r>
              <a:rPr lang="fr-FR" sz="2000" dirty="0" smtClean="0">
                <a:cs typeface="Arial"/>
              </a:rPr>
              <a:t>courrier est téléchargé depuis </a:t>
            </a:r>
            <a:r>
              <a:rPr lang="fr-FR" sz="2000" spc="-5" dirty="0" smtClean="0">
                <a:cs typeface="Arial"/>
              </a:rPr>
              <a:t>le </a:t>
            </a:r>
            <a:r>
              <a:rPr lang="fr-FR" sz="2000" spc="0" dirty="0" smtClean="0">
                <a:cs typeface="Arial"/>
              </a:rPr>
              <a:t>serveur vers </a:t>
            </a:r>
            <a:r>
              <a:rPr lang="fr-FR" sz="2000" spc="-5" dirty="0" smtClean="0">
                <a:cs typeface="Arial"/>
              </a:rPr>
              <a:t>le client,  </a:t>
            </a:r>
            <a:r>
              <a:rPr lang="fr-FR" sz="2000" dirty="0" smtClean="0">
                <a:cs typeface="Arial"/>
              </a:rPr>
              <a:t>puis supprimé </a:t>
            </a:r>
            <a:r>
              <a:rPr lang="fr-FR" sz="2000" spc="0" dirty="0" smtClean="0">
                <a:cs typeface="Arial"/>
              </a:rPr>
              <a:t>du</a:t>
            </a:r>
            <a:r>
              <a:rPr lang="fr-FR" sz="2000" spc="-55" dirty="0" smtClean="0">
                <a:cs typeface="Arial"/>
              </a:rPr>
              <a:t> </a:t>
            </a:r>
            <a:r>
              <a:rPr lang="fr-FR" sz="2000" spc="0" dirty="0" smtClean="0">
                <a:cs typeface="Arial"/>
              </a:rPr>
              <a:t>serveur</a:t>
            </a:r>
            <a:endParaRPr lang="fr-FR" sz="2000" dirty="0" smtClean="0">
              <a:cs typeface="Arial"/>
            </a:endParaRPr>
          </a:p>
          <a:p>
            <a:pPr marL="60325"/>
            <a:r>
              <a:rPr lang="fr-FR" sz="2000" dirty="0" smtClean="0">
                <a:solidFill>
                  <a:srgbClr val="FF0000"/>
                </a:solidFill>
                <a:cs typeface="Arial"/>
              </a:rPr>
              <a:t>IMAP</a:t>
            </a:r>
            <a:r>
              <a:rPr lang="fr-FR" sz="2000" spc="-25" dirty="0" smtClean="0">
                <a:solidFill>
                  <a:srgbClr val="FF0000"/>
                </a:solidFill>
                <a:cs typeface="Arial"/>
              </a:rPr>
              <a:t> </a:t>
            </a:r>
            <a:r>
              <a:rPr lang="fr-FR" sz="2000" dirty="0" smtClean="0">
                <a:solidFill>
                  <a:srgbClr val="FF0000"/>
                </a:solidFill>
                <a:cs typeface="Arial"/>
              </a:rPr>
              <a:t>(Internet</a:t>
            </a:r>
            <a:r>
              <a:rPr lang="fr-FR" sz="2000" spc="-30" dirty="0" smtClean="0">
                <a:solidFill>
                  <a:srgbClr val="FF0000"/>
                </a:solidFill>
                <a:cs typeface="Arial"/>
              </a:rPr>
              <a:t> </a:t>
            </a:r>
            <a:r>
              <a:rPr lang="fr-FR" sz="2000" dirty="0" smtClean="0">
                <a:solidFill>
                  <a:srgbClr val="FF0000"/>
                </a:solidFill>
                <a:cs typeface="Arial"/>
              </a:rPr>
              <a:t>Message</a:t>
            </a:r>
            <a:r>
              <a:rPr lang="fr-FR" sz="2000" spc="-70" dirty="0" smtClean="0">
                <a:solidFill>
                  <a:srgbClr val="FF0000"/>
                </a:solidFill>
                <a:cs typeface="Arial"/>
              </a:rPr>
              <a:t> </a:t>
            </a:r>
            <a:r>
              <a:rPr lang="fr-FR" sz="2000" spc="0" dirty="0" smtClean="0">
                <a:solidFill>
                  <a:srgbClr val="FF0000"/>
                </a:solidFill>
                <a:cs typeface="Arial"/>
              </a:rPr>
              <a:t>Access</a:t>
            </a:r>
            <a:r>
              <a:rPr lang="fr-FR" sz="2000" spc="-35" dirty="0" smtClean="0">
                <a:solidFill>
                  <a:srgbClr val="FF0000"/>
                </a:solidFill>
                <a:cs typeface="Arial"/>
              </a:rPr>
              <a:t> </a:t>
            </a:r>
            <a:r>
              <a:rPr lang="fr-FR" sz="2000" dirty="0" smtClean="0">
                <a:solidFill>
                  <a:srgbClr val="FF0000"/>
                </a:solidFill>
                <a:cs typeface="Arial"/>
              </a:rPr>
              <a:t>Protocol)</a:t>
            </a:r>
          </a:p>
          <a:p>
            <a:pPr marL="630555" marR="462915" lvl="1" indent="-112395">
              <a:lnSpc>
                <a:spcPct val="150000"/>
              </a:lnSpc>
              <a:buChar char="•"/>
              <a:tabLst>
                <a:tab pos="173990" algn="l"/>
              </a:tabLst>
            </a:pPr>
            <a:r>
              <a:rPr lang="fr-FR" sz="2000" dirty="0" smtClean="0">
                <a:cs typeface="Arial"/>
              </a:rPr>
              <a:t>Autre protocole qui </a:t>
            </a:r>
            <a:r>
              <a:rPr lang="fr-FR" sz="2000" spc="0" dirty="0" smtClean="0">
                <a:cs typeface="Arial"/>
              </a:rPr>
              <a:t>permet de </a:t>
            </a:r>
            <a:r>
              <a:rPr lang="fr-FR" sz="2000" dirty="0" smtClean="0">
                <a:cs typeface="Arial"/>
              </a:rPr>
              <a:t>récupérer </a:t>
            </a:r>
            <a:r>
              <a:rPr lang="fr-FR" sz="2000" spc="0" dirty="0" smtClean="0">
                <a:cs typeface="Arial"/>
              </a:rPr>
              <a:t>des</a:t>
            </a:r>
            <a:r>
              <a:rPr lang="fr-FR" sz="2000" spc="-85" dirty="0" smtClean="0">
                <a:cs typeface="Arial"/>
              </a:rPr>
              <a:t> </a:t>
            </a:r>
            <a:r>
              <a:rPr lang="fr-FR" sz="2000" spc="0" dirty="0" smtClean="0">
                <a:cs typeface="Arial"/>
              </a:rPr>
              <a:t>messages  </a:t>
            </a:r>
            <a:r>
              <a:rPr lang="fr-FR" sz="2000" dirty="0" smtClean="0">
                <a:cs typeface="Arial"/>
              </a:rPr>
              <a:t>électroniques</a:t>
            </a:r>
          </a:p>
          <a:p>
            <a:pPr marL="630555" marR="31750" lvl="1" indent="-112395">
              <a:lnSpc>
                <a:spcPct val="150000"/>
              </a:lnSpc>
              <a:spcBef>
                <a:spcPts val="15"/>
              </a:spcBef>
              <a:buChar char="•"/>
              <a:tabLst>
                <a:tab pos="173990" algn="l"/>
              </a:tabLst>
            </a:pPr>
            <a:r>
              <a:rPr lang="fr-FR" sz="2000" dirty="0" smtClean="0">
                <a:cs typeface="Arial"/>
              </a:rPr>
              <a:t>Contrairement </a:t>
            </a:r>
            <a:r>
              <a:rPr lang="fr-FR" sz="2000" spc="0" dirty="0" smtClean="0">
                <a:cs typeface="Arial"/>
              </a:rPr>
              <a:t>au </a:t>
            </a:r>
            <a:r>
              <a:rPr lang="fr-FR" sz="2000" dirty="0" smtClean="0">
                <a:cs typeface="Arial"/>
              </a:rPr>
              <a:t>protocole </a:t>
            </a:r>
            <a:r>
              <a:rPr lang="fr-FR" sz="2000" spc="-20" dirty="0" smtClean="0">
                <a:cs typeface="Arial"/>
              </a:rPr>
              <a:t>POP, </a:t>
            </a:r>
            <a:r>
              <a:rPr lang="fr-FR" sz="2000" dirty="0" smtClean="0">
                <a:cs typeface="Arial"/>
              </a:rPr>
              <a:t>lorsque </a:t>
            </a:r>
            <a:r>
              <a:rPr lang="fr-FR" sz="2000" spc="-5" dirty="0" smtClean="0">
                <a:cs typeface="Arial"/>
              </a:rPr>
              <a:t>l'utilisateur </a:t>
            </a:r>
            <a:r>
              <a:rPr lang="fr-FR" sz="2000" spc="0" dirty="0" smtClean="0">
                <a:cs typeface="Arial"/>
              </a:rPr>
              <a:t>se </a:t>
            </a:r>
            <a:r>
              <a:rPr lang="fr-FR" sz="2000" dirty="0" smtClean="0">
                <a:cs typeface="Arial"/>
              </a:rPr>
              <a:t>connecte </a:t>
            </a:r>
            <a:r>
              <a:rPr lang="fr-FR" sz="2000" spc="0" dirty="0" smtClean="0">
                <a:cs typeface="Arial"/>
              </a:rPr>
              <a:t>à  un serveur </a:t>
            </a:r>
            <a:r>
              <a:rPr lang="fr-FR" sz="2000" spc="-15" dirty="0" smtClean="0">
                <a:cs typeface="Arial"/>
              </a:rPr>
              <a:t>IMAP, </a:t>
            </a:r>
            <a:r>
              <a:rPr lang="fr-FR" sz="2000" spc="0" dirty="0" smtClean="0">
                <a:cs typeface="Arial"/>
              </a:rPr>
              <a:t>ce </a:t>
            </a:r>
            <a:r>
              <a:rPr lang="fr-FR" sz="2000" dirty="0" smtClean="0">
                <a:cs typeface="Arial"/>
              </a:rPr>
              <a:t>sont </a:t>
            </a:r>
            <a:r>
              <a:rPr lang="fr-FR" sz="2000" spc="0" dirty="0" smtClean="0">
                <a:cs typeface="Arial"/>
              </a:rPr>
              <a:t>des </a:t>
            </a:r>
            <a:r>
              <a:rPr lang="fr-FR" sz="2000" dirty="0" smtClean="0">
                <a:cs typeface="Arial"/>
              </a:rPr>
              <a:t>copies </a:t>
            </a:r>
            <a:r>
              <a:rPr lang="fr-FR" sz="2000" spc="0" dirty="0" smtClean="0">
                <a:cs typeface="Arial"/>
              </a:rPr>
              <a:t>des messages </a:t>
            </a:r>
            <a:r>
              <a:rPr lang="fr-FR" sz="2000" dirty="0" smtClean="0">
                <a:cs typeface="Arial"/>
              </a:rPr>
              <a:t>qui sont  envoyées </a:t>
            </a:r>
            <a:r>
              <a:rPr lang="fr-FR" sz="2000" spc="0" dirty="0" smtClean="0">
                <a:cs typeface="Arial"/>
              </a:rPr>
              <a:t>à </a:t>
            </a:r>
            <a:r>
              <a:rPr lang="fr-FR" sz="2000" spc="-5" dirty="0" smtClean="0">
                <a:cs typeface="Arial"/>
              </a:rPr>
              <a:t>l'application</a:t>
            </a:r>
            <a:r>
              <a:rPr lang="fr-FR" sz="2000" spc="-45" dirty="0" smtClean="0">
                <a:cs typeface="Arial"/>
              </a:rPr>
              <a:t> </a:t>
            </a:r>
            <a:r>
              <a:rPr lang="fr-FR" sz="2000" spc="-5" dirty="0" smtClean="0">
                <a:cs typeface="Arial"/>
              </a:rPr>
              <a:t>cliente</a:t>
            </a:r>
            <a:endParaRPr lang="fr-FR" sz="2000" dirty="0" smtClean="0">
              <a:cs typeface="Arial"/>
            </a:endParaRPr>
          </a:p>
          <a:p>
            <a:pPr marL="630555" lvl="1" indent="-112395">
              <a:lnSpc>
                <a:spcPct val="150000"/>
              </a:lnSpc>
              <a:buChar char="•"/>
              <a:tabLst>
                <a:tab pos="173990" algn="l"/>
              </a:tabLst>
            </a:pPr>
            <a:r>
              <a:rPr lang="fr-FR" sz="2000" spc="0" dirty="0" smtClean="0">
                <a:cs typeface="Arial"/>
              </a:rPr>
              <a:t>Les</a:t>
            </a:r>
            <a:r>
              <a:rPr lang="fr-FR" sz="2000" spc="-25" dirty="0" smtClean="0">
                <a:cs typeface="Arial"/>
              </a:rPr>
              <a:t> </a:t>
            </a:r>
            <a:r>
              <a:rPr lang="fr-FR" sz="2000" spc="0" dirty="0" smtClean="0">
                <a:cs typeface="Arial"/>
              </a:rPr>
              <a:t>messages</a:t>
            </a:r>
            <a:r>
              <a:rPr lang="fr-FR" sz="2000" spc="-35" dirty="0" smtClean="0">
                <a:cs typeface="Arial"/>
              </a:rPr>
              <a:t> </a:t>
            </a:r>
            <a:r>
              <a:rPr lang="fr-FR" sz="2000" dirty="0" smtClean="0">
                <a:cs typeface="Arial"/>
              </a:rPr>
              <a:t>originaux sont</a:t>
            </a:r>
            <a:r>
              <a:rPr lang="fr-FR" sz="2000" spc="-20" dirty="0" smtClean="0">
                <a:cs typeface="Arial"/>
              </a:rPr>
              <a:t> </a:t>
            </a:r>
            <a:r>
              <a:rPr lang="fr-FR" sz="2000" dirty="0" smtClean="0">
                <a:cs typeface="Arial"/>
              </a:rPr>
              <a:t>conservés</a:t>
            </a:r>
            <a:r>
              <a:rPr lang="fr-FR" sz="2000" spc="-35" dirty="0" smtClean="0">
                <a:cs typeface="Arial"/>
              </a:rPr>
              <a:t> </a:t>
            </a:r>
            <a:r>
              <a:rPr lang="fr-FR" sz="2000" dirty="0" smtClean="0">
                <a:cs typeface="Arial"/>
              </a:rPr>
              <a:t>sur</a:t>
            </a:r>
            <a:r>
              <a:rPr lang="fr-FR" sz="2000" spc="-10" dirty="0" smtClean="0">
                <a:cs typeface="Arial"/>
              </a:rPr>
              <a:t> </a:t>
            </a:r>
            <a:r>
              <a:rPr lang="fr-FR" sz="2000" spc="-5" dirty="0" smtClean="0">
                <a:cs typeface="Arial"/>
              </a:rPr>
              <a:t>le</a:t>
            </a:r>
            <a:r>
              <a:rPr lang="fr-FR" sz="2000" spc="25" dirty="0" smtClean="0">
                <a:cs typeface="Arial"/>
              </a:rPr>
              <a:t> </a:t>
            </a:r>
            <a:r>
              <a:rPr lang="fr-FR" sz="2000" spc="0" dirty="0" smtClean="0">
                <a:cs typeface="Arial"/>
              </a:rPr>
              <a:t>serveur</a:t>
            </a:r>
            <a:r>
              <a:rPr lang="fr-FR" sz="2000" spc="-45" dirty="0" smtClean="0">
                <a:cs typeface="Arial"/>
              </a:rPr>
              <a:t> </a:t>
            </a:r>
            <a:r>
              <a:rPr lang="fr-FR" sz="2000" dirty="0" smtClean="0">
                <a:cs typeface="Arial"/>
              </a:rPr>
              <a:t>jusqu'à</a:t>
            </a:r>
            <a:r>
              <a:rPr lang="fr-FR" sz="2000" spc="-35" dirty="0" smtClean="0">
                <a:cs typeface="Arial"/>
              </a:rPr>
              <a:t> </a:t>
            </a:r>
            <a:r>
              <a:rPr lang="fr-FR" sz="2000" spc="0" dirty="0" smtClean="0">
                <a:cs typeface="Arial"/>
              </a:rPr>
              <a:t>ce </a:t>
            </a:r>
            <a:r>
              <a:rPr lang="fr-FR" sz="2000" spc="-5" dirty="0" smtClean="0">
                <a:cs typeface="Arial"/>
              </a:rPr>
              <a:t>qu'ils </a:t>
            </a:r>
            <a:r>
              <a:rPr lang="fr-FR" sz="2000" dirty="0" smtClean="0">
                <a:cs typeface="Arial"/>
              </a:rPr>
              <a:t>soient supprimés</a:t>
            </a:r>
            <a:r>
              <a:rPr lang="fr-FR" sz="2000" spc="-30" dirty="0" smtClean="0">
                <a:cs typeface="Arial"/>
              </a:rPr>
              <a:t> </a:t>
            </a:r>
            <a:r>
              <a:rPr lang="fr-FR" sz="2000" dirty="0" smtClean="0">
                <a:cs typeface="Arial"/>
              </a:rPr>
              <a:t>manuellement</a:t>
            </a:r>
            <a:endParaRPr lang="fr-FR" sz="2000" dirty="0"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28600" y="228600"/>
            <a:ext cx="5295039" cy="2314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910"/>
              </a:lnSpc>
              <a:spcBef>
                <a:spcPts val="90"/>
              </a:spcBef>
            </a:pPr>
            <a:r>
              <a:rPr lang="fr-FR" b="1" spc="-10" dirty="0" smtClean="0">
                <a:solidFill>
                  <a:srgbClr val="6F8CA1"/>
                </a:solidFill>
                <a:latin typeface="Arial"/>
                <a:cs typeface="Arial"/>
              </a:rPr>
              <a:t>Les protocoles de couche application courants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152400" y="609600"/>
            <a:ext cx="4675382" cy="2702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1030"/>
              </a:lnSpc>
            </a:pPr>
            <a:r>
              <a:rPr lang="fr-FR" sz="2800" b="1" spc="5" dirty="0" smtClean="0">
                <a:solidFill>
                  <a:srgbClr val="6F8CA1"/>
                </a:solidFill>
                <a:latin typeface="Arial"/>
                <a:cs typeface="Arial"/>
              </a:rPr>
              <a:t>SMTP, </a:t>
            </a:r>
            <a:r>
              <a:rPr lang="fr-FR" sz="2800" b="1" spc="10" dirty="0" smtClean="0">
                <a:solidFill>
                  <a:srgbClr val="6F8CA1"/>
                </a:solidFill>
                <a:latin typeface="Arial"/>
                <a:cs typeface="Arial"/>
              </a:rPr>
              <a:t>POP </a:t>
            </a:r>
            <a:r>
              <a:rPr lang="fr-FR" sz="2800" b="1" spc="5" dirty="0" smtClean="0">
                <a:solidFill>
                  <a:srgbClr val="6F8CA1"/>
                </a:solidFill>
                <a:latin typeface="Arial"/>
                <a:cs typeface="Arial"/>
              </a:rPr>
              <a:t>et </a:t>
            </a:r>
            <a:r>
              <a:rPr lang="fr-FR" sz="2800" b="1" spc="0" dirty="0" smtClean="0">
                <a:solidFill>
                  <a:srgbClr val="6F8CA1"/>
                </a:solidFill>
                <a:latin typeface="Arial"/>
                <a:cs typeface="Arial"/>
              </a:rPr>
              <a:t>IMAP</a:t>
            </a:r>
            <a:r>
              <a:rPr lang="fr-FR" sz="2800" b="1" spc="-80" dirty="0" smtClean="0">
                <a:solidFill>
                  <a:srgbClr val="6F8CA1"/>
                </a:solidFill>
                <a:latin typeface="Arial"/>
                <a:cs typeface="Arial"/>
              </a:rPr>
              <a:t> </a:t>
            </a:r>
            <a:r>
              <a:rPr lang="fr-FR" sz="2800" b="1" spc="0" dirty="0" smtClean="0">
                <a:solidFill>
                  <a:srgbClr val="6F8CA1"/>
                </a:solidFill>
                <a:latin typeface="Arial"/>
                <a:cs typeface="Arial"/>
              </a:rPr>
              <a:t>(suite)</a:t>
            </a:r>
            <a:endParaRPr lang="fr-FR" sz="2800" dirty="0">
              <a:latin typeface="Arial"/>
              <a:cs typeface="Arial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71600" y="1143000"/>
            <a:ext cx="6906129" cy="5815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28600" y="228600"/>
            <a:ext cx="4079963" cy="2314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910"/>
              </a:lnSpc>
              <a:spcBef>
                <a:spcPts val="90"/>
              </a:spcBef>
            </a:pPr>
            <a:r>
              <a:rPr lang="fr-FR" b="1" spc="-10" dirty="0" smtClean="0">
                <a:solidFill>
                  <a:srgbClr val="6F8CA1"/>
                </a:solidFill>
                <a:latin typeface="Arial"/>
                <a:cs typeface="Arial"/>
              </a:rPr>
              <a:t>Fournir des services d'adressage IP</a:t>
            </a:r>
          </a:p>
        </p:txBody>
      </p:sp>
      <p:sp>
        <p:nvSpPr>
          <p:cNvPr id="6" name="Rectangle 5"/>
          <p:cNvSpPr/>
          <p:nvPr/>
        </p:nvSpPr>
        <p:spPr>
          <a:xfrm>
            <a:off x="152400" y="609600"/>
            <a:ext cx="4934684" cy="2702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1030"/>
              </a:lnSpc>
            </a:pPr>
            <a:r>
              <a:rPr lang="fr-FR" sz="2800" b="1" spc="10" dirty="0" smtClean="0">
                <a:solidFill>
                  <a:srgbClr val="6F8CA1"/>
                </a:solidFill>
                <a:latin typeface="Arial"/>
                <a:cs typeface="Arial"/>
              </a:rPr>
              <a:t>DNS </a:t>
            </a:r>
            <a:r>
              <a:rPr lang="fr-FR" sz="2800" b="1" spc="0" dirty="0" smtClean="0">
                <a:solidFill>
                  <a:srgbClr val="6F8CA1"/>
                </a:solidFill>
                <a:latin typeface="Arial"/>
                <a:cs typeface="Arial"/>
              </a:rPr>
              <a:t>(</a:t>
            </a:r>
            <a:r>
              <a:rPr lang="fr-FR" sz="2800" b="1" spc="0" dirty="0" err="1" smtClean="0">
                <a:solidFill>
                  <a:srgbClr val="6F8CA1"/>
                </a:solidFill>
                <a:latin typeface="Arial"/>
                <a:cs typeface="Arial"/>
              </a:rPr>
              <a:t>domain</a:t>
            </a:r>
            <a:r>
              <a:rPr lang="fr-FR" sz="2800" b="1" spc="0" dirty="0" smtClean="0">
                <a:solidFill>
                  <a:srgbClr val="6F8CA1"/>
                </a:solidFill>
                <a:latin typeface="Arial"/>
                <a:cs typeface="Arial"/>
              </a:rPr>
              <a:t> </a:t>
            </a:r>
            <a:r>
              <a:rPr lang="fr-FR" sz="2800" b="1" spc="5" dirty="0" err="1" smtClean="0">
                <a:solidFill>
                  <a:srgbClr val="6F8CA1"/>
                </a:solidFill>
                <a:latin typeface="Arial"/>
                <a:cs typeface="Arial"/>
              </a:rPr>
              <a:t>name</a:t>
            </a:r>
            <a:r>
              <a:rPr lang="fr-FR" sz="2800" b="1" spc="-95" dirty="0" smtClean="0">
                <a:solidFill>
                  <a:srgbClr val="6F8CA1"/>
                </a:solidFill>
                <a:latin typeface="Arial"/>
                <a:cs typeface="Arial"/>
              </a:rPr>
              <a:t> </a:t>
            </a:r>
            <a:r>
              <a:rPr lang="fr-FR" sz="2800" b="1" spc="0" dirty="0" smtClean="0">
                <a:solidFill>
                  <a:srgbClr val="6F8CA1"/>
                </a:solidFill>
                <a:latin typeface="Arial"/>
                <a:cs typeface="Arial"/>
              </a:rPr>
              <a:t>service)</a:t>
            </a:r>
            <a:endParaRPr lang="fr-FR" sz="2800" dirty="0">
              <a:latin typeface="Arial"/>
              <a:cs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28600" y="1371600"/>
            <a:ext cx="2895600" cy="41719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5080">
              <a:lnSpc>
                <a:spcPct val="101000"/>
              </a:lnSpc>
              <a:spcBef>
                <a:spcPts val="100"/>
              </a:spcBef>
              <a:buFont typeface="Arial" pitchFamily="34" charset="0"/>
              <a:buChar char="•"/>
            </a:pPr>
            <a:r>
              <a:rPr lang="fr-FR" sz="2000" spc="0" dirty="0" smtClean="0">
                <a:cs typeface="Arial"/>
              </a:rPr>
              <a:t>Un nom  </a:t>
            </a:r>
            <a:r>
              <a:rPr lang="fr-FR" sz="2000" dirty="0" smtClean="0">
                <a:cs typeface="Arial"/>
              </a:rPr>
              <a:t>compréhensible  par </a:t>
            </a:r>
            <a:r>
              <a:rPr lang="fr-FR" sz="2000" spc="-5" dirty="0" smtClean="0">
                <a:cs typeface="Arial"/>
              </a:rPr>
              <a:t>l'utilisateur  </a:t>
            </a:r>
            <a:r>
              <a:rPr lang="fr-FR" sz="2000" dirty="0" smtClean="0">
                <a:cs typeface="Arial"/>
              </a:rPr>
              <a:t>est converti par  </a:t>
            </a:r>
            <a:r>
              <a:rPr lang="fr-FR" sz="2000" spc="-5" dirty="0" smtClean="0">
                <a:cs typeface="Arial"/>
              </a:rPr>
              <a:t>le </a:t>
            </a:r>
            <a:r>
              <a:rPr lang="fr-FR" sz="2000" dirty="0" smtClean="0">
                <a:cs typeface="Arial"/>
              </a:rPr>
              <a:t>protocole</a:t>
            </a:r>
            <a:r>
              <a:rPr lang="fr-FR" sz="2000" spc="-65" dirty="0" smtClean="0">
                <a:cs typeface="Arial"/>
              </a:rPr>
              <a:t> </a:t>
            </a:r>
            <a:r>
              <a:rPr lang="fr-FR" sz="2000" spc="0" dirty="0" smtClean="0">
                <a:cs typeface="Arial"/>
              </a:rPr>
              <a:t>DNS  </a:t>
            </a:r>
            <a:r>
              <a:rPr lang="fr-FR" sz="2000" dirty="0" smtClean="0">
                <a:cs typeface="Arial"/>
              </a:rPr>
              <a:t>pour devenir </a:t>
            </a:r>
            <a:r>
              <a:rPr lang="fr-FR" sz="2000" spc="0" dirty="0" smtClean="0">
                <a:cs typeface="Arial"/>
              </a:rPr>
              <a:t>son  </a:t>
            </a:r>
            <a:r>
              <a:rPr lang="fr-FR" sz="2000" dirty="0" smtClean="0">
                <a:cs typeface="Arial"/>
              </a:rPr>
              <a:t>adresse </a:t>
            </a:r>
            <a:r>
              <a:rPr lang="fr-FR" sz="2000" spc="0" dirty="0" smtClean="0">
                <a:cs typeface="Arial"/>
              </a:rPr>
              <a:t>de  </a:t>
            </a:r>
            <a:r>
              <a:rPr lang="fr-FR" sz="2000" dirty="0" smtClean="0">
                <a:cs typeface="Arial"/>
              </a:rPr>
              <a:t>périphérique  réseau  numérique.</a:t>
            </a:r>
          </a:p>
          <a:p>
            <a:pPr marR="5080">
              <a:lnSpc>
                <a:spcPct val="101000"/>
              </a:lnSpc>
              <a:spcBef>
                <a:spcPts val="100"/>
              </a:spcBef>
            </a:pPr>
            <a:endParaRPr lang="fr-FR" sz="2000" dirty="0" smtClean="0">
              <a:cs typeface="Arial"/>
            </a:endParaRPr>
          </a:p>
          <a:p>
            <a:pPr marR="5080">
              <a:lnSpc>
                <a:spcPct val="101000"/>
              </a:lnSpc>
              <a:spcBef>
                <a:spcPts val="100"/>
              </a:spcBef>
            </a:pPr>
            <a:endParaRPr lang="fr-FR" sz="2000" dirty="0" smtClean="0">
              <a:cs typeface="Arial"/>
            </a:endParaRPr>
          </a:p>
          <a:p>
            <a:pPr marR="5080">
              <a:lnSpc>
                <a:spcPct val="101000"/>
              </a:lnSpc>
              <a:spcBef>
                <a:spcPts val="100"/>
              </a:spcBef>
              <a:buFont typeface="Arial" pitchFamily="34" charset="0"/>
              <a:buChar char="•"/>
            </a:pPr>
            <a:r>
              <a:rPr lang="fr-FR" sz="2000" dirty="0" smtClean="0"/>
              <a:t>Le protocole DNS utilise un ensemble distribué de serveurs pour convertir les noms associés à ces adresses en numéros. </a:t>
            </a:r>
            <a:endParaRPr lang="fr-FR" sz="2000" dirty="0">
              <a:cs typeface="Arial"/>
            </a:endParaRPr>
          </a:p>
        </p:txBody>
      </p:sp>
      <p:sp>
        <p:nvSpPr>
          <p:cNvPr id="9" name="object 7"/>
          <p:cNvSpPr/>
          <p:nvPr/>
        </p:nvSpPr>
        <p:spPr>
          <a:xfrm>
            <a:off x="3124200" y="838200"/>
            <a:ext cx="6629400" cy="2286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038600" y="3200400"/>
            <a:ext cx="4648200" cy="8382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9"/>
          <p:cNvSpPr/>
          <p:nvPr/>
        </p:nvSpPr>
        <p:spPr>
          <a:xfrm>
            <a:off x="3810000" y="4648200"/>
            <a:ext cx="5715000" cy="19812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28600" y="228600"/>
            <a:ext cx="4079963" cy="2314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910"/>
              </a:lnSpc>
              <a:spcBef>
                <a:spcPts val="90"/>
              </a:spcBef>
            </a:pPr>
            <a:r>
              <a:rPr lang="fr-FR" b="1" spc="-10" dirty="0" smtClean="0">
                <a:solidFill>
                  <a:srgbClr val="6F8CA1"/>
                </a:solidFill>
                <a:latin typeface="Arial"/>
                <a:cs typeface="Arial"/>
              </a:rPr>
              <a:t>Fournir des services d'adressage IP</a:t>
            </a:r>
          </a:p>
        </p:txBody>
      </p:sp>
      <p:sp>
        <p:nvSpPr>
          <p:cNvPr id="6" name="Rectangle 5"/>
          <p:cNvSpPr/>
          <p:nvPr/>
        </p:nvSpPr>
        <p:spPr>
          <a:xfrm>
            <a:off x="152400" y="609600"/>
            <a:ext cx="4934684" cy="2702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1030"/>
              </a:lnSpc>
            </a:pPr>
            <a:r>
              <a:rPr lang="fr-FR" sz="2800" b="1" spc="10" dirty="0" smtClean="0">
                <a:solidFill>
                  <a:srgbClr val="6F8CA1"/>
                </a:solidFill>
                <a:latin typeface="Arial"/>
                <a:cs typeface="Arial"/>
              </a:rPr>
              <a:t>DNS </a:t>
            </a:r>
            <a:r>
              <a:rPr lang="fr-FR" sz="2800" b="1" spc="0" dirty="0" smtClean="0">
                <a:solidFill>
                  <a:srgbClr val="6F8CA1"/>
                </a:solidFill>
                <a:latin typeface="Arial"/>
                <a:cs typeface="Arial"/>
              </a:rPr>
              <a:t>(</a:t>
            </a:r>
            <a:r>
              <a:rPr lang="fr-FR" sz="2800" b="1" spc="0" dirty="0" err="1" smtClean="0">
                <a:solidFill>
                  <a:srgbClr val="6F8CA1"/>
                </a:solidFill>
                <a:latin typeface="Arial"/>
                <a:cs typeface="Arial"/>
              </a:rPr>
              <a:t>domain</a:t>
            </a:r>
            <a:r>
              <a:rPr lang="fr-FR" sz="2800" b="1" spc="0" dirty="0" smtClean="0">
                <a:solidFill>
                  <a:srgbClr val="6F8CA1"/>
                </a:solidFill>
                <a:latin typeface="Arial"/>
                <a:cs typeface="Arial"/>
              </a:rPr>
              <a:t> </a:t>
            </a:r>
            <a:r>
              <a:rPr lang="fr-FR" sz="2800" b="1" spc="5" dirty="0" err="1" smtClean="0">
                <a:solidFill>
                  <a:srgbClr val="6F8CA1"/>
                </a:solidFill>
                <a:latin typeface="Arial"/>
                <a:cs typeface="Arial"/>
              </a:rPr>
              <a:t>name</a:t>
            </a:r>
            <a:r>
              <a:rPr lang="fr-FR" sz="2800" b="1" spc="-95" dirty="0" smtClean="0">
                <a:solidFill>
                  <a:srgbClr val="6F8CA1"/>
                </a:solidFill>
                <a:latin typeface="Arial"/>
                <a:cs typeface="Arial"/>
              </a:rPr>
              <a:t> </a:t>
            </a:r>
            <a:r>
              <a:rPr lang="fr-FR" sz="2800" b="1" spc="0" dirty="0" smtClean="0">
                <a:solidFill>
                  <a:srgbClr val="6F8CA1"/>
                </a:solidFill>
                <a:latin typeface="Arial"/>
                <a:cs typeface="Arial"/>
              </a:rPr>
              <a:t>service)</a:t>
            </a:r>
            <a:endParaRPr lang="fr-FR" sz="2800" dirty="0">
              <a:latin typeface="Arial"/>
              <a:cs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28600" y="1371600"/>
            <a:ext cx="2286000" cy="28800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5080">
              <a:lnSpc>
                <a:spcPct val="101000"/>
              </a:lnSpc>
              <a:spcBef>
                <a:spcPts val="100"/>
              </a:spcBef>
            </a:pPr>
            <a:r>
              <a:rPr lang="fr-FR" sz="2000" spc="0" dirty="0" smtClean="0">
                <a:cs typeface="Arial"/>
              </a:rPr>
              <a:t>Un nom  compréhensible par  l'utilisateur est  converti par le  protocole DNS pour  devenir son  adresse de  périphérique réseau  numérique.</a:t>
            </a:r>
          </a:p>
        </p:txBody>
      </p:sp>
      <p:sp>
        <p:nvSpPr>
          <p:cNvPr id="12" name="object 18"/>
          <p:cNvSpPr/>
          <p:nvPr/>
        </p:nvSpPr>
        <p:spPr>
          <a:xfrm>
            <a:off x="4267200" y="914400"/>
            <a:ext cx="5562600" cy="2209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21"/>
          <p:cNvSpPr/>
          <p:nvPr/>
        </p:nvSpPr>
        <p:spPr>
          <a:xfrm>
            <a:off x="4495800" y="3429000"/>
            <a:ext cx="4495800" cy="304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20"/>
          <p:cNvSpPr/>
          <p:nvPr/>
        </p:nvSpPr>
        <p:spPr>
          <a:xfrm>
            <a:off x="3962400" y="4038600"/>
            <a:ext cx="5562600" cy="14478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23"/>
          <p:cNvSpPr/>
          <p:nvPr/>
        </p:nvSpPr>
        <p:spPr>
          <a:xfrm>
            <a:off x="4267200" y="5715001"/>
            <a:ext cx="4967504" cy="4571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28600" y="228600"/>
            <a:ext cx="4079963" cy="2314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910"/>
              </a:lnSpc>
              <a:spcBef>
                <a:spcPts val="90"/>
              </a:spcBef>
            </a:pPr>
            <a:r>
              <a:rPr lang="fr-FR" b="1" spc="-10" dirty="0" smtClean="0">
                <a:solidFill>
                  <a:srgbClr val="6F8CA1"/>
                </a:solidFill>
                <a:latin typeface="Arial"/>
                <a:cs typeface="Arial"/>
              </a:rPr>
              <a:t>Fournir des services d'adressage IP</a:t>
            </a:r>
          </a:p>
        </p:txBody>
      </p:sp>
      <p:sp>
        <p:nvSpPr>
          <p:cNvPr id="6" name="Rectangle 5"/>
          <p:cNvSpPr/>
          <p:nvPr/>
        </p:nvSpPr>
        <p:spPr>
          <a:xfrm>
            <a:off x="152400" y="609600"/>
            <a:ext cx="4446730" cy="2702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1030"/>
              </a:lnSpc>
            </a:pPr>
            <a:r>
              <a:rPr lang="fr-FR" sz="2800" b="1" spc="5" dirty="0" smtClean="0">
                <a:solidFill>
                  <a:srgbClr val="6F8CA1"/>
                </a:solidFill>
                <a:latin typeface="Arial"/>
                <a:cs typeface="Arial"/>
              </a:rPr>
              <a:t>Format du message</a:t>
            </a:r>
            <a:r>
              <a:rPr lang="fr-FR" sz="2800" b="1" spc="-55" dirty="0" smtClean="0">
                <a:solidFill>
                  <a:srgbClr val="6F8CA1"/>
                </a:solidFill>
                <a:latin typeface="Arial"/>
                <a:cs typeface="Arial"/>
              </a:rPr>
              <a:t> </a:t>
            </a:r>
            <a:r>
              <a:rPr lang="fr-FR" sz="2800" b="1" spc="10" dirty="0" smtClean="0">
                <a:solidFill>
                  <a:srgbClr val="6F8CA1"/>
                </a:solidFill>
                <a:latin typeface="Arial"/>
                <a:cs typeface="Arial"/>
              </a:rPr>
              <a:t>DNS</a:t>
            </a:r>
            <a:endParaRPr lang="fr-FR" sz="2800" dirty="0">
              <a:latin typeface="Arial"/>
              <a:cs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04800" y="1143000"/>
            <a:ext cx="9144000" cy="60555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3820" marR="77470" indent="-58419">
              <a:spcBef>
                <a:spcPts val="530"/>
              </a:spcBef>
              <a:buChar char="•"/>
              <a:tabLst>
                <a:tab pos="83820" algn="l"/>
              </a:tabLst>
            </a:pPr>
            <a:r>
              <a:rPr lang="fr-FR" sz="2000" spc="10" dirty="0" smtClean="0">
                <a:cs typeface="Arial"/>
              </a:rPr>
              <a:t>Le serveur </a:t>
            </a:r>
            <a:r>
              <a:rPr lang="fr-FR" sz="2000" spc="15" dirty="0" smtClean="0">
                <a:cs typeface="Arial"/>
              </a:rPr>
              <a:t>DNS </a:t>
            </a:r>
            <a:r>
              <a:rPr lang="fr-FR" sz="2000" spc="10" dirty="0" smtClean="0">
                <a:cs typeface="Arial"/>
              </a:rPr>
              <a:t>stocke </a:t>
            </a:r>
            <a:r>
              <a:rPr lang="fr-FR" sz="2000" spc="5" dirty="0" smtClean="0">
                <a:cs typeface="Arial"/>
              </a:rPr>
              <a:t>différents types d'enregistrements </a:t>
            </a:r>
            <a:r>
              <a:rPr lang="fr-FR" sz="2000" spc="10" dirty="0" smtClean="0">
                <a:cs typeface="Arial"/>
              </a:rPr>
              <a:t>de ressource </a:t>
            </a:r>
            <a:r>
              <a:rPr lang="fr-FR" sz="2000" spc="0" dirty="0" smtClean="0">
                <a:cs typeface="Arial"/>
              </a:rPr>
              <a:t>utilisés  </a:t>
            </a:r>
            <a:r>
              <a:rPr lang="fr-FR" sz="2000" spc="10" dirty="0" smtClean="0">
                <a:cs typeface="Arial"/>
              </a:rPr>
              <a:t>pour </a:t>
            </a:r>
            <a:r>
              <a:rPr lang="fr-FR" sz="2000" spc="5" dirty="0" smtClean="0">
                <a:cs typeface="Arial"/>
              </a:rPr>
              <a:t>résoudre </a:t>
            </a:r>
            <a:r>
              <a:rPr lang="fr-FR" sz="2000" spc="0" dirty="0" smtClean="0">
                <a:cs typeface="Arial"/>
              </a:rPr>
              <a:t>les</a:t>
            </a:r>
            <a:r>
              <a:rPr lang="fr-FR" sz="2000" spc="40" dirty="0" smtClean="0">
                <a:cs typeface="Arial"/>
              </a:rPr>
              <a:t> </a:t>
            </a:r>
            <a:r>
              <a:rPr lang="fr-FR" sz="2000" spc="10" dirty="0" smtClean="0">
                <a:cs typeface="Arial"/>
              </a:rPr>
              <a:t>noms.</a:t>
            </a:r>
          </a:p>
          <a:p>
            <a:pPr marL="83820" marR="77470" indent="-58419">
              <a:spcBef>
                <a:spcPts val="530"/>
              </a:spcBef>
              <a:buChar char="•"/>
              <a:tabLst>
                <a:tab pos="83820" algn="l"/>
              </a:tabLst>
            </a:pPr>
            <a:endParaRPr lang="fr-FR" sz="2000" dirty="0" smtClean="0">
              <a:cs typeface="Arial"/>
            </a:endParaRPr>
          </a:p>
          <a:p>
            <a:pPr marL="83820" indent="-58419">
              <a:spcBef>
                <a:spcPts val="50"/>
              </a:spcBef>
              <a:buChar char="•"/>
              <a:tabLst>
                <a:tab pos="83820" algn="l"/>
              </a:tabLst>
            </a:pPr>
            <a:r>
              <a:rPr lang="fr-FR" sz="2000" spc="10" dirty="0" smtClean="0">
                <a:cs typeface="Arial"/>
              </a:rPr>
              <a:t>Ces </a:t>
            </a:r>
            <a:r>
              <a:rPr lang="fr-FR" sz="2000" spc="5" dirty="0" smtClean="0">
                <a:cs typeface="Arial"/>
              </a:rPr>
              <a:t>enregistrements contiennent </a:t>
            </a:r>
            <a:r>
              <a:rPr lang="fr-FR" sz="2000" spc="0" dirty="0" smtClean="0">
                <a:cs typeface="Arial"/>
              </a:rPr>
              <a:t>le </a:t>
            </a:r>
            <a:r>
              <a:rPr lang="fr-FR" sz="2000" spc="10" dirty="0" smtClean="0">
                <a:cs typeface="Arial"/>
              </a:rPr>
              <a:t>nom, </a:t>
            </a:r>
            <a:r>
              <a:rPr lang="fr-FR" sz="2000" spc="5" dirty="0" smtClean="0">
                <a:cs typeface="Arial"/>
              </a:rPr>
              <a:t>l'adresse et </a:t>
            </a:r>
            <a:r>
              <a:rPr lang="fr-FR" sz="2000" spc="0" dirty="0" smtClean="0">
                <a:cs typeface="Arial"/>
              </a:rPr>
              <a:t>le </a:t>
            </a:r>
            <a:r>
              <a:rPr lang="fr-FR" sz="2000" spc="5" dirty="0" smtClean="0">
                <a:cs typeface="Arial"/>
              </a:rPr>
              <a:t>type</a:t>
            </a:r>
            <a:r>
              <a:rPr lang="fr-FR" sz="2000" spc="90" dirty="0" smtClean="0">
                <a:cs typeface="Arial"/>
              </a:rPr>
              <a:t> </a:t>
            </a:r>
            <a:r>
              <a:rPr lang="fr-FR" sz="2000" spc="5" dirty="0" smtClean="0">
                <a:cs typeface="Arial"/>
              </a:rPr>
              <a:t>d'enregistrement.</a:t>
            </a:r>
          </a:p>
          <a:p>
            <a:pPr marL="83820" indent="-58419">
              <a:spcBef>
                <a:spcPts val="50"/>
              </a:spcBef>
              <a:buChar char="•"/>
              <a:tabLst>
                <a:tab pos="83820" algn="l"/>
              </a:tabLst>
            </a:pPr>
            <a:endParaRPr lang="fr-FR" sz="2000" dirty="0" smtClean="0">
              <a:cs typeface="Arial"/>
            </a:endParaRPr>
          </a:p>
          <a:p>
            <a:pPr marL="83820" indent="-58419">
              <a:spcBef>
                <a:spcPts val="45"/>
              </a:spcBef>
              <a:buChar char="•"/>
              <a:tabLst>
                <a:tab pos="83820" algn="l"/>
              </a:tabLst>
            </a:pPr>
            <a:r>
              <a:rPr lang="fr-FR" sz="2000" spc="10" dirty="0" smtClean="0">
                <a:cs typeface="Arial"/>
              </a:rPr>
              <a:t>Les </a:t>
            </a:r>
            <a:r>
              <a:rPr lang="fr-FR" sz="2000" spc="5" dirty="0" smtClean="0">
                <a:cs typeface="Arial"/>
              </a:rPr>
              <a:t>types d'enregistrements  </a:t>
            </a:r>
            <a:r>
              <a:rPr lang="fr-FR" sz="2000" spc="10" dirty="0" smtClean="0">
                <a:cs typeface="Arial"/>
              </a:rPr>
              <a:t>sont </a:t>
            </a:r>
            <a:r>
              <a:rPr lang="fr-FR" sz="2000" spc="0" dirty="0" smtClean="0">
                <a:cs typeface="Arial"/>
              </a:rPr>
              <a:t>les </a:t>
            </a:r>
            <a:r>
              <a:rPr lang="fr-FR" sz="2000" spc="5" dirty="0" smtClean="0">
                <a:cs typeface="Arial"/>
              </a:rPr>
              <a:t>suivants</a:t>
            </a:r>
            <a:r>
              <a:rPr lang="fr-FR" sz="2000" spc="-25" dirty="0" smtClean="0">
                <a:cs typeface="Arial"/>
              </a:rPr>
              <a:t> </a:t>
            </a:r>
            <a:r>
              <a:rPr lang="fr-FR" sz="2000" spc="5" dirty="0" smtClean="0">
                <a:cs typeface="Arial"/>
              </a:rPr>
              <a:t>:</a:t>
            </a:r>
            <a:endParaRPr lang="fr-FR" sz="2000" dirty="0" smtClean="0">
              <a:cs typeface="Arial"/>
            </a:endParaRPr>
          </a:p>
          <a:p>
            <a:pPr marL="234315" lvl="1" indent="-57785">
              <a:spcBef>
                <a:spcPts val="50"/>
              </a:spcBef>
              <a:buFont typeface="Arial"/>
              <a:buChar char="•"/>
              <a:tabLst>
                <a:tab pos="234950" algn="l"/>
              </a:tabLst>
            </a:pPr>
            <a:r>
              <a:rPr lang="fr-FR" sz="2000" b="1" spc="25" dirty="0" smtClean="0">
                <a:cs typeface="Arial"/>
              </a:rPr>
              <a:t>A </a:t>
            </a:r>
            <a:r>
              <a:rPr lang="fr-FR" sz="2000" spc="5" dirty="0" smtClean="0">
                <a:cs typeface="Arial"/>
              </a:rPr>
              <a:t>: </a:t>
            </a:r>
            <a:r>
              <a:rPr lang="fr-FR" sz="2000" spc="10" dirty="0" smtClean="0">
                <a:cs typeface="Arial"/>
              </a:rPr>
              <a:t>une adresse de </a:t>
            </a:r>
            <a:r>
              <a:rPr lang="fr-FR" sz="2000" spc="5" dirty="0" smtClean="0">
                <a:cs typeface="Arial"/>
              </a:rPr>
              <a:t>périphérique</a:t>
            </a:r>
            <a:r>
              <a:rPr lang="fr-FR" sz="2000" spc="15" dirty="0" smtClean="0">
                <a:cs typeface="Arial"/>
              </a:rPr>
              <a:t> </a:t>
            </a:r>
            <a:r>
              <a:rPr lang="fr-FR" sz="2000" spc="0" dirty="0" smtClean="0">
                <a:cs typeface="Arial"/>
              </a:rPr>
              <a:t>final</a:t>
            </a:r>
            <a:endParaRPr lang="fr-FR" sz="2000" dirty="0" smtClean="0">
              <a:cs typeface="Arial"/>
            </a:endParaRPr>
          </a:p>
          <a:p>
            <a:pPr marL="234315" lvl="1" indent="-57785">
              <a:spcBef>
                <a:spcPts val="50"/>
              </a:spcBef>
              <a:buFont typeface="Arial"/>
              <a:buChar char="•"/>
              <a:tabLst>
                <a:tab pos="234950" algn="l"/>
              </a:tabLst>
            </a:pPr>
            <a:r>
              <a:rPr lang="fr-FR" sz="2000" b="1" spc="15" dirty="0" smtClean="0">
                <a:cs typeface="Arial"/>
              </a:rPr>
              <a:t>NS </a:t>
            </a:r>
            <a:r>
              <a:rPr lang="fr-FR" sz="2000" b="1" spc="5" dirty="0" smtClean="0">
                <a:cs typeface="Arial"/>
              </a:rPr>
              <a:t>: </a:t>
            </a:r>
            <a:r>
              <a:rPr lang="fr-FR" sz="2000" spc="10" dirty="0" smtClean="0">
                <a:cs typeface="Arial"/>
              </a:rPr>
              <a:t>un serveur de noms </a:t>
            </a:r>
            <a:r>
              <a:rPr lang="fr-FR" sz="2000" spc="5" dirty="0" smtClean="0">
                <a:cs typeface="Arial"/>
              </a:rPr>
              <a:t>faisant</a:t>
            </a:r>
            <a:r>
              <a:rPr lang="fr-FR" sz="2000" spc="25" dirty="0" smtClean="0">
                <a:cs typeface="Arial"/>
              </a:rPr>
              <a:t> </a:t>
            </a:r>
            <a:r>
              <a:rPr lang="fr-FR" sz="2000" spc="5" dirty="0" smtClean="0">
                <a:cs typeface="Arial"/>
              </a:rPr>
              <a:t>autorité</a:t>
            </a:r>
            <a:endParaRPr lang="fr-FR" sz="2000" dirty="0" smtClean="0">
              <a:cs typeface="Arial"/>
            </a:endParaRPr>
          </a:p>
          <a:p>
            <a:pPr marL="234315" lvl="1" indent="-57785">
              <a:spcBef>
                <a:spcPts val="45"/>
              </a:spcBef>
              <a:buFont typeface="Arial"/>
              <a:buChar char="•"/>
              <a:tabLst>
                <a:tab pos="234950" algn="l"/>
              </a:tabLst>
            </a:pPr>
            <a:r>
              <a:rPr lang="fr-FR" sz="2000" b="1" spc="15" dirty="0" smtClean="0">
                <a:cs typeface="Arial"/>
              </a:rPr>
              <a:t>CNAME </a:t>
            </a:r>
            <a:r>
              <a:rPr lang="fr-FR" sz="2000" b="1" spc="5" dirty="0" smtClean="0">
                <a:cs typeface="Arial"/>
              </a:rPr>
              <a:t>: </a:t>
            </a:r>
            <a:r>
              <a:rPr lang="fr-FR" sz="2000" spc="0" dirty="0" smtClean="0">
                <a:cs typeface="Arial"/>
              </a:rPr>
              <a:t>le </a:t>
            </a:r>
            <a:r>
              <a:rPr lang="fr-FR" sz="2000" spc="15" dirty="0" smtClean="0">
                <a:cs typeface="Arial"/>
              </a:rPr>
              <a:t>nom </a:t>
            </a:r>
            <a:r>
              <a:rPr lang="fr-FR" sz="2000" spc="5" dirty="0" smtClean="0">
                <a:cs typeface="Arial"/>
              </a:rPr>
              <a:t>canonique (ou </a:t>
            </a:r>
            <a:r>
              <a:rPr lang="fr-FR" sz="2000" spc="15" dirty="0" smtClean="0">
                <a:cs typeface="Arial"/>
              </a:rPr>
              <a:t>nom </a:t>
            </a:r>
            <a:r>
              <a:rPr lang="fr-FR" sz="2000" spc="10" dirty="0" smtClean="0">
                <a:cs typeface="Arial"/>
              </a:rPr>
              <a:t>de </a:t>
            </a:r>
            <a:r>
              <a:rPr lang="fr-FR" sz="2000" spc="5" dirty="0" smtClean="0">
                <a:cs typeface="Arial"/>
              </a:rPr>
              <a:t>domaine complet) d'un </a:t>
            </a:r>
            <a:r>
              <a:rPr lang="fr-FR" sz="2000" spc="0" dirty="0" smtClean="0">
                <a:cs typeface="Arial"/>
              </a:rPr>
              <a:t>alias </a:t>
            </a:r>
            <a:r>
              <a:rPr lang="fr-FR" sz="2000" spc="5" dirty="0" smtClean="0">
                <a:cs typeface="Arial"/>
              </a:rPr>
              <a:t>;</a:t>
            </a:r>
            <a:r>
              <a:rPr lang="fr-FR" sz="2000" spc="-40" dirty="0" smtClean="0">
                <a:cs typeface="Arial"/>
              </a:rPr>
              <a:t> </a:t>
            </a:r>
            <a:r>
              <a:rPr lang="fr-FR" sz="2000" spc="0" dirty="0" smtClean="0">
                <a:cs typeface="Arial"/>
              </a:rPr>
              <a:t>utilisé</a:t>
            </a:r>
            <a:endParaRPr lang="fr-FR" sz="2000" dirty="0" smtClean="0">
              <a:cs typeface="Arial"/>
            </a:endParaRPr>
          </a:p>
          <a:p>
            <a:pPr marL="234315" marR="7620">
              <a:spcBef>
                <a:spcPts val="15"/>
              </a:spcBef>
            </a:pPr>
            <a:r>
              <a:rPr lang="fr-FR" sz="2000" spc="5" dirty="0" smtClean="0">
                <a:cs typeface="Arial"/>
              </a:rPr>
              <a:t>lorsque plusieurs services comportent </a:t>
            </a:r>
            <a:r>
              <a:rPr lang="fr-FR" sz="2000" spc="10" dirty="0" smtClean="0">
                <a:cs typeface="Arial"/>
              </a:rPr>
              <a:t>une adresse réseau </a:t>
            </a:r>
            <a:r>
              <a:rPr lang="fr-FR" sz="2000" spc="5" dirty="0" smtClean="0">
                <a:cs typeface="Arial"/>
              </a:rPr>
              <a:t>unique, mais </a:t>
            </a:r>
            <a:r>
              <a:rPr lang="fr-FR" sz="2000" spc="10" dirty="0" smtClean="0">
                <a:cs typeface="Arial"/>
              </a:rPr>
              <a:t>que  chaque </a:t>
            </a:r>
            <a:r>
              <a:rPr lang="fr-FR" sz="2000" spc="5" dirty="0" smtClean="0">
                <a:cs typeface="Arial"/>
              </a:rPr>
              <a:t>service </a:t>
            </a:r>
            <a:r>
              <a:rPr lang="fr-FR" sz="2000" spc="15" dirty="0" smtClean="0">
                <a:cs typeface="Arial"/>
              </a:rPr>
              <a:t>a sa </a:t>
            </a:r>
            <a:r>
              <a:rPr lang="fr-FR" sz="2000" spc="5" dirty="0" smtClean="0">
                <a:cs typeface="Arial"/>
              </a:rPr>
              <a:t>propre entrée </a:t>
            </a:r>
            <a:r>
              <a:rPr lang="fr-FR" sz="2000" spc="10" dirty="0" smtClean="0">
                <a:cs typeface="Arial"/>
              </a:rPr>
              <a:t>dans </a:t>
            </a:r>
            <a:r>
              <a:rPr lang="fr-FR" sz="2000" spc="0" dirty="0" smtClean="0">
                <a:cs typeface="Arial"/>
              </a:rPr>
              <a:t>le</a:t>
            </a:r>
            <a:r>
              <a:rPr lang="fr-FR" sz="2000" spc="50" dirty="0" smtClean="0">
                <a:cs typeface="Arial"/>
              </a:rPr>
              <a:t> </a:t>
            </a:r>
            <a:r>
              <a:rPr lang="fr-FR" sz="2000" spc="15" dirty="0" smtClean="0">
                <a:cs typeface="Arial"/>
              </a:rPr>
              <a:t>DNS</a:t>
            </a:r>
            <a:endParaRPr lang="fr-FR" sz="2000" dirty="0" smtClean="0">
              <a:cs typeface="Arial"/>
            </a:endParaRPr>
          </a:p>
          <a:p>
            <a:pPr marL="234315" marR="74295" lvl="1" indent="-57785">
              <a:buFont typeface="Arial"/>
              <a:buChar char="•"/>
              <a:tabLst>
                <a:tab pos="234950" algn="l"/>
              </a:tabLst>
            </a:pPr>
            <a:r>
              <a:rPr lang="fr-FR" sz="2000" b="1" spc="25" dirty="0" smtClean="0">
                <a:cs typeface="Arial"/>
              </a:rPr>
              <a:t>MX </a:t>
            </a:r>
            <a:r>
              <a:rPr lang="fr-FR" sz="2000" b="1" spc="5" dirty="0" smtClean="0">
                <a:cs typeface="Arial"/>
              </a:rPr>
              <a:t>: </a:t>
            </a:r>
            <a:r>
              <a:rPr lang="fr-FR" sz="2000" spc="5" dirty="0" smtClean="0">
                <a:cs typeface="Arial"/>
              </a:rPr>
              <a:t>enregistrement </a:t>
            </a:r>
            <a:r>
              <a:rPr lang="fr-FR" sz="2000" spc="25" dirty="0" smtClean="0">
                <a:cs typeface="Arial"/>
              </a:rPr>
              <a:t>MX </a:t>
            </a:r>
            <a:r>
              <a:rPr lang="fr-FR" sz="2000" spc="5" dirty="0" smtClean="0">
                <a:cs typeface="Arial"/>
              </a:rPr>
              <a:t>(Mail </a:t>
            </a:r>
            <a:r>
              <a:rPr lang="fr-FR" sz="2000" spc="5" dirty="0" err="1" smtClean="0">
                <a:cs typeface="Arial"/>
              </a:rPr>
              <a:t>eXchanger</a:t>
            </a:r>
            <a:r>
              <a:rPr lang="fr-FR" sz="2000" spc="5" dirty="0" smtClean="0">
                <a:cs typeface="Arial"/>
              </a:rPr>
              <a:t>) ; associe </a:t>
            </a:r>
            <a:r>
              <a:rPr lang="fr-FR" sz="2000" spc="10" dirty="0" smtClean="0">
                <a:cs typeface="Arial"/>
              </a:rPr>
              <a:t>un </a:t>
            </a:r>
            <a:r>
              <a:rPr lang="fr-FR" sz="2000" spc="15" dirty="0" smtClean="0">
                <a:cs typeface="Arial"/>
              </a:rPr>
              <a:t>nom </a:t>
            </a:r>
            <a:r>
              <a:rPr lang="fr-FR" sz="2000" spc="10" dirty="0" smtClean="0">
                <a:cs typeface="Arial"/>
              </a:rPr>
              <a:t>de </a:t>
            </a:r>
            <a:r>
              <a:rPr lang="fr-FR" sz="2000" spc="5" dirty="0" smtClean="0">
                <a:cs typeface="Arial"/>
              </a:rPr>
              <a:t>domaine </a:t>
            </a:r>
            <a:r>
              <a:rPr lang="fr-FR" sz="2000" spc="15" dirty="0" smtClean="0">
                <a:cs typeface="Arial"/>
              </a:rPr>
              <a:t>à  </a:t>
            </a:r>
            <a:r>
              <a:rPr lang="fr-FR" sz="2000" spc="10" dirty="0" smtClean="0">
                <a:cs typeface="Arial"/>
              </a:rPr>
              <a:t>une </a:t>
            </a:r>
            <a:r>
              <a:rPr lang="fr-FR" sz="2000" spc="0" dirty="0" smtClean="0">
                <a:cs typeface="Arial"/>
              </a:rPr>
              <a:t>liste </a:t>
            </a:r>
            <a:r>
              <a:rPr lang="fr-FR" sz="2000" spc="10" dirty="0" smtClean="0">
                <a:cs typeface="Arial"/>
              </a:rPr>
              <a:t>de serveurs de</a:t>
            </a:r>
            <a:r>
              <a:rPr lang="fr-FR" sz="2000" spc="25" dirty="0" smtClean="0">
                <a:cs typeface="Arial"/>
              </a:rPr>
              <a:t> </a:t>
            </a:r>
            <a:r>
              <a:rPr lang="fr-FR" sz="2000" spc="5" dirty="0" smtClean="0">
                <a:cs typeface="Arial"/>
              </a:rPr>
              <a:t>messagerie</a:t>
            </a:r>
          </a:p>
          <a:p>
            <a:pPr marL="234315" marR="74295" lvl="1" indent="-57785">
              <a:buFont typeface="Arial"/>
              <a:buChar char="•"/>
              <a:tabLst>
                <a:tab pos="234950" algn="l"/>
              </a:tabLst>
            </a:pPr>
            <a:endParaRPr lang="fr-FR" sz="2000" dirty="0" smtClean="0">
              <a:cs typeface="Arial"/>
            </a:endParaRPr>
          </a:p>
          <a:p>
            <a:pPr marL="83820" marR="292100" indent="-58419">
              <a:buChar char="•"/>
              <a:tabLst>
                <a:tab pos="83820" algn="l"/>
              </a:tabLst>
            </a:pPr>
            <a:r>
              <a:rPr lang="fr-FR" sz="2000" spc="10" dirty="0" smtClean="0">
                <a:cs typeface="Arial"/>
              </a:rPr>
              <a:t>Le serveur ne </a:t>
            </a:r>
            <a:r>
              <a:rPr lang="fr-FR" sz="2000" spc="5" dirty="0" smtClean="0">
                <a:cs typeface="Arial"/>
              </a:rPr>
              <a:t>peut </a:t>
            </a:r>
            <a:r>
              <a:rPr lang="fr-FR" sz="2000" spc="10" dirty="0" smtClean="0">
                <a:cs typeface="Arial"/>
              </a:rPr>
              <a:t>pas </a:t>
            </a:r>
            <a:r>
              <a:rPr lang="fr-FR" sz="2000" spc="5" dirty="0" smtClean="0">
                <a:cs typeface="Arial"/>
              </a:rPr>
              <a:t>résoudre </a:t>
            </a:r>
            <a:r>
              <a:rPr lang="fr-FR" sz="2000" spc="0" dirty="0" smtClean="0">
                <a:cs typeface="Arial"/>
              </a:rPr>
              <a:t>le </a:t>
            </a:r>
            <a:r>
              <a:rPr lang="fr-FR" sz="2000" spc="15" dirty="0" smtClean="0">
                <a:cs typeface="Arial"/>
              </a:rPr>
              <a:t>nom </a:t>
            </a:r>
            <a:r>
              <a:rPr lang="fr-FR" sz="2000" spc="10" dirty="0" smtClean="0">
                <a:cs typeface="Arial"/>
              </a:rPr>
              <a:t>en </a:t>
            </a:r>
            <a:r>
              <a:rPr lang="fr-FR" sz="2000" spc="0" dirty="0" smtClean="0">
                <a:cs typeface="Arial"/>
              </a:rPr>
              <a:t>utilisant </a:t>
            </a:r>
            <a:r>
              <a:rPr lang="fr-FR" sz="2000" spc="10" dirty="0" smtClean="0">
                <a:cs typeface="Arial"/>
              </a:rPr>
              <a:t>ses </a:t>
            </a:r>
            <a:r>
              <a:rPr lang="fr-FR" sz="2000" spc="5" dirty="0" smtClean="0">
                <a:cs typeface="Arial"/>
              </a:rPr>
              <a:t>enregistrements  </a:t>
            </a:r>
            <a:r>
              <a:rPr lang="fr-FR" sz="2000" spc="10" dirty="0" smtClean="0">
                <a:cs typeface="Arial"/>
              </a:rPr>
              <a:t>stockés </a:t>
            </a:r>
            <a:r>
              <a:rPr lang="fr-FR" sz="2000" spc="5" dirty="0" smtClean="0">
                <a:cs typeface="Arial"/>
              </a:rPr>
              <a:t>; </a:t>
            </a:r>
            <a:r>
              <a:rPr lang="fr-FR" sz="2000" dirty="0" smtClean="0">
                <a:cs typeface="Arial"/>
              </a:rPr>
              <a:t>il </a:t>
            </a:r>
            <a:r>
              <a:rPr lang="fr-FR" sz="2000" spc="10" dirty="0" smtClean="0">
                <a:cs typeface="Arial"/>
              </a:rPr>
              <a:t>contacte </a:t>
            </a:r>
            <a:r>
              <a:rPr lang="fr-FR" sz="2000" spc="5" dirty="0" smtClean="0">
                <a:cs typeface="Arial"/>
              </a:rPr>
              <a:t>d'autres</a:t>
            </a:r>
            <a:r>
              <a:rPr lang="fr-FR" sz="2000" spc="15" dirty="0" smtClean="0">
                <a:cs typeface="Arial"/>
              </a:rPr>
              <a:t> </a:t>
            </a:r>
            <a:r>
              <a:rPr lang="fr-FR" sz="2000" spc="10" dirty="0" smtClean="0">
                <a:cs typeface="Arial"/>
              </a:rPr>
              <a:t>serveurs</a:t>
            </a:r>
            <a:endParaRPr lang="fr-FR" sz="2000" dirty="0" smtClean="0">
              <a:cs typeface="Arial"/>
            </a:endParaRPr>
          </a:p>
          <a:p>
            <a:pPr marL="83820" marR="72390" indent="-58419">
              <a:buChar char="•"/>
              <a:tabLst>
                <a:tab pos="83820" algn="l"/>
              </a:tabLst>
            </a:pPr>
            <a:r>
              <a:rPr lang="fr-FR" sz="2000" spc="10" dirty="0" smtClean="0">
                <a:cs typeface="Arial"/>
              </a:rPr>
              <a:t>Le serveur stocke </a:t>
            </a:r>
            <a:r>
              <a:rPr lang="fr-FR" sz="2000" spc="5" dirty="0" smtClean="0">
                <a:cs typeface="Arial"/>
              </a:rPr>
              <a:t>temporairement l'adresse numérique qui </a:t>
            </a:r>
            <a:r>
              <a:rPr lang="fr-FR" sz="2000" spc="10" dirty="0" smtClean="0">
                <a:cs typeface="Arial"/>
              </a:rPr>
              <a:t>correspond au </a:t>
            </a:r>
            <a:r>
              <a:rPr lang="fr-FR" sz="2000" spc="15" dirty="0" smtClean="0">
                <a:cs typeface="Arial"/>
              </a:rPr>
              <a:t>nom  </a:t>
            </a:r>
            <a:r>
              <a:rPr lang="fr-FR" sz="2000" spc="10" dirty="0" smtClean="0">
                <a:cs typeface="Arial"/>
              </a:rPr>
              <a:t>dans </a:t>
            </a:r>
            <a:r>
              <a:rPr lang="fr-FR" sz="2000" spc="0" dirty="0" smtClean="0">
                <a:cs typeface="Arial"/>
              </a:rPr>
              <a:t>la </a:t>
            </a:r>
            <a:r>
              <a:rPr lang="fr-FR" sz="2000" spc="10" dirty="0" smtClean="0">
                <a:cs typeface="Arial"/>
              </a:rPr>
              <a:t>mémoire</a:t>
            </a:r>
            <a:r>
              <a:rPr lang="fr-FR" sz="2000" spc="55" dirty="0" smtClean="0">
                <a:cs typeface="Arial"/>
              </a:rPr>
              <a:t> </a:t>
            </a:r>
            <a:r>
              <a:rPr lang="fr-FR" sz="2000" spc="10" dirty="0" smtClean="0">
                <a:cs typeface="Arial"/>
              </a:rPr>
              <a:t>cache</a:t>
            </a:r>
            <a:endParaRPr lang="fr-FR" sz="2000" dirty="0" smtClean="0">
              <a:cs typeface="Arial"/>
            </a:endParaRPr>
          </a:p>
          <a:p>
            <a:pPr marL="83820" marR="71755" indent="-58419">
              <a:buChar char="•"/>
              <a:tabLst>
                <a:tab pos="83820" algn="l"/>
              </a:tabLst>
            </a:pPr>
            <a:r>
              <a:rPr lang="fr-FR" sz="2000" spc="10" dirty="0" smtClean="0">
                <a:cs typeface="Arial"/>
              </a:rPr>
              <a:t>Dans Windows, </a:t>
            </a:r>
            <a:r>
              <a:rPr lang="fr-FR" sz="2000" b="1" spc="10" dirty="0" err="1" smtClean="0">
                <a:cs typeface="Arial"/>
              </a:rPr>
              <a:t>ipconfig</a:t>
            </a:r>
            <a:r>
              <a:rPr lang="fr-FR" sz="2000" b="1" spc="10" dirty="0" smtClean="0">
                <a:cs typeface="Arial"/>
              </a:rPr>
              <a:t> /</a:t>
            </a:r>
            <a:r>
              <a:rPr lang="fr-FR" sz="2000" b="1" spc="10" dirty="0" err="1" smtClean="0">
                <a:cs typeface="Arial"/>
              </a:rPr>
              <a:t>displaydns</a:t>
            </a:r>
            <a:r>
              <a:rPr lang="fr-FR" sz="2000" b="1" spc="10" dirty="0" smtClean="0">
                <a:cs typeface="Arial"/>
              </a:rPr>
              <a:t> </a:t>
            </a:r>
            <a:r>
              <a:rPr lang="fr-FR" sz="2000" spc="5" dirty="0" smtClean="0">
                <a:cs typeface="Arial"/>
              </a:rPr>
              <a:t>affiche toutes </a:t>
            </a:r>
            <a:r>
              <a:rPr lang="fr-FR" sz="2000" spc="0" dirty="0" smtClean="0">
                <a:cs typeface="Arial"/>
              </a:rPr>
              <a:t>les </a:t>
            </a:r>
            <a:r>
              <a:rPr lang="fr-FR" sz="2000" spc="5" dirty="0" smtClean="0">
                <a:cs typeface="Arial"/>
              </a:rPr>
              <a:t>entrées </a:t>
            </a:r>
            <a:r>
              <a:rPr lang="fr-FR" sz="2000" spc="15" dirty="0" smtClean="0">
                <a:cs typeface="Arial"/>
              </a:rPr>
              <a:t>DNS </a:t>
            </a:r>
            <a:r>
              <a:rPr lang="fr-FR" sz="2000" spc="5" dirty="0" smtClean="0">
                <a:cs typeface="Arial"/>
              </a:rPr>
              <a:t>mises </a:t>
            </a:r>
            <a:r>
              <a:rPr lang="fr-FR" sz="2000" spc="10" dirty="0" smtClean="0">
                <a:cs typeface="Arial"/>
              </a:rPr>
              <a:t>en  cache</a:t>
            </a:r>
            <a:endParaRPr lang="fr-FR" sz="2000" dirty="0"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28600" y="228600"/>
            <a:ext cx="4079963" cy="2314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910"/>
              </a:lnSpc>
              <a:spcBef>
                <a:spcPts val="90"/>
              </a:spcBef>
            </a:pPr>
            <a:r>
              <a:rPr lang="fr-FR" b="1" spc="-10" dirty="0" smtClean="0">
                <a:solidFill>
                  <a:srgbClr val="6F8CA1"/>
                </a:solidFill>
                <a:latin typeface="Arial"/>
                <a:cs typeface="Arial"/>
              </a:rPr>
              <a:t>Fournir des services d'adressage IP</a:t>
            </a:r>
          </a:p>
        </p:txBody>
      </p:sp>
      <p:sp>
        <p:nvSpPr>
          <p:cNvPr id="6" name="Rectangle 5"/>
          <p:cNvSpPr/>
          <p:nvPr/>
        </p:nvSpPr>
        <p:spPr>
          <a:xfrm>
            <a:off x="152400" y="609600"/>
            <a:ext cx="2805255" cy="2702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1030"/>
              </a:lnSpc>
            </a:pPr>
            <a:r>
              <a:rPr lang="fr-FR" sz="2800" b="1" spc="5" dirty="0" smtClean="0">
                <a:solidFill>
                  <a:srgbClr val="6F8CA1"/>
                </a:solidFill>
                <a:latin typeface="Arial"/>
                <a:cs typeface="Arial"/>
              </a:rPr>
              <a:t>Hiérarchie</a:t>
            </a:r>
            <a:r>
              <a:rPr lang="fr-FR" sz="2800" b="1" spc="-45" dirty="0" smtClean="0">
                <a:solidFill>
                  <a:srgbClr val="6F8CA1"/>
                </a:solidFill>
                <a:latin typeface="Arial"/>
                <a:cs typeface="Arial"/>
              </a:rPr>
              <a:t> </a:t>
            </a:r>
            <a:r>
              <a:rPr lang="fr-FR" sz="2800" b="1" spc="10" dirty="0" smtClean="0">
                <a:solidFill>
                  <a:srgbClr val="6F8CA1"/>
                </a:solidFill>
                <a:latin typeface="Arial"/>
                <a:cs typeface="Arial"/>
              </a:rPr>
              <a:t>DNS</a:t>
            </a:r>
            <a:endParaRPr lang="fr-FR" sz="2800" dirty="0">
              <a:latin typeface="Arial"/>
              <a:cs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04800" y="1143000"/>
            <a:ext cx="22098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47625">
              <a:spcBef>
                <a:spcPts val="190"/>
              </a:spcBef>
            </a:pPr>
            <a:r>
              <a:rPr lang="fr-FR" sz="2000" dirty="0" smtClean="0">
                <a:cs typeface="Arial"/>
              </a:rPr>
              <a:t>Exemples </a:t>
            </a:r>
            <a:r>
              <a:rPr lang="fr-FR" sz="2000" spc="0" dirty="0" smtClean="0">
                <a:cs typeface="Arial"/>
              </a:rPr>
              <a:t>de  </a:t>
            </a:r>
            <a:r>
              <a:rPr lang="fr-FR" sz="2000" dirty="0" smtClean="0">
                <a:cs typeface="Arial"/>
              </a:rPr>
              <a:t>domaines </a:t>
            </a:r>
            <a:r>
              <a:rPr lang="fr-FR" sz="2000" spc="0" dirty="0" smtClean="0">
                <a:cs typeface="Arial"/>
              </a:rPr>
              <a:t>de  </a:t>
            </a:r>
            <a:r>
              <a:rPr lang="fr-FR" sz="2000" dirty="0" smtClean="0">
                <a:cs typeface="Arial"/>
              </a:rPr>
              <a:t>premier niveau</a:t>
            </a:r>
            <a:r>
              <a:rPr lang="fr-FR" sz="2000" spc="-80" dirty="0" smtClean="0">
                <a:cs typeface="Arial"/>
              </a:rPr>
              <a:t> </a:t>
            </a:r>
            <a:r>
              <a:rPr lang="fr-FR" sz="2000" dirty="0" smtClean="0">
                <a:cs typeface="Arial"/>
              </a:rPr>
              <a:t>:</a:t>
            </a:r>
          </a:p>
          <a:p>
            <a:pPr>
              <a:spcBef>
                <a:spcPts val="45"/>
              </a:spcBef>
            </a:pPr>
            <a:endParaRPr lang="fr-FR" sz="2000" dirty="0" smtClean="0">
              <a:cs typeface="Times New Roman"/>
            </a:endParaRPr>
          </a:p>
          <a:p>
            <a:r>
              <a:rPr lang="fr-FR" sz="2000" b="1" dirty="0" smtClean="0">
                <a:cs typeface="Arial"/>
              </a:rPr>
              <a:t>.au :</a:t>
            </a:r>
            <a:r>
              <a:rPr lang="fr-FR" sz="2000" b="1" spc="-35" dirty="0" smtClean="0">
                <a:cs typeface="Arial"/>
              </a:rPr>
              <a:t> </a:t>
            </a:r>
            <a:r>
              <a:rPr lang="fr-FR" sz="2000" spc="-5" dirty="0" smtClean="0">
                <a:cs typeface="Arial"/>
              </a:rPr>
              <a:t>Australie</a:t>
            </a:r>
            <a:endParaRPr lang="fr-FR" sz="2000" dirty="0" smtClean="0">
              <a:cs typeface="Arial"/>
            </a:endParaRPr>
          </a:p>
          <a:p>
            <a:pPr>
              <a:spcBef>
                <a:spcPts val="5"/>
              </a:spcBef>
            </a:pPr>
            <a:endParaRPr lang="fr-FR" sz="2000" dirty="0" smtClean="0">
              <a:cs typeface="Times New Roman"/>
            </a:endParaRPr>
          </a:p>
          <a:p>
            <a:r>
              <a:rPr lang="fr-FR" sz="2000" b="1" dirty="0" smtClean="0">
                <a:cs typeface="Arial"/>
              </a:rPr>
              <a:t>.</a:t>
            </a:r>
            <a:r>
              <a:rPr lang="fr-FR" sz="2000" b="1" dirty="0" err="1" smtClean="0">
                <a:cs typeface="Arial"/>
              </a:rPr>
              <a:t>co</a:t>
            </a:r>
            <a:r>
              <a:rPr lang="fr-FR" sz="2000" b="1" dirty="0" smtClean="0">
                <a:cs typeface="Arial"/>
              </a:rPr>
              <a:t> :</a:t>
            </a:r>
            <a:r>
              <a:rPr lang="fr-FR" sz="2000" b="1" spc="-40" dirty="0" smtClean="0">
                <a:cs typeface="Arial"/>
              </a:rPr>
              <a:t> </a:t>
            </a:r>
            <a:r>
              <a:rPr lang="fr-FR" sz="2000" dirty="0" smtClean="0">
                <a:cs typeface="Arial"/>
              </a:rPr>
              <a:t>Colombie</a:t>
            </a:r>
          </a:p>
          <a:p>
            <a:pPr>
              <a:spcBef>
                <a:spcPts val="20"/>
              </a:spcBef>
            </a:pPr>
            <a:endParaRPr lang="fr-FR" sz="2000" dirty="0" smtClean="0">
              <a:cs typeface="Times New Roman"/>
            </a:endParaRPr>
          </a:p>
          <a:p>
            <a:pPr marR="5080"/>
            <a:r>
              <a:rPr lang="fr-FR" sz="2000" b="1" dirty="0" smtClean="0">
                <a:cs typeface="Arial"/>
              </a:rPr>
              <a:t>.</a:t>
            </a:r>
            <a:r>
              <a:rPr lang="fr-FR" sz="2000" b="1" dirty="0" err="1" smtClean="0">
                <a:cs typeface="Arial"/>
              </a:rPr>
              <a:t>com</a:t>
            </a:r>
            <a:r>
              <a:rPr lang="fr-FR" sz="2000" b="1" dirty="0" smtClean="0">
                <a:cs typeface="Arial"/>
              </a:rPr>
              <a:t> :</a:t>
            </a:r>
            <a:r>
              <a:rPr lang="fr-FR" sz="2000" b="1" spc="-65" dirty="0" smtClean="0">
                <a:cs typeface="Arial"/>
              </a:rPr>
              <a:t> </a:t>
            </a:r>
            <a:r>
              <a:rPr lang="fr-FR" sz="2000" dirty="0" smtClean="0">
                <a:cs typeface="Arial"/>
              </a:rPr>
              <a:t>entreprise  </a:t>
            </a:r>
            <a:r>
              <a:rPr lang="fr-FR" sz="2000" spc="0" dirty="0" smtClean="0">
                <a:cs typeface="Arial"/>
              </a:rPr>
              <a:t>ou</a:t>
            </a:r>
            <a:r>
              <a:rPr lang="fr-FR" sz="2000" spc="-25" dirty="0" smtClean="0">
                <a:cs typeface="Arial"/>
              </a:rPr>
              <a:t> </a:t>
            </a:r>
            <a:r>
              <a:rPr lang="fr-FR" sz="2000" spc="-5" dirty="0" smtClean="0">
                <a:cs typeface="Arial"/>
              </a:rPr>
              <a:t>industrie</a:t>
            </a:r>
            <a:endParaRPr lang="fr-FR" sz="2000" dirty="0" smtClean="0">
              <a:cs typeface="Arial"/>
            </a:endParaRPr>
          </a:p>
          <a:p>
            <a:pPr>
              <a:spcBef>
                <a:spcPts val="45"/>
              </a:spcBef>
            </a:pPr>
            <a:endParaRPr lang="fr-FR" sz="2000" dirty="0" smtClean="0">
              <a:cs typeface="Times New Roman"/>
            </a:endParaRPr>
          </a:p>
          <a:p>
            <a:r>
              <a:rPr lang="fr-FR" sz="2000" b="1" dirty="0" smtClean="0">
                <a:cs typeface="Arial"/>
              </a:rPr>
              <a:t>.</a:t>
            </a:r>
            <a:r>
              <a:rPr lang="fr-FR" sz="2000" b="1" dirty="0" err="1" smtClean="0">
                <a:cs typeface="Arial"/>
              </a:rPr>
              <a:t>jp</a:t>
            </a:r>
            <a:r>
              <a:rPr lang="fr-FR" sz="2000" b="1" dirty="0" smtClean="0">
                <a:cs typeface="Arial"/>
              </a:rPr>
              <a:t> :</a:t>
            </a:r>
            <a:r>
              <a:rPr lang="fr-FR" sz="2000" b="1" spc="-30" dirty="0" smtClean="0">
                <a:cs typeface="Arial"/>
              </a:rPr>
              <a:t> </a:t>
            </a:r>
            <a:r>
              <a:rPr lang="fr-FR" sz="2000" spc="0" dirty="0" smtClean="0">
                <a:cs typeface="Arial"/>
              </a:rPr>
              <a:t>Japon</a:t>
            </a:r>
            <a:endParaRPr lang="fr-FR" sz="2000" dirty="0" smtClean="0">
              <a:cs typeface="Arial"/>
            </a:endParaRPr>
          </a:p>
          <a:p>
            <a:pPr>
              <a:spcBef>
                <a:spcPts val="30"/>
              </a:spcBef>
            </a:pPr>
            <a:endParaRPr lang="fr-FR" sz="2000" dirty="0" smtClean="0">
              <a:cs typeface="Times New Roman"/>
            </a:endParaRPr>
          </a:p>
          <a:p>
            <a:pPr marR="20955"/>
            <a:r>
              <a:rPr lang="fr-FR" sz="2000" b="1" dirty="0" smtClean="0">
                <a:cs typeface="Arial"/>
              </a:rPr>
              <a:t>.</a:t>
            </a:r>
            <a:r>
              <a:rPr lang="fr-FR" sz="2000" b="1" dirty="0" err="1" smtClean="0">
                <a:cs typeface="Arial"/>
              </a:rPr>
              <a:t>org</a:t>
            </a:r>
            <a:r>
              <a:rPr lang="fr-FR" sz="2000" b="1" dirty="0" smtClean="0">
                <a:cs typeface="Arial"/>
              </a:rPr>
              <a:t> :</a:t>
            </a:r>
            <a:r>
              <a:rPr lang="fr-FR" sz="2000" b="1" spc="-40" dirty="0" smtClean="0">
                <a:cs typeface="Arial"/>
              </a:rPr>
              <a:t> </a:t>
            </a:r>
            <a:r>
              <a:rPr lang="fr-FR" sz="2000" dirty="0" smtClean="0">
                <a:cs typeface="Arial"/>
              </a:rPr>
              <a:t>organisme  </a:t>
            </a:r>
            <a:r>
              <a:rPr lang="fr-FR" sz="2000" spc="0" dirty="0" smtClean="0">
                <a:cs typeface="Arial"/>
              </a:rPr>
              <a:t>à</a:t>
            </a:r>
            <a:endParaRPr lang="fr-FR" sz="2000" dirty="0">
              <a:cs typeface="Arial"/>
            </a:endParaRPr>
          </a:p>
        </p:txBody>
      </p:sp>
      <p:sp>
        <p:nvSpPr>
          <p:cNvPr id="7" name="object 38"/>
          <p:cNvSpPr/>
          <p:nvPr/>
        </p:nvSpPr>
        <p:spPr>
          <a:xfrm>
            <a:off x="3124200" y="609600"/>
            <a:ext cx="6629400" cy="565257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28600" y="228600"/>
            <a:ext cx="4079963" cy="2314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910"/>
              </a:lnSpc>
              <a:spcBef>
                <a:spcPts val="90"/>
              </a:spcBef>
            </a:pPr>
            <a:r>
              <a:rPr lang="fr-FR" b="1" spc="-10" dirty="0" smtClean="0">
                <a:solidFill>
                  <a:srgbClr val="6F8CA1"/>
                </a:solidFill>
                <a:latin typeface="Arial"/>
                <a:cs typeface="Arial"/>
              </a:rPr>
              <a:t>Fournir des services d'adressage IP</a:t>
            </a:r>
          </a:p>
        </p:txBody>
      </p:sp>
      <p:sp>
        <p:nvSpPr>
          <p:cNvPr id="6" name="Rectangle 5"/>
          <p:cNvSpPr/>
          <p:nvPr/>
        </p:nvSpPr>
        <p:spPr>
          <a:xfrm>
            <a:off x="152400" y="609600"/>
            <a:ext cx="1787990" cy="2702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1030"/>
              </a:lnSpc>
            </a:pPr>
            <a:r>
              <a:rPr lang="fr-FR" sz="2800" b="1" spc="5" dirty="0" err="1" smtClean="0">
                <a:solidFill>
                  <a:srgbClr val="6F8CA1"/>
                </a:solidFill>
                <a:latin typeface="Arial"/>
                <a:cs typeface="Arial"/>
              </a:rPr>
              <a:t>nslookup</a:t>
            </a:r>
            <a:endParaRPr lang="fr-FR" sz="2800" dirty="0">
              <a:latin typeface="Arial"/>
              <a:cs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04800" y="1143000"/>
            <a:ext cx="861060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7470" marR="236854" indent="-57785" algn="just">
              <a:spcBef>
                <a:spcPts val="625"/>
              </a:spcBef>
              <a:buFont typeface="Arial"/>
              <a:buChar char="•"/>
              <a:tabLst>
                <a:tab pos="78105" algn="l"/>
              </a:tabLst>
            </a:pPr>
            <a:r>
              <a:rPr lang="fr-FR" sz="2000" b="1" dirty="0" err="1" smtClean="0">
                <a:cs typeface="Adobe Arabic" pitchFamily="18" charset="-78"/>
              </a:rPr>
              <a:t>nslookup</a:t>
            </a:r>
            <a:r>
              <a:rPr lang="fr-FR" sz="2000" b="1" dirty="0" smtClean="0">
                <a:cs typeface="Adobe Arabic" pitchFamily="18" charset="-78"/>
              </a:rPr>
              <a:t> </a:t>
            </a:r>
            <a:r>
              <a:rPr lang="fr-FR" sz="2000" dirty="0" smtClean="0">
                <a:cs typeface="Adobe Arabic" pitchFamily="18" charset="-78"/>
              </a:rPr>
              <a:t>est </a:t>
            </a:r>
            <a:r>
              <a:rPr lang="fr-FR" sz="2000" spc="0" dirty="0" smtClean="0">
                <a:cs typeface="Adobe Arabic" pitchFamily="18" charset="-78"/>
              </a:rPr>
              <a:t>un </a:t>
            </a:r>
            <a:r>
              <a:rPr lang="fr-FR" sz="2000" spc="-5" dirty="0" smtClean="0">
                <a:cs typeface="Adobe Arabic" pitchFamily="18" charset="-78"/>
              </a:rPr>
              <a:t>utilitaire </a:t>
            </a:r>
            <a:r>
              <a:rPr lang="fr-FR" sz="2000" spc="0" dirty="0" smtClean="0">
                <a:cs typeface="Adobe Arabic" pitchFamily="18" charset="-78"/>
              </a:rPr>
              <a:t>du </a:t>
            </a:r>
            <a:r>
              <a:rPr lang="fr-FR" sz="2000" dirty="0" smtClean="0">
                <a:cs typeface="Adobe Arabic" pitchFamily="18" charset="-78"/>
              </a:rPr>
              <a:t>système </a:t>
            </a:r>
            <a:r>
              <a:rPr lang="fr-FR" sz="2000" spc="-5" dirty="0" smtClean="0">
                <a:cs typeface="Adobe Arabic" pitchFamily="18" charset="-78"/>
              </a:rPr>
              <a:t>d'exploitation </a:t>
            </a:r>
            <a:r>
              <a:rPr lang="fr-FR" sz="2000" dirty="0" smtClean="0">
                <a:cs typeface="Adobe Arabic" pitchFamily="18" charset="-78"/>
              </a:rPr>
              <a:t>qui </a:t>
            </a:r>
            <a:r>
              <a:rPr lang="fr-FR" sz="2000" spc="0" dirty="0" smtClean="0">
                <a:cs typeface="Adobe Arabic" pitchFamily="18" charset="-78"/>
              </a:rPr>
              <a:t>permet à  </a:t>
            </a:r>
            <a:r>
              <a:rPr lang="fr-FR" sz="2000" spc="-5" dirty="0" smtClean="0">
                <a:cs typeface="Adobe Arabic" pitchFamily="18" charset="-78"/>
              </a:rPr>
              <a:t>l'utilisateur </a:t>
            </a:r>
            <a:r>
              <a:rPr lang="fr-FR" sz="2000" dirty="0" smtClean="0">
                <a:cs typeface="Adobe Arabic" pitchFamily="18" charset="-78"/>
              </a:rPr>
              <a:t>d'interroger manuellement </a:t>
            </a:r>
            <a:r>
              <a:rPr lang="fr-FR" sz="2000" spc="-5" dirty="0" smtClean="0">
                <a:cs typeface="Adobe Arabic" pitchFamily="18" charset="-78"/>
              </a:rPr>
              <a:t>les </a:t>
            </a:r>
            <a:r>
              <a:rPr lang="fr-FR" sz="2000" dirty="0" smtClean="0">
                <a:cs typeface="Adobe Arabic" pitchFamily="18" charset="-78"/>
              </a:rPr>
              <a:t>serveurs </a:t>
            </a:r>
            <a:r>
              <a:rPr lang="fr-FR" sz="2000" spc="0" dirty="0" smtClean="0">
                <a:cs typeface="Adobe Arabic" pitchFamily="18" charset="-78"/>
              </a:rPr>
              <a:t>de noms </a:t>
            </a:r>
            <a:r>
              <a:rPr lang="fr-FR" sz="2000" dirty="0" smtClean="0">
                <a:cs typeface="Adobe Arabic" pitchFamily="18" charset="-78"/>
              </a:rPr>
              <a:t>pour  résoudre </a:t>
            </a:r>
            <a:r>
              <a:rPr lang="fr-FR" sz="2000" spc="0" dirty="0" smtClean="0">
                <a:cs typeface="Adobe Arabic" pitchFamily="18" charset="-78"/>
              </a:rPr>
              <a:t>un nom </a:t>
            </a:r>
            <a:r>
              <a:rPr lang="fr-FR" sz="2000" dirty="0" smtClean="0">
                <a:cs typeface="Adobe Arabic" pitchFamily="18" charset="-78"/>
              </a:rPr>
              <a:t>d'hôte</a:t>
            </a:r>
            <a:r>
              <a:rPr lang="fr-FR" sz="2000" spc="-110" dirty="0" smtClean="0">
                <a:cs typeface="Adobe Arabic" pitchFamily="18" charset="-78"/>
              </a:rPr>
              <a:t> </a:t>
            </a:r>
            <a:r>
              <a:rPr lang="fr-FR" sz="2000" spc="0" dirty="0" smtClean="0">
                <a:cs typeface="Adobe Arabic" pitchFamily="18" charset="-78"/>
              </a:rPr>
              <a:t>donné</a:t>
            </a:r>
            <a:endParaRPr lang="fr-FR" sz="2000" dirty="0" smtClean="0">
              <a:cs typeface="Adobe Arabic" pitchFamily="18" charset="-78"/>
            </a:endParaRPr>
          </a:p>
          <a:p>
            <a:pPr marL="77470" marR="5080" indent="-57785">
              <a:spcBef>
                <a:spcPts val="15"/>
              </a:spcBef>
              <a:buChar char="•"/>
              <a:tabLst>
                <a:tab pos="78105" algn="l"/>
              </a:tabLst>
            </a:pPr>
            <a:r>
              <a:rPr lang="fr-FR" sz="2000" spc="0" dirty="0" smtClean="0">
                <a:cs typeface="Adobe Arabic" pitchFamily="18" charset="-78"/>
              </a:rPr>
              <a:t>Cet </a:t>
            </a:r>
            <a:r>
              <a:rPr lang="fr-FR" sz="2000" spc="-5" dirty="0" smtClean="0">
                <a:cs typeface="Adobe Arabic" pitchFamily="18" charset="-78"/>
              </a:rPr>
              <a:t>utilitaire </a:t>
            </a:r>
            <a:r>
              <a:rPr lang="fr-FR" sz="2000" spc="0" dirty="0" smtClean="0">
                <a:cs typeface="Adobe Arabic" pitchFamily="18" charset="-78"/>
              </a:rPr>
              <a:t>permet de </a:t>
            </a:r>
            <a:r>
              <a:rPr lang="fr-FR" sz="2000" dirty="0" smtClean="0">
                <a:cs typeface="Adobe Arabic" pitchFamily="18" charset="-78"/>
              </a:rPr>
              <a:t>résoudre </a:t>
            </a:r>
            <a:r>
              <a:rPr lang="fr-FR" sz="2000" spc="-5" dirty="0" smtClean="0">
                <a:cs typeface="Adobe Arabic" pitchFamily="18" charset="-78"/>
              </a:rPr>
              <a:t>les </a:t>
            </a:r>
            <a:r>
              <a:rPr lang="fr-FR" sz="2000" dirty="0" smtClean="0">
                <a:cs typeface="Adobe Arabic" pitchFamily="18" charset="-78"/>
              </a:rPr>
              <a:t>problèmes </a:t>
            </a:r>
            <a:r>
              <a:rPr lang="fr-FR" sz="2000" spc="0" dirty="0" smtClean="0">
                <a:cs typeface="Adobe Arabic" pitchFamily="18" charset="-78"/>
              </a:rPr>
              <a:t>de </a:t>
            </a:r>
            <a:r>
              <a:rPr lang="fr-FR" sz="2000" dirty="0" smtClean="0">
                <a:cs typeface="Adobe Arabic" pitchFamily="18" charset="-78"/>
              </a:rPr>
              <a:t>résolution </a:t>
            </a:r>
            <a:r>
              <a:rPr lang="fr-FR" sz="2000" spc="0" dirty="0" smtClean="0">
                <a:cs typeface="Adobe Arabic" pitchFamily="18" charset="-78"/>
              </a:rPr>
              <a:t>des noms  </a:t>
            </a:r>
            <a:r>
              <a:rPr lang="fr-FR" sz="2000" dirty="0" smtClean="0">
                <a:cs typeface="Adobe Arabic" pitchFamily="18" charset="-78"/>
              </a:rPr>
              <a:t>et </a:t>
            </a:r>
            <a:r>
              <a:rPr lang="fr-FR" sz="2000" spc="0" dirty="0" smtClean="0">
                <a:cs typeface="Adobe Arabic" pitchFamily="18" charset="-78"/>
              </a:rPr>
              <a:t>de </a:t>
            </a:r>
            <a:r>
              <a:rPr lang="fr-FR" sz="2000" spc="-5" dirty="0" smtClean="0">
                <a:cs typeface="Adobe Arabic" pitchFamily="18" charset="-78"/>
              </a:rPr>
              <a:t>vérifier </a:t>
            </a:r>
            <a:r>
              <a:rPr lang="fr-FR" sz="2000" dirty="0" smtClean="0">
                <a:cs typeface="Adobe Arabic" pitchFamily="18" charset="-78"/>
              </a:rPr>
              <a:t>l'état actuel </a:t>
            </a:r>
            <a:r>
              <a:rPr lang="fr-FR" sz="2000" spc="0" dirty="0" smtClean="0">
                <a:cs typeface="Adobe Arabic" pitchFamily="18" charset="-78"/>
              </a:rPr>
              <a:t>des </a:t>
            </a:r>
            <a:r>
              <a:rPr lang="fr-FR" sz="2000" dirty="0" smtClean="0">
                <a:cs typeface="Adobe Arabic" pitchFamily="18" charset="-78"/>
              </a:rPr>
              <a:t>serveurs </a:t>
            </a:r>
            <a:r>
              <a:rPr lang="fr-FR" sz="2000" spc="0" dirty="0" smtClean="0">
                <a:cs typeface="Adobe Arabic" pitchFamily="18" charset="-78"/>
              </a:rPr>
              <a:t>de</a:t>
            </a:r>
            <a:r>
              <a:rPr lang="fr-FR" sz="2000" spc="-130" dirty="0" smtClean="0">
                <a:cs typeface="Adobe Arabic" pitchFamily="18" charset="-78"/>
              </a:rPr>
              <a:t> </a:t>
            </a:r>
            <a:r>
              <a:rPr lang="fr-FR" sz="2000" spc="0" dirty="0" smtClean="0">
                <a:cs typeface="Adobe Arabic" pitchFamily="18" charset="-78"/>
              </a:rPr>
              <a:t>noms</a:t>
            </a:r>
            <a:endParaRPr lang="fr-FR" sz="2000" dirty="0">
              <a:cs typeface="Adobe Arabic" pitchFamily="18" charset="-78"/>
            </a:endParaRPr>
          </a:p>
        </p:txBody>
      </p:sp>
      <p:sp>
        <p:nvSpPr>
          <p:cNvPr id="9" name="object 8"/>
          <p:cNvSpPr/>
          <p:nvPr/>
        </p:nvSpPr>
        <p:spPr>
          <a:xfrm>
            <a:off x="1066800" y="2971800"/>
            <a:ext cx="6934200" cy="2971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28600" y="228600"/>
            <a:ext cx="4079963" cy="2314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910"/>
              </a:lnSpc>
              <a:spcBef>
                <a:spcPts val="90"/>
              </a:spcBef>
            </a:pPr>
            <a:r>
              <a:rPr lang="fr-FR" b="1" spc="-10" dirty="0" smtClean="0">
                <a:solidFill>
                  <a:srgbClr val="6F8CA1"/>
                </a:solidFill>
                <a:latin typeface="Arial"/>
                <a:cs typeface="Arial"/>
              </a:rPr>
              <a:t>Fournir des services d'adressage IP</a:t>
            </a:r>
          </a:p>
        </p:txBody>
      </p:sp>
      <p:sp>
        <p:nvSpPr>
          <p:cNvPr id="6" name="Rectangle 5"/>
          <p:cNvSpPr/>
          <p:nvPr/>
        </p:nvSpPr>
        <p:spPr>
          <a:xfrm>
            <a:off x="152400" y="609600"/>
            <a:ext cx="7973273" cy="2702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1030"/>
              </a:lnSpc>
            </a:pPr>
            <a:r>
              <a:rPr lang="fr-FR" sz="2800" b="1" spc="5" dirty="0" smtClean="0">
                <a:solidFill>
                  <a:srgbClr val="6F8CA1"/>
                </a:solidFill>
                <a:latin typeface="Arial"/>
                <a:cs typeface="Arial"/>
              </a:rPr>
              <a:t>DHCP (</a:t>
            </a:r>
            <a:r>
              <a:rPr lang="fr-FR" sz="2800" b="1" spc="5" dirty="0" err="1" smtClean="0">
                <a:solidFill>
                  <a:srgbClr val="6F8CA1"/>
                </a:solidFill>
                <a:latin typeface="Arial"/>
                <a:cs typeface="Arial"/>
              </a:rPr>
              <a:t>Dynamic</a:t>
            </a:r>
            <a:r>
              <a:rPr lang="fr-FR" sz="2800" b="1" spc="5" dirty="0" smtClean="0">
                <a:solidFill>
                  <a:srgbClr val="6F8CA1"/>
                </a:solidFill>
                <a:latin typeface="Arial"/>
                <a:cs typeface="Arial"/>
              </a:rPr>
              <a:t> Host Configuration Protocol)</a:t>
            </a:r>
          </a:p>
        </p:txBody>
      </p:sp>
      <p:sp>
        <p:nvSpPr>
          <p:cNvPr id="8" name="Rectangle 7"/>
          <p:cNvSpPr/>
          <p:nvPr/>
        </p:nvSpPr>
        <p:spPr>
          <a:xfrm>
            <a:off x="304800" y="1143000"/>
            <a:ext cx="5562600" cy="52322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2395" marR="1567180" indent="-112395">
              <a:lnSpc>
                <a:spcPct val="105000"/>
              </a:lnSpc>
              <a:spcBef>
                <a:spcPts val="645"/>
              </a:spcBef>
              <a:buFont typeface="Wingdings"/>
              <a:buChar char=""/>
              <a:tabLst>
                <a:tab pos="113030" algn="l"/>
              </a:tabLst>
            </a:pPr>
            <a:r>
              <a:rPr lang="fr-FR" sz="2000" spc="5" dirty="0" smtClean="0">
                <a:cs typeface="Arial"/>
              </a:rPr>
              <a:t>Le </a:t>
            </a:r>
            <a:r>
              <a:rPr lang="fr-FR" sz="2000" spc="0" dirty="0" smtClean="0">
                <a:cs typeface="Arial"/>
              </a:rPr>
              <a:t>protocole </a:t>
            </a:r>
            <a:r>
              <a:rPr lang="fr-FR" sz="2000" spc="10" dirty="0" smtClean="0">
                <a:cs typeface="Arial"/>
              </a:rPr>
              <a:t>DHCP </a:t>
            </a:r>
            <a:r>
              <a:rPr lang="fr-FR" sz="2000" spc="5" dirty="0" smtClean="0">
                <a:cs typeface="Arial"/>
              </a:rPr>
              <a:t>permet</a:t>
            </a:r>
            <a:r>
              <a:rPr lang="fr-FR" sz="2000" spc="-90" dirty="0" smtClean="0">
                <a:cs typeface="Arial"/>
              </a:rPr>
              <a:t> </a:t>
            </a:r>
            <a:r>
              <a:rPr lang="fr-FR" sz="2000" spc="10" dirty="0" smtClean="0">
                <a:cs typeface="Arial"/>
              </a:rPr>
              <a:t>à  </a:t>
            </a:r>
            <a:r>
              <a:rPr lang="fr-FR" sz="2000" spc="5" dirty="0" smtClean="0">
                <a:cs typeface="Arial"/>
              </a:rPr>
              <a:t>un </a:t>
            </a:r>
            <a:r>
              <a:rPr lang="fr-FR" sz="2000" spc="0" dirty="0" smtClean="0">
                <a:cs typeface="Arial"/>
              </a:rPr>
              <a:t>hôte d'obtenir une  adresse </a:t>
            </a:r>
            <a:r>
              <a:rPr lang="fr-FR" sz="2000" spc="5" dirty="0" smtClean="0">
                <a:cs typeface="Arial"/>
              </a:rPr>
              <a:t>IP</a:t>
            </a:r>
            <a:r>
              <a:rPr lang="fr-FR" sz="2000" spc="-30" dirty="0" smtClean="0">
                <a:cs typeface="Arial"/>
              </a:rPr>
              <a:t> </a:t>
            </a:r>
            <a:r>
              <a:rPr lang="fr-FR" sz="2000" spc="5" dirty="0" smtClean="0">
                <a:cs typeface="Arial"/>
              </a:rPr>
              <a:t>dynamiquement</a:t>
            </a:r>
            <a:endParaRPr lang="fr-FR" sz="2000" dirty="0" smtClean="0">
              <a:cs typeface="Arial"/>
            </a:endParaRPr>
          </a:p>
          <a:p>
            <a:pPr marL="112395" indent="-112395">
              <a:lnSpc>
                <a:spcPct val="100000"/>
              </a:lnSpc>
              <a:spcBef>
                <a:spcPts val="25"/>
              </a:spcBef>
              <a:buFont typeface="Wingdings"/>
              <a:buChar char=""/>
              <a:tabLst>
                <a:tab pos="113030" algn="l"/>
              </a:tabLst>
            </a:pPr>
            <a:r>
              <a:rPr lang="fr-FR" sz="2000" spc="5" dirty="0" smtClean="0">
                <a:cs typeface="Arial"/>
              </a:rPr>
              <a:t>Le </a:t>
            </a:r>
            <a:r>
              <a:rPr lang="fr-FR" sz="2000" spc="0" dirty="0" smtClean="0">
                <a:cs typeface="Arial"/>
              </a:rPr>
              <a:t>serveur </a:t>
            </a:r>
            <a:r>
              <a:rPr lang="fr-FR" sz="2000" spc="10" dirty="0" smtClean="0">
                <a:cs typeface="Arial"/>
              </a:rPr>
              <a:t>DHCP </a:t>
            </a:r>
            <a:r>
              <a:rPr lang="fr-FR" sz="2000" spc="0" dirty="0" smtClean="0">
                <a:cs typeface="Arial"/>
              </a:rPr>
              <a:t>est</a:t>
            </a:r>
            <a:r>
              <a:rPr lang="fr-FR" sz="2000" spc="-60" dirty="0" smtClean="0">
                <a:cs typeface="Arial"/>
              </a:rPr>
              <a:t> </a:t>
            </a:r>
            <a:r>
              <a:rPr lang="fr-FR" sz="2000" spc="0" dirty="0" smtClean="0">
                <a:cs typeface="Arial"/>
              </a:rPr>
              <a:t>contacté</a:t>
            </a:r>
            <a:endParaRPr lang="fr-FR" sz="2000" dirty="0" smtClean="0">
              <a:cs typeface="Arial"/>
            </a:endParaRPr>
          </a:p>
          <a:p>
            <a:pPr marL="112395" marR="1520825">
              <a:lnSpc>
                <a:spcPct val="105000"/>
              </a:lnSpc>
              <a:spcBef>
                <a:spcPts val="5"/>
              </a:spcBef>
            </a:pPr>
            <a:r>
              <a:rPr lang="fr-FR" sz="2000" spc="0" dirty="0" smtClean="0">
                <a:cs typeface="Arial"/>
              </a:rPr>
              <a:t>et l'adresse est </a:t>
            </a:r>
            <a:r>
              <a:rPr lang="fr-FR" sz="2000" spc="5" dirty="0" smtClean="0">
                <a:cs typeface="Arial"/>
              </a:rPr>
              <a:t>demandée </a:t>
            </a:r>
            <a:r>
              <a:rPr lang="fr-FR" sz="2000" spc="0" dirty="0" smtClean="0">
                <a:cs typeface="Arial"/>
              </a:rPr>
              <a:t>;  celle-ci est choisie dans une  </a:t>
            </a:r>
            <a:r>
              <a:rPr lang="fr-FR" sz="2000" spc="5" dirty="0" smtClean="0">
                <a:cs typeface="Arial"/>
              </a:rPr>
              <a:t>plage </a:t>
            </a:r>
            <a:r>
              <a:rPr lang="fr-FR" sz="2000" spc="0" dirty="0" smtClean="0">
                <a:cs typeface="Arial"/>
              </a:rPr>
              <a:t>d'adresses appelée pool  et </a:t>
            </a:r>
            <a:r>
              <a:rPr lang="fr-FR" sz="2000" spc="10" dirty="0" smtClean="0">
                <a:cs typeface="Arial"/>
              </a:rPr>
              <a:t>« </a:t>
            </a:r>
            <a:r>
              <a:rPr lang="fr-FR" sz="2000" spc="0" dirty="0" smtClean="0">
                <a:cs typeface="Arial"/>
              </a:rPr>
              <a:t>louée </a:t>
            </a:r>
            <a:r>
              <a:rPr lang="fr-FR" sz="2000" spc="10" dirty="0" smtClean="0">
                <a:cs typeface="Arial"/>
              </a:rPr>
              <a:t>» à </a:t>
            </a:r>
            <a:r>
              <a:rPr lang="fr-FR" sz="2000" spc="0" dirty="0" smtClean="0">
                <a:cs typeface="Arial"/>
              </a:rPr>
              <a:t>l'hôte pour une  certaine</a:t>
            </a:r>
            <a:r>
              <a:rPr lang="fr-FR" sz="2000" spc="-10" dirty="0" smtClean="0">
                <a:cs typeface="Arial"/>
              </a:rPr>
              <a:t> </a:t>
            </a:r>
            <a:r>
              <a:rPr lang="fr-FR" sz="2000" spc="0" dirty="0" smtClean="0">
                <a:cs typeface="Arial"/>
              </a:rPr>
              <a:t>durée</a:t>
            </a:r>
            <a:endParaRPr lang="fr-FR" sz="2000" dirty="0" smtClean="0">
              <a:cs typeface="Arial"/>
            </a:endParaRPr>
          </a:p>
          <a:p>
            <a:pPr marL="112395" indent="-112395">
              <a:lnSpc>
                <a:spcPct val="100000"/>
              </a:lnSpc>
              <a:spcBef>
                <a:spcPts val="25"/>
              </a:spcBef>
              <a:buFont typeface="Wingdings"/>
              <a:buChar char=""/>
              <a:tabLst>
                <a:tab pos="113030" algn="l"/>
              </a:tabLst>
            </a:pPr>
            <a:r>
              <a:rPr lang="fr-FR" sz="2000" spc="5" dirty="0" smtClean="0">
                <a:cs typeface="Arial"/>
              </a:rPr>
              <a:t>Le </a:t>
            </a:r>
            <a:r>
              <a:rPr lang="fr-FR" sz="2000" spc="0" dirty="0" smtClean="0">
                <a:cs typeface="Arial"/>
              </a:rPr>
              <a:t>protocole </a:t>
            </a:r>
            <a:r>
              <a:rPr lang="fr-FR" sz="2000" spc="10" dirty="0" smtClean="0">
                <a:cs typeface="Arial"/>
              </a:rPr>
              <a:t>DHCP </a:t>
            </a:r>
            <a:r>
              <a:rPr lang="fr-FR" sz="2000" spc="0" dirty="0" smtClean="0">
                <a:cs typeface="Arial"/>
              </a:rPr>
              <a:t>est</a:t>
            </a:r>
            <a:r>
              <a:rPr lang="fr-FR" sz="2000" spc="-60" dirty="0" smtClean="0">
                <a:cs typeface="Arial"/>
              </a:rPr>
              <a:t> </a:t>
            </a:r>
            <a:r>
              <a:rPr lang="fr-FR" sz="2000" spc="0" dirty="0" smtClean="0">
                <a:cs typeface="Arial"/>
              </a:rPr>
              <a:t>utilisé</a:t>
            </a:r>
            <a:endParaRPr lang="fr-FR" sz="2000" dirty="0" smtClean="0">
              <a:cs typeface="Arial"/>
            </a:endParaRPr>
          </a:p>
          <a:p>
            <a:pPr marL="112395" marR="1527810">
              <a:lnSpc>
                <a:spcPct val="105000"/>
              </a:lnSpc>
              <a:spcBef>
                <a:spcPts val="5"/>
              </a:spcBef>
            </a:pPr>
            <a:r>
              <a:rPr lang="fr-FR" sz="2000" spc="0" dirty="0" smtClean="0">
                <a:cs typeface="Arial"/>
              </a:rPr>
              <a:t>pour les hôtes </a:t>
            </a:r>
            <a:r>
              <a:rPr lang="fr-FR" sz="2000" spc="10" dirty="0" smtClean="0">
                <a:cs typeface="Arial"/>
              </a:rPr>
              <a:t>à </a:t>
            </a:r>
            <a:r>
              <a:rPr lang="fr-FR" sz="2000" spc="5" dirty="0" smtClean="0">
                <a:cs typeface="Arial"/>
              </a:rPr>
              <a:t>usage  </a:t>
            </a:r>
            <a:r>
              <a:rPr lang="fr-FR" sz="2000" spc="0" dirty="0" smtClean="0">
                <a:cs typeface="Arial"/>
              </a:rPr>
              <a:t>général (par </a:t>
            </a:r>
            <a:r>
              <a:rPr lang="fr-FR" sz="2000" spc="5" dirty="0" smtClean="0">
                <a:cs typeface="Arial"/>
              </a:rPr>
              <a:t>exemple </a:t>
            </a:r>
            <a:r>
              <a:rPr lang="fr-FR" sz="2000" spc="0" dirty="0" smtClean="0">
                <a:cs typeface="Arial"/>
              </a:rPr>
              <a:t>les  périphériques des utilisateurs)  et les adresses statiques sont  utilisées pour les  périphériques réseau (par  </a:t>
            </a:r>
            <a:r>
              <a:rPr lang="fr-FR" sz="2000" spc="5" dirty="0" smtClean="0">
                <a:cs typeface="Arial"/>
              </a:rPr>
              <a:t>exemple </a:t>
            </a:r>
            <a:r>
              <a:rPr lang="fr-FR" sz="2000" spc="0" dirty="0" smtClean="0">
                <a:cs typeface="Arial"/>
              </a:rPr>
              <a:t>les passerelles, les  </a:t>
            </a:r>
            <a:r>
              <a:rPr lang="fr-FR" sz="2000" spc="5" dirty="0" smtClean="0">
                <a:cs typeface="Arial"/>
              </a:rPr>
              <a:t>commutateurs, </a:t>
            </a:r>
            <a:r>
              <a:rPr lang="fr-FR" sz="2000" spc="0" dirty="0" smtClean="0">
                <a:cs typeface="Arial"/>
              </a:rPr>
              <a:t>les </a:t>
            </a:r>
            <a:r>
              <a:rPr lang="fr-FR" sz="2000" spc="5" dirty="0" smtClean="0">
                <a:cs typeface="Arial"/>
              </a:rPr>
              <a:t>serveurs</a:t>
            </a:r>
            <a:r>
              <a:rPr lang="fr-FR" sz="2000" spc="-75" dirty="0" smtClean="0">
                <a:cs typeface="Arial"/>
              </a:rPr>
              <a:t> </a:t>
            </a:r>
            <a:r>
              <a:rPr lang="fr-FR" sz="2000" spc="0" dirty="0" smtClean="0">
                <a:cs typeface="Arial"/>
              </a:rPr>
              <a:t>et  les</a:t>
            </a:r>
            <a:r>
              <a:rPr lang="fr-FR" sz="2000" spc="-15" dirty="0" smtClean="0">
                <a:cs typeface="Arial"/>
              </a:rPr>
              <a:t> </a:t>
            </a:r>
            <a:r>
              <a:rPr lang="fr-FR" sz="2000" spc="5" dirty="0" smtClean="0">
                <a:cs typeface="Arial"/>
              </a:rPr>
              <a:t>imprimantes)</a:t>
            </a:r>
            <a:endParaRPr lang="fr-FR" sz="2000" dirty="0">
              <a:cs typeface="Arial"/>
            </a:endParaRPr>
          </a:p>
        </p:txBody>
      </p:sp>
      <p:sp>
        <p:nvSpPr>
          <p:cNvPr id="7" name="object 15"/>
          <p:cNvSpPr/>
          <p:nvPr/>
        </p:nvSpPr>
        <p:spPr>
          <a:xfrm>
            <a:off x="4495800" y="1371600"/>
            <a:ext cx="5334000" cy="4343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28600" y="228600"/>
            <a:ext cx="4079963" cy="2314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910"/>
              </a:lnSpc>
              <a:spcBef>
                <a:spcPts val="90"/>
              </a:spcBef>
            </a:pPr>
            <a:r>
              <a:rPr lang="fr-FR" b="1" spc="-10" dirty="0" smtClean="0">
                <a:solidFill>
                  <a:srgbClr val="6F8CA1"/>
                </a:solidFill>
                <a:latin typeface="Arial"/>
                <a:cs typeface="Arial"/>
              </a:rPr>
              <a:t>Fournir des services d'adressage IP</a:t>
            </a:r>
          </a:p>
        </p:txBody>
      </p:sp>
      <p:sp>
        <p:nvSpPr>
          <p:cNvPr id="6" name="Rectangle 5"/>
          <p:cNvSpPr/>
          <p:nvPr/>
        </p:nvSpPr>
        <p:spPr>
          <a:xfrm>
            <a:off x="152400" y="609600"/>
            <a:ext cx="6395982" cy="2702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1030"/>
              </a:lnSpc>
            </a:pPr>
            <a:r>
              <a:rPr lang="fr-FR" sz="2800" b="1" spc="5" dirty="0" smtClean="0">
                <a:solidFill>
                  <a:srgbClr val="6F8CA1"/>
                </a:solidFill>
                <a:latin typeface="Arial"/>
                <a:cs typeface="Arial"/>
              </a:rPr>
              <a:t>Fonctionnement du protocole DHCP</a:t>
            </a:r>
          </a:p>
        </p:txBody>
      </p:sp>
      <p:sp>
        <p:nvSpPr>
          <p:cNvPr id="9" name="object 24"/>
          <p:cNvSpPr/>
          <p:nvPr/>
        </p:nvSpPr>
        <p:spPr>
          <a:xfrm>
            <a:off x="4648200" y="1600200"/>
            <a:ext cx="4800600" cy="4114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8600" y="1066800"/>
            <a:ext cx="449580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fr-FR" dirty="0" smtClean="0"/>
              <a:t>Lorsqu'un périphérique DHCP démarre ou se connecte au réseau, </a:t>
            </a:r>
            <a:r>
              <a:rPr lang="fr-FR" dirty="0" smtClean="0">
                <a:solidFill>
                  <a:srgbClr val="FFC000"/>
                </a:solidFill>
              </a:rPr>
              <a:t>le client diffuse un message de détection DHCP (DHCPDISCOVER) </a:t>
            </a:r>
            <a:r>
              <a:rPr lang="fr-FR" dirty="0" smtClean="0"/>
              <a:t>pour identifier les serveurs DHCP </a:t>
            </a:r>
            <a:r>
              <a:rPr lang="fr-FR" dirty="0" smtClean="0">
                <a:solidFill>
                  <a:srgbClr val="FF0000"/>
                </a:solidFill>
              </a:rPr>
              <a:t>disponibles </a:t>
            </a:r>
            <a:r>
              <a:rPr lang="fr-FR" dirty="0" smtClean="0"/>
              <a:t>sur le réseau. </a:t>
            </a:r>
          </a:p>
          <a:p>
            <a:pPr>
              <a:buFont typeface="Arial" pitchFamily="34" charset="0"/>
              <a:buChar char="•"/>
            </a:pPr>
            <a:endParaRPr lang="fr-FR" dirty="0" smtClean="0"/>
          </a:p>
          <a:p>
            <a:pPr>
              <a:buFont typeface="Arial" pitchFamily="34" charset="0"/>
              <a:buChar char="•"/>
            </a:pPr>
            <a:r>
              <a:rPr lang="fr-FR" dirty="0" smtClean="0"/>
              <a:t>Un serveur DHCP répond par un message d'offre </a:t>
            </a:r>
            <a:r>
              <a:rPr lang="fr-FR" dirty="0" smtClean="0">
                <a:solidFill>
                  <a:srgbClr val="00B050"/>
                </a:solidFill>
              </a:rPr>
              <a:t>DHCP (DHCPOFFER), </a:t>
            </a:r>
            <a:r>
              <a:rPr lang="fr-FR" dirty="0" smtClean="0"/>
              <a:t>qui offre un bail au client. Ce message contient l'adresse IP et le masque de sous-réseau à attribuer, l'adresse IP du serveur DNS et l'adresse IP de la passerelle par défaut.</a:t>
            </a:r>
          </a:p>
          <a:p>
            <a:pPr>
              <a:buFont typeface="Arial" pitchFamily="34" charset="0"/>
              <a:buChar char="•"/>
            </a:pPr>
            <a:endParaRPr lang="fr-FR" dirty="0" smtClean="0"/>
          </a:p>
          <a:p>
            <a:pPr>
              <a:buFont typeface="Arial" pitchFamily="34" charset="0"/>
              <a:buChar char="•"/>
            </a:pPr>
            <a:r>
              <a:rPr lang="fr-FR" dirty="0" smtClean="0"/>
              <a:t>Si plusieurs serveurs DHCP, le client effectue un choix et envoyer une requête DHCP (</a:t>
            </a:r>
            <a:r>
              <a:rPr lang="fr-FR" dirty="0" smtClean="0">
                <a:solidFill>
                  <a:srgbClr val="FFC000"/>
                </a:solidFill>
              </a:rPr>
              <a:t>DHCPREQUEST) </a:t>
            </a:r>
            <a:r>
              <a:rPr lang="fr-FR" dirty="0" smtClean="0"/>
              <a:t>qui identifie explicitement le serveur et l'offre de bail qu'il accepte.</a:t>
            </a:r>
          </a:p>
          <a:p>
            <a:pPr>
              <a:buFont typeface="Arial" pitchFamily="34" charset="0"/>
              <a:buChar char="•"/>
            </a:pPr>
            <a:endParaRPr lang="fr-FR" dirty="0" smtClean="0"/>
          </a:p>
          <a:p>
            <a:pPr>
              <a:buFont typeface="Arial" pitchFamily="34" charset="0"/>
              <a:buChar char="•"/>
            </a:pPr>
            <a:r>
              <a:rPr lang="fr-FR" dirty="0" smtClean="0"/>
              <a:t>Si l'adresse IP demandée par le client ou offerte par le serveur est encore disponible, le serveur renvoie </a:t>
            </a:r>
            <a:r>
              <a:rPr lang="fr-FR" dirty="0" smtClean="0">
                <a:solidFill>
                  <a:srgbClr val="00B050"/>
                </a:solidFill>
              </a:rPr>
              <a:t>un message DHCP (DHCPACK)</a:t>
            </a:r>
            <a:endParaRPr lang="fr-FR" dirty="0">
              <a:solidFill>
                <a:srgbClr val="00B05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28600" y="228600"/>
            <a:ext cx="4835939" cy="2314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910"/>
              </a:lnSpc>
              <a:spcBef>
                <a:spcPts val="90"/>
              </a:spcBef>
            </a:pPr>
            <a:r>
              <a:rPr lang="fr-FR" b="1" spc="-10" dirty="0" smtClean="0">
                <a:solidFill>
                  <a:srgbClr val="6F8CA1"/>
                </a:solidFill>
                <a:latin typeface="Arial"/>
                <a:cs typeface="Arial"/>
              </a:rPr>
              <a:t>Fournir des services de partage de fichiers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152400" y="609600"/>
            <a:ext cx="4908395" cy="2702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1030"/>
              </a:lnSpc>
            </a:pPr>
            <a:r>
              <a:rPr lang="fr-FR" sz="2800" b="1" spc="5" dirty="0" smtClean="0">
                <a:solidFill>
                  <a:srgbClr val="6F8CA1"/>
                </a:solidFill>
                <a:latin typeface="Arial"/>
                <a:cs typeface="Arial"/>
              </a:rPr>
              <a:t>FTP (File Transfer Protocol)</a:t>
            </a:r>
          </a:p>
        </p:txBody>
      </p:sp>
      <p:sp>
        <p:nvSpPr>
          <p:cNvPr id="7" name="object 32"/>
          <p:cNvSpPr/>
          <p:nvPr/>
        </p:nvSpPr>
        <p:spPr>
          <a:xfrm>
            <a:off x="152400" y="1066800"/>
            <a:ext cx="4953000" cy="5562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0" y="1143000"/>
            <a:ext cx="4724400" cy="44268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" marR="11430" indent="-74295">
              <a:spcBef>
                <a:spcPts val="170"/>
              </a:spcBef>
              <a:buChar char="•"/>
              <a:tabLst>
                <a:tab pos="74930" algn="l"/>
              </a:tabLst>
            </a:pPr>
            <a:r>
              <a:rPr lang="fr-FR" sz="2000" dirty="0" smtClean="0">
                <a:latin typeface="+mj-lt"/>
                <a:cs typeface="Arial"/>
              </a:rPr>
              <a:t>Le </a:t>
            </a:r>
            <a:r>
              <a:rPr lang="fr-FR" sz="2000" spc="-5" dirty="0" smtClean="0">
                <a:latin typeface="+mj-lt"/>
                <a:cs typeface="Arial"/>
              </a:rPr>
              <a:t>protocole FTP permet  </a:t>
            </a:r>
            <a:r>
              <a:rPr lang="fr-FR" sz="2000" dirty="0" smtClean="0">
                <a:latin typeface="+mj-lt"/>
                <a:cs typeface="Arial"/>
              </a:rPr>
              <a:t>de transférer des données  </a:t>
            </a:r>
            <a:r>
              <a:rPr lang="fr-FR" sz="2000" spc="-5" dirty="0" smtClean="0">
                <a:latin typeface="+mj-lt"/>
                <a:cs typeface="Arial"/>
              </a:rPr>
              <a:t>entre </a:t>
            </a:r>
            <a:r>
              <a:rPr lang="fr-FR" sz="2000" dirty="0" smtClean="0">
                <a:latin typeface="+mj-lt"/>
                <a:cs typeface="Arial"/>
              </a:rPr>
              <a:t>un </a:t>
            </a:r>
            <a:r>
              <a:rPr lang="fr-FR" sz="2000" spc="-5" dirty="0" smtClean="0">
                <a:latin typeface="+mj-lt"/>
                <a:cs typeface="Arial"/>
              </a:rPr>
              <a:t>client </a:t>
            </a:r>
            <a:r>
              <a:rPr lang="fr-FR" sz="2000" dirty="0" smtClean="0">
                <a:latin typeface="+mj-lt"/>
                <a:cs typeface="Arial"/>
              </a:rPr>
              <a:t>et un  serveur</a:t>
            </a:r>
          </a:p>
          <a:p>
            <a:pPr marL="74295" marR="11430" indent="-74295">
              <a:spcBef>
                <a:spcPts val="170"/>
              </a:spcBef>
              <a:buChar char="•"/>
              <a:tabLst>
                <a:tab pos="74930" algn="l"/>
              </a:tabLst>
            </a:pPr>
            <a:endParaRPr lang="fr-FR" sz="2000" dirty="0" smtClean="0">
              <a:latin typeface="+mj-lt"/>
              <a:cs typeface="Arial"/>
            </a:endParaRPr>
          </a:p>
          <a:p>
            <a:pPr marL="74295" marR="71755" indent="-74295">
              <a:spcBef>
                <a:spcPts val="10"/>
              </a:spcBef>
              <a:buChar char="•"/>
              <a:tabLst>
                <a:tab pos="74930" algn="l"/>
              </a:tabLst>
            </a:pPr>
            <a:r>
              <a:rPr lang="fr-FR" sz="2000" dirty="0" smtClean="0">
                <a:latin typeface="+mj-lt"/>
                <a:cs typeface="Arial"/>
              </a:rPr>
              <a:t>Le </a:t>
            </a:r>
            <a:r>
              <a:rPr lang="fr-FR" sz="2000" spc="-5" dirty="0" smtClean="0">
                <a:latin typeface="+mj-lt"/>
                <a:cs typeface="Arial"/>
              </a:rPr>
              <a:t>client FTP </a:t>
            </a:r>
            <a:r>
              <a:rPr lang="fr-FR" sz="2000" dirty="0" smtClean="0">
                <a:latin typeface="+mj-lt"/>
                <a:cs typeface="Arial"/>
              </a:rPr>
              <a:t>est une  </a:t>
            </a:r>
            <a:r>
              <a:rPr lang="fr-FR" sz="2000" spc="-5" dirty="0" smtClean="0">
                <a:latin typeface="+mj-lt"/>
                <a:cs typeface="Arial"/>
              </a:rPr>
              <a:t>application </a:t>
            </a:r>
            <a:r>
              <a:rPr lang="fr-FR" sz="2000" dirty="0" smtClean="0">
                <a:latin typeface="+mj-lt"/>
                <a:cs typeface="Arial"/>
              </a:rPr>
              <a:t>qui s'exécute  sur un </a:t>
            </a:r>
            <a:r>
              <a:rPr lang="fr-FR" sz="2000" spc="-5" dirty="0" smtClean="0">
                <a:latin typeface="+mj-lt"/>
                <a:cs typeface="Arial"/>
              </a:rPr>
              <a:t>ordinateur </a:t>
            </a:r>
            <a:r>
              <a:rPr lang="fr-FR" sz="2000" dirty="0" smtClean="0">
                <a:latin typeface="+mj-lt"/>
                <a:cs typeface="Arial"/>
              </a:rPr>
              <a:t>et qui  est </a:t>
            </a:r>
            <a:r>
              <a:rPr lang="fr-FR" sz="2000" spc="-5" dirty="0" smtClean="0">
                <a:latin typeface="+mj-lt"/>
                <a:cs typeface="Arial"/>
              </a:rPr>
              <a:t>utilisée </a:t>
            </a:r>
            <a:r>
              <a:rPr lang="fr-FR" sz="2000" dirty="0" smtClean="0">
                <a:latin typeface="+mj-lt"/>
                <a:cs typeface="Arial"/>
              </a:rPr>
              <a:t>pour</a:t>
            </a:r>
            <a:r>
              <a:rPr lang="fr-FR" sz="2000" spc="10" dirty="0" smtClean="0">
                <a:latin typeface="+mj-lt"/>
                <a:cs typeface="Arial"/>
              </a:rPr>
              <a:t> </a:t>
            </a:r>
            <a:r>
              <a:rPr lang="fr-FR" sz="2000" dirty="0" smtClean="0">
                <a:latin typeface="+mj-lt"/>
                <a:cs typeface="Arial"/>
              </a:rPr>
              <a:t>envoyer (push) et </a:t>
            </a:r>
            <a:r>
              <a:rPr lang="fr-FR" sz="2000" spc="-5" dirty="0" smtClean="0">
                <a:latin typeface="+mj-lt"/>
                <a:cs typeface="Arial"/>
              </a:rPr>
              <a:t>récupérer (pull)  </a:t>
            </a:r>
            <a:r>
              <a:rPr lang="fr-FR" sz="2000" dirty="0" smtClean="0">
                <a:latin typeface="+mj-lt"/>
                <a:cs typeface="Arial"/>
              </a:rPr>
              <a:t>des données à </a:t>
            </a:r>
            <a:r>
              <a:rPr lang="fr-FR" sz="2000" spc="-5" dirty="0" smtClean="0">
                <a:latin typeface="+mj-lt"/>
                <a:cs typeface="Arial"/>
              </a:rPr>
              <a:t>partir </a:t>
            </a:r>
            <a:r>
              <a:rPr lang="fr-FR" sz="2000" dirty="0" smtClean="0">
                <a:latin typeface="+mj-lt"/>
                <a:cs typeface="Arial"/>
              </a:rPr>
              <a:t>d'un  serveur en exécutant </a:t>
            </a:r>
            <a:r>
              <a:rPr lang="fr-FR" sz="2000" spc="-5" dirty="0" smtClean="0">
                <a:latin typeface="+mj-lt"/>
                <a:cs typeface="Arial"/>
              </a:rPr>
              <a:t>le  </a:t>
            </a:r>
            <a:r>
              <a:rPr lang="fr-FR" sz="2000" dirty="0" smtClean="0">
                <a:latin typeface="+mj-lt"/>
                <a:cs typeface="Arial"/>
              </a:rPr>
              <a:t>démon </a:t>
            </a:r>
            <a:r>
              <a:rPr lang="fr-FR" sz="2000" spc="-5" dirty="0" smtClean="0">
                <a:latin typeface="+mj-lt"/>
                <a:cs typeface="Arial"/>
              </a:rPr>
              <a:t>FTP</a:t>
            </a:r>
            <a:r>
              <a:rPr lang="fr-FR" sz="2000" dirty="0" smtClean="0">
                <a:latin typeface="+mj-lt"/>
                <a:cs typeface="Arial"/>
              </a:rPr>
              <a:t> </a:t>
            </a:r>
            <a:r>
              <a:rPr lang="fr-FR" sz="2000" spc="-5" dirty="0" smtClean="0">
                <a:latin typeface="+mj-lt"/>
                <a:cs typeface="Arial"/>
              </a:rPr>
              <a:t>(</a:t>
            </a:r>
            <a:r>
              <a:rPr lang="fr-FR" sz="2000" spc="-5" dirty="0" err="1" smtClean="0">
                <a:latin typeface="+mj-lt"/>
                <a:cs typeface="Arial"/>
              </a:rPr>
              <a:t>FTPd</a:t>
            </a:r>
            <a:r>
              <a:rPr lang="fr-FR" sz="2000" spc="-5" dirty="0" smtClean="0">
                <a:latin typeface="+mj-lt"/>
                <a:cs typeface="Arial"/>
              </a:rPr>
              <a:t>)</a:t>
            </a:r>
          </a:p>
          <a:p>
            <a:pPr marL="74295" marR="43180">
              <a:spcBef>
                <a:spcPts val="15"/>
              </a:spcBef>
            </a:pPr>
            <a:endParaRPr lang="fr-FR" sz="2000" dirty="0" smtClean="0">
              <a:latin typeface="+mj-lt"/>
              <a:cs typeface="Arial"/>
            </a:endParaRPr>
          </a:p>
          <a:p>
            <a:pPr marL="74295" indent="-74295">
              <a:buChar char="•"/>
              <a:tabLst>
                <a:tab pos="74930" algn="l"/>
              </a:tabLst>
            </a:pPr>
            <a:r>
              <a:rPr lang="fr-FR" sz="2000" dirty="0" smtClean="0">
                <a:latin typeface="+mj-lt"/>
                <a:cs typeface="Arial"/>
              </a:rPr>
              <a:t>Pour</a:t>
            </a:r>
            <a:r>
              <a:rPr lang="fr-FR" sz="2000" spc="-20" dirty="0" smtClean="0">
                <a:latin typeface="+mj-lt"/>
                <a:cs typeface="Arial"/>
              </a:rPr>
              <a:t> </a:t>
            </a:r>
            <a:r>
              <a:rPr lang="fr-FR" sz="2000" dirty="0" smtClean="0">
                <a:latin typeface="+mj-lt"/>
                <a:cs typeface="Arial"/>
              </a:rPr>
              <a:t>transférer </a:t>
            </a:r>
            <a:r>
              <a:rPr lang="fr-FR" sz="2000" spc="-5" dirty="0" smtClean="0">
                <a:latin typeface="+mj-lt"/>
                <a:cs typeface="Arial"/>
              </a:rPr>
              <a:t>correctement les </a:t>
            </a:r>
            <a:r>
              <a:rPr lang="fr-FR" sz="2000" dirty="0" smtClean="0">
                <a:latin typeface="+mj-lt"/>
                <a:cs typeface="Arial"/>
              </a:rPr>
              <a:t>données,  </a:t>
            </a:r>
            <a:r>
              <a:rPr lang="fr-FR" sz="2000" spc="-5" dirty="0" smtClean="0">
                <a:latin typeface="+mj-lt"/>
                <a:cs typeface="Arial"/>
              </a:rPr>
              <a:t>le protocole FTP </a:t>
            </a:r>
            <a:r>
              <a:rPr lang="fr-FR" sz="2000" dirty="0" smtClean="0">
                <a:latin typeface="+mj-lt"/>
                <a:cs typeface="Arial"/>
              </a:rPr>
              <a:t>nécessite  deux connexions </a:t>
            </a:r>
            <a:r>
              <a:rPr lang="fr-FR" sz="2000" spc="-5" dirty="0" smtClean="0">
                <a:latin typeface="+mj-lt"/>
                <a:cs typeface="Arial"/>
              </a:rPr>
              <a:t>entre le  client </a:t>
            </a:r>
            <a:r>
              <a:rPr lang="fr-FR" sz="2000" dirty="0" smtClean="0">
                <a:latin typeface="+mj-lt"/>
                <a:cs typeface="Arial"/>
              </a:rPr>
              <a:t>et </a:t>
            </a:r>
            <a:r>
              <a:rPr lang="fr-FR" sz="2000" spc="-5" dirty="0" smtClean="0">
                <a:latin typeface="+mj-lt"/>
                <a:cs typeface="Arial"/>
              </a:rPr>
              <a:t>le serveur, </a:t>
            </a:r>
            <a:r>
              <a:rPr lang="fr-FR" sz="2000" dirty="0" smtClean="0">
                <a:latin typeface="+mj-lt"/>
                <a:cs typeface="Arial"/>
              </a:rPr>
              <a:t>une  pour </a:t>
            </a:r>
            <a:r>
              <a:rPr lang="fr-FR" sz="2000" spc="-5" dirty="0" smtClean="0">
                <a:latin typeface="+mj-lt"/>
                <a:cs typeface="Arial"/>
              </a:rPr>
              <a:t>les </a:t>
            </a:r>
            <a:r>
              <a:rPr lang="fr-FR" sz="2000" dirty="0" smtClean="0">
                <a:latin typeface="+mj-lt"/>
                <a:cs typeface="Arial"/>
              </a:rPr>
              <a:t>commandes et  </a:t>
            </a:r>
            <a:r>
              <a:rPr lang="fr-FR" sz="2000" spc="-5" dirty="0" smtClean="0">
                <a:latin typeface="+mj-lt"/>
                <a:cs typeface="Arial"/>
              </a:rPr>
              <a:t>les </a:t>
            </a:r>
            <a:r>
              <a:rPr lang="fr-FR" sz="2000" dirty="0" smtClean="0">
                <a:latin typeface="+mj-lt"/>
                <a:cs typeface="Arial"/>
              </a:rPr>
              <a:t>réponses, </a:t>
            </a:r>
            <a:r>
              <a:rPr lang="fr-FR" sz="2000" spc="-5" dirty="0" smtClean="0">
                <a:latin typeface="+mj-lt"/>
                <a:cs typeface="Arial"/>
              </a:rPr>
              <a:t>l'autre </a:t>
            </a:r>
            <a:r>
              <a:rPr lang="fr-FR" sz="2000" dirty="0" smtClean="0">
                <a:latin typeface="+mj-lt"/>
                <a:cs typeface="Arial"/>
              </a:rPr>
              <a:t>pour  </a:t>
            </a:r>
            <a:r>
              <a:rPr lang="fr-FR" sz="2000" spc="-5" dirty="0" smtClean="0">
                <a:latin typeface="+mj-lt"/>
                <a:cs typeface="Arial"/>
              </a:rPr>
              <a:t>le </a:t>
            </a:r>
            <a:r>
              <a:rPr lang="fr-FR" sz="2000" dirty="0" smtClean="0">
                <a:latin typeface="+mj-lt"/>
                <a:cs typeface="Arial"/>
              </a:rPr>
              <a:t>transfert de</a:t>
            </a:r>
            <a:r>
              <a:rPr lang="fr-FR" sz="2000" spc="0" dirty="0" smtClean="0">
                <a:latin typeface="+mj-lt"/>
                <a:cs typeface="Arial"/>
              </a:rPr>
              <a:t> </a:t>
            </a:r>
            <a:r>
              <a:rPr lang="fr-FR" sz="2000" spc="-5" dirty="0" smtClean="0">
                <a:latin typeface="+mj-lt"/>
                <a:cs typeface="Arial"/>
              </a:rPr>
              <a:t>fichiers</a:t>
            </a:r>
            <a:endParaRPr lang="fr-FR" sz="2000" dirty="0">
              <a:latin typeface="+mj-lt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28600" y="228600"/>
            <a:ext cx="4835939" cy="2314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910"/>
              </a:lnSpc>
              <a:spcBef>
                <a:spcPts val="90"/>
              </a:spcBef>
            </a:pPr>
            <a:r>
              <a:rPr lang="fr-FR" b="1" spc="-10" dirty="0" smtClean="0">
                <a:solidFill>
                  <a:srgbClr val="6F8CA1"/>
                </a:solidFill>
                <a:latin typeface="Arial"/>
                <a:cs typeface="Arial"/>
              </a:rPr>
              <a:t>Fournir des services de partage de fichiers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152400" y="609600"/>
            <a:ext cx="7423186" cy="2702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1030"/>
              </a:lnSpc>
            </a:pPr>
            <a:r>
              <a:rPr lang="fr-FR" sz="2800" b="1" spc="5" dirty="0" smtClean="0">
                <a:solidFill>
                  <a:srgbClr val="6F8CA1"/>
                </a:solidFill>
                <a:latin typeface="Arial"/>
                <a:cs typeface="Arial"/>
              </a:rPr>
              <a:t>Le protocole SMB (Server Message Block)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2743200"/>
            <a:ext cx="3581400" cy="42601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" marR="46990" indent="-74295">
              <a:lnSpc>
                <a:spcPct val="150000"/>
              </a:lnSpc>
              <a:spcBef>
                <a:spcPts val="100"/>
              </a:spcBef>
              <a:buChar char="•"/>
              <a:tabLst>
                <a:tab pos="74930" algn="l"/>
              </a:tabLst>
            </a:pPr>
            <a:r>
              <a:rPr lang="fr-FR" sz="2000" spc="0" dirty="0" smtClean="0">
                <a:cs typeface="Arial"/>
              </a:rPr>
              <a:t>Les </a:t>
            </a:r>
            <a:r>
              <a:rPr lang="fr-FR" sz="2000" spc="-5" dirty="0" smtClean="0">
                <a:cs typeface="Arial"/>
              </a:rPr>
              <a:t>clients  </a:t>
            </a:r>
            <a:r>
              <a:rPr lang="fr-FR" sz="2000" dirty="0" smtClean="0">
                <a:cs typeface="Arial"/>
              </a:rPr>
              <a:t>établissent </a:t>
            </a:r>
            <a:r>
              <a:rPr lang="fr-FR" sz="2000" spc="0" dirty="0" smtClean="0">
                <a:cs typeface="Arial"/>
              </a:rPr>
              <a:t>une  </a:t>
            </a:r>
            <a:r>
              <a:rPr lang="fr-FR" sz="2000" dirty="0" smtClean="0">
                <a:cs typeface="Arial"/>
              </a:rPr>
              <a:t>connexion </a:t>
            </a:r>
            <a:r>
              <a:rPr lang="fr-FR" sz="2000" spc="0" dirty="0" smtClean="0">
                <a:cs typeface="Arial"/>
              </a:rPr>
              <a:t>à</a:t>
            </a:r>
            <a:r>
              <a:rPr lang="fr-FR" sz="2000" spc="-80" dirty="0" smtClean="0">
                <a:cs typeface="Arial"/>
              </a:rPr>
              <a:t> </a:t>
            </a:r>
            <a:r>
              <a:rPr lang="fr-FR" sz="2000" dirty="0" smtClean="0">
                <a:cs typeface="Arial"/>
              </a:rPr>
              <a:t>long  terme </a:t>
            </a:r>
            <a:r>
              <a:rPr lang="fr-FR" sz="2000" spc="0" dirty="0" smtClean="0">
                <a:cs typeface="Arial"/>
              </a:rPr>
              <a:t>avec </a:t>
            </a:r>
            <a:r>
              <a:rPr lang="fr-FR" sz="2000" spc="-5" dirty="0" smtClean="0">
                <a:cs typeface="Arial"/>
              </a:rPr>
              <a:t>les  </a:t>
            </a:r>
            <a:r>
              <a:rPr lang="fr-FR" sz="2000" dirty="0" smtClean="0">
                <a:cs typeface="Arial"/>
              </a:rPr>
              <a:t>serveurs</a:t>
            </a:r>
          </a:p>
          <a:p>
            <a:pPr marL="74295" marR="46990" indent="-74295">
              <a:lnSpc>
                <a:spcPct val="150000"/>
              </a:lnSpc>
              <a:spcBef>
                <a:spcPts val="100"/>
              </a:spcBef>
              <a:tabLst>
                <a:tab pos="74930" algn="l"/>
              </a:tabLst>
            </a:pPr>
            <a:endParaRPr lang="fr-FR" sz="2000" dirty="0" smtClean="0">
              <a:cs typeface="Arial"/>
            </a:endParaRPr>
          </a:p>
          <a:p>
            <a:pPr marL="74295" marR="5080" indent="-74295">
              <a:lnSpc>
                <a:spcPct val="150000"/>
              </a:lnSpc>
              <a:spcBef>
                <a:spcPts val="5"/>
              </a:spcBef>
              <a:buChar char="•"/>
              <a:tabLst>
                <a:tab pos="74930" algn="l"/>
              </a:tabLst>
            </a:pPr>
            <a:r>
              <a:rPr lang="fr-FR" sz="2000" spc="0" dirty="0" smtClean="0">
                <a:cs typeface="Arial"/>
              </a:rPr>
              <a:t>Une </a:t>
            </a:r>
            <a:r>
              <a:rPr lang="fr-FR" sz="2000" spc="-5" dirty="0" smtClean="0">
                <a:cs typeface="Arial"/>
              </a:rPr>
              <a:t>fois la  </a:t>
            </a:r>
            <a:r>
              <a:rPr lang="fr-FR" sz="2000" dirty="0" smtClean="0">
                <a:cs typeface="Arial"/>
              </a:rPr>
              <a:t>connexion</a:t>
            </a:r>
            <a:r>
              <a:rPr lang="fr-FR" sz="2000" spc="-30" dirty="0" smtClean="0">
                <a:cs typeface="Arial"/>
              </a:rPr>
              <a:t> </a:t>
            </a:r>
            <a:r>
              <a:rPr lang="fr-FR" sz="2000" spc="-5" dirty="0" smtClean="0">
                <a:cs typeface="Arial"/>
              </a:rPr>
              <a:t>établie,  l'utilisateur </a:t>
            </a:r>
            <a:r>
              <a:rPr lang="fr-FR" sz="2000" dirty="0" smtClean="0">
                <a:cs typeface="Arial"/>
              </a:rPr>
              <a:t>peut  accéder </a:t>
            </a:r>
            <a:r>
              <a:rPr lang="fr-FR" sz="2000" spc="0" dirty="0" smtClean="0">
                <a:cs typeface="Arial"/>
              </a:rPr>
              <a:t>aux  </a:t>
            </a:r>
            <a:r>
              <a:rPr lang="fr-FR" sz="2000" dirty="0" smtClean="0">
                <a:cs typeface="Arial"/>
              </a:rPr>
              <a:t>ressources </a:t>
            </a:r>
            <a:r>
              <a:rPr lang="fr-FR" sz="2000" spc="0" dirty="0" smtClean="0">
                <a:cs typeface="Arial"/>
              </a:rPr>
              <a:t>du  </a:t>
            </a:r>
            <a:r>
              <a:rPr lang="fr-FR" sz="2000" dirty="0" smtClean="0">
                <a:cs typeface="Arial"/>
              </a:rPr>
              <a:t>serveur </a:t>
            </a:r>
            <a:r>
              <a:rPr lang="fr-FR" sz="2000" spc="0" dirty="0" smtClean="0">
                <a:cs typeface="Arial"/>
              </a:rPr>
              <a:t>comme </a:t>
            </a:r>
            <a:r>
              <a:rPr lang="fr-FR" sz="2000" dirty="0" smtClean="0">
                <a:cs typeface="Arial"/>
              </a:rPr>
              <a:t>si  </a:t>
            </a:r>
            <a:r>
              <a:rPr lang="fr-FR" sz="2000" spc="-5" dirty="0" smtClean="0">
                <a:cs typeface="Arial"/>
              </a:rPr>
              <a:t>elles </a:t>
            </a:r>
            <a:r>
              <a:rPr lang="fr-FR" sz="2000" dirty="0" smtClean="0">
                <a:cs typeface="Arial"/>
              </a:rPr>
              <a:t>étaient  situées sur l'hôte  </a:t>
            </a:r>
            <a:r>
              <a:rPr lang="fr-FR" sz="2000" spc="-5" dirty="0" smtClean="0">
                <a:cs typeface="Arial"/>
              </a:rPr>
              <a:t>client, </a:t>
            </a:r>
            <a:r>
              <a:rPr lang="fr-FR" sz="2000" spc="0" dirty="0" smtClean="0">
                <a:cs typeface="Arial"/>
              </a:rPr>
              <a:t>en</a:t>
            </a:r>
            <a:r>
              <a:rPr lang="fr-FR" sz="2000" spc="-20" dirty="0" smtClean="0">
                <a:cs typeface="Arial"/>
              </a:rPr>
              <a:t> </a:t>
            </a:r>
            <a:r>
              <a:rPr lang="fr-FR" sz="2000" dirty="0" smtClean="0">
                <a:cs typeface="Arial"/>
              </a:rPr>
              <a:t>local</a:t>
            </a:r>
            <a:endParaRPr lang="fr-FR" sz="2000" dirty="0">
              <a:cs typeface="Arial"/>
            </a:endParaRPr>
          </a:p>
        </p:txBody>
      </p:sp>
      <p:sp>
        <p:nvSpPr>
          <p:cNvPr id="10" name="object 7"/>
          <p:cNvSpPr/>
          <p:nvPr/>
        </p:nvSpPr>
        <p:spPr>
          <a:xfrm>
            <a:off x="3581400" y="2667000"/>
            <a:ext cx="6248400" cy="4572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1066800"/>
            <a:ext cx="9829800" cy="14901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" marR="46990" indent="-74295">
              <a:lnSpc>
                <a:spcPct val="150000"/>
              </a:lnSpc>
              <a:spcBef>
                <a:spcPts val="100"/>
              </a:spcBef>
              <a:buChar char="•"/>
              <a:tabLst>
                <a:tab pos="74930" algn="l"/>
              </a:tabLst>
            </a:pPr>
            <a:r>
              <a:rPr lang="fr-FR" sz="2000" dirty="0" smtClean="0"/>
              <a:t>Le protocole SMB est un protocole de partage de fichiers client/serveur développé par IBM.</a:t>
            </a:r>
          </a:p>
          <a:p>
            <a:pPr marL="74295" marR="46990" indent="-74295">
              <a:lnSpc>
                <a:spcPct val="150000"/>
              </a:lnSpc>
              <a:spcBef>
                <a:spcPts val="100"/>
              </a:spcBef>
              <a:buChar char="•"/>
              <a:tabLst>
                <a:tab pos="74930" algn="l"/>
              </a:tabLst>
            </a:pPr>
            <a:r>
              <a:rPr lang="fr-FR" sz="2000" dirty="0" smtClean="0"/>
              <a:t>Le protocole SMB décrit l'accès au système de fichiers et la manière dont les clients peuvent demander des fichiers. </a:t>
            </a:r>
            <a:endParaRPr lang="fr-FR" sz="2000" spc="0" dirty="0" smtClean="0"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28600" y="228600"/>
            <a:ext cx="4835939" cy="2314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910"/>
              </a:lnSpc>
              <a:spcBef>
                <a:spcPts val="90"/>
              </a:spcBef>
            </a:pPr>
            <a:r>
              <a:rPr lang="fr-FR" b="1" spc="-10" dirty="0" smtClean="0">
                <a:solidFill>
                  <a:srgbClr val="6F8CA1"/>
                </a:solidFill>
                <a:latin typeface="Arial"/>
                <a:cs typeface="Arial"/>
              </a:rPr>
              <a:t>Fournir des services de partage de fichiers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152400" y="609600"/>
            <a:ext cx="7368684" cy="28950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1195"/>
              </a:lnSpc>
            </a:pPr>
            <a:r>
              <a:rPr lang="fr-FR" sz="2800" b="1" spc="-10" dirty="0" smtClean="0">
                <a:solidFill>
                  <a:srgbClr val="6F8CA1"/>
                </a:solidFill>
                <a:latin typeface="Arial"/>
                <a:cs typeface="Arial"/>
              </a:rPr>
              <a:t>Le protocole SMB (Server Message</a:t>
            </a:r>
            <a:r>
              <a:rPr lang="fr-FR" sz="2800" b="1" spc="150" dirty="0" smtClean="0">
                <a:solidFill>
                  <a:srgbClr val="6F8CA1"/>
                </a:solidFill>
                <a:latin typeface="Arial"/>
                <a:cs typeface="Arial"/>
              </a:rPr>
              <a:t> </a:t>
            </a:r>
            <a:r>
              <a:rPr lang="fr-FR" sz="2800" b="1" spc="-10" dirty="0" smtClean="0">
                <a:solidFill>
                  <a:srgbClr val="6F8CA1"/>
                </a:solidFill>
                <a:latin typeface="Arial"/>
                <a:cs typeface="Arial"/>
              </a:rPr>
              <a:t>Block)</a:t>
            </a:r>
            <a:endParaRPr lang="fr-FR" sz="2800" dirty="0">
              <a:latin typeface="Arial"/>
              <a:cs typeface="Arial"/>
            </a:endParaRPr>
          </a:p>
        </p:txBody>
      </p:sp>
      <p:sp>
        <p:nvSpPr>
          <p:cNvPr id="7" name="object 16"/>
          <p:cNvSpPr/>
          <p:nvPr/>
        </p:nvSpPr>
        <p:spPr>
          <a:xfrm>
            <a:off x="990600" y="1752600"/>
            <a:ext cx="8229600" cy="4800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600200" y="1066800"/>
            <a:ext cx="6781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 smtClean="0"/>
              <a:t>Le processus d'échange de fichiers SMB entre les ordinateurs Windows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28600" y="228600"/>
            <a:ext cx="1427955" cy="2314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910"/>
              </a:lnSpc>
              <a:spcBef>
                <a:spcPts val="90"/>
              </a:spcBef>
            </a:pPr>
            <a:r>
              <a:rPr lang="fr-FR" b="1" spc="-10" dirty="0" smtClean="0">
                <a:solidFill>
                  <a:srgbClr val="6F8CA1"/>
                </a:solidFill>
                <a:latin typeface="Arial"/>
                <a:cs typeface="Arial"/>
              </a:rPr>
              <a:t>C'est parti !</a:t>
            </a:r>
          </a:p>
        </p:txBody>
      </p:sp>
      <p:sp>
        <p:nvSpPr>
          <p:cNvPr id="6" name="Rectangle 5"/>
          <p:cNvSpPr/>
          <p:nvPr/>
        </p:nvSpPr>
        <p:spPr>
          <a:xfrm>
            <a:off x="152400" y="609600"/>
            <a:ext cx="3663503" cy="28950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1195"/>
              </a:lnSpc>
            </a:pPr>
            <a:r>
              <a:rPr lang="fr-FR" sz="2800" b="1" spc="-10" dirty="0" smtClean="0">
                <a:solidFill>
                  <a:srgbClr val="6F8CA1"/>
                </a:solidFill>
                <a:latin typeface="Arial"/>
                <a:cs typeface="Arial"/>
              </a:rPr>
              <a:t>L'Internet des</a:t>
            </a:r>
            <a:r>
              <a:rPr lang="fr-FR" sz="2800" b="1" spc="15" dirty="0" smtClean="0">
                <a:solidFill>
                  <a:srgbClr val="6F8CA1"/>
                </a:solidFill>
                <a:latin typeface="Arial"/>
                <a:cs typeface="Arial"/>
              </a:rPr>
              <a:t> </a:t>
            </a:r>
            <a:r>
              <a:rPr lang="fr-FR" sz="2800" b="1" spc="-10" dirty="0" smtClean="0">
                <a:solidFill>
                  <a:srgbClr val="6F8CA1"/>
                </a:solidFill>
                <a:latin typeface="Arial"/>
                <a:cs typeface="Arial"/>
              </a:rPr>
              <a:t>objets</a:t>
            </a:r>
            <a:endParaRPr lang="fr-FR" sz="2800" dirty="0">
              <a:latin typeface="Arial"/>
              <a:cs typeface="Arial"/>
            </a:endParaRPr>
          </a:p>
        </p:txBody>
      </p:sp>
      <p:sp>
        <p:nvSpPr>
          <p:cNvPr id="8" name="object 24"/>
          <p:cNvSpPr/>
          <p:nvPr/>
        </p:nvSpPr>
        <p:spPr>
          <a:xfrm>
            <a:off x="1219200" y="1143000"/>
            <a:ext cx="7848600" cy="5410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28600" y="228600"/>
            <a:ext cx="1427955" cy="2314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910"/>
              </a:lnSpc>
              <a:spcBef>
                <a:spcPts val="90"/>
              </a:spcBef>
            </a:pPr>
            <a:r>
              <a:rPr lang="fr-FR" b="1" spc="-10" dirty="0" smtClean="0">
                <a:solidFill>
                  <a:srgbClr val="6F8CA1"/>
                </a:solidFill>
                <a:latin typeface="Arial"/>
                <a:cs typeface="Arial"/>
              </a:rPr>
              <a:t>C'est parti !</a:t>
            </a:r>
          </a:p>
        </p:txBody>
      </p:sp>
      <p:sp>
        <p:nvSpPr>
          <p:cNvPr id="6" name="Rectangle 5"/>
          <p:cNvSpPr/>
          <p:nvPr/>
        </p:nvSpPr>
        <p:spPr>
          <a:xfrm>
            <a:off x="152400" y="609600"/>
            <a:ext cx="6954148" cy="28950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1195"/>
              </a:lnSpc>
            </a:pPr>
            <a:r>
              <a:rPr lang="fr-FR" sz="2800" b="1" spc="-10" dirty="0" smtClean="0">
                <a:solidFill>
                  <a:srgbClr val="6F8CA1"/>
                </a:solidFill>
                <a:latin typeface="Arial"/>
                <a:cs typeface="Arial"/>
              </a:rPr>
              <a:t>Le message </a:t>
            </a:r>
            <a:r>
              <a:rPr lang="fr-FR" sz="2800" b="1" spc="-15" dirty="0" smtClean="0">
                <a:solidFill>
                  <a:srgbClr val="6F8CA1"/>
                </a:solidFill>
                <a:latin typeface="Arial"/>
                <a:cs typeface="Arial"/>
              </a:rPr>
              <a:t>voyage </a:t>
            </a:r>
            <a:r>
              <a:rPr lang="fr-FR" sz="2800" b="1" spc="-5" dirty="0" smtClean="0">
                <a:solidFill>
                  <a:srgbClr val="6F8CA1"/>
                </a:solidFill>
                <a:latin typeface="Arial"/>
                <a:cs typeface="Arial"/>
              </a:rPr>
              <a:t>à </a:t>
            </a:r>
            <a:r>
              <a:rPr lang="fr-FR" sz="2800" b="1" spc="-10" dirty="0" smtClean="0">
                <a:solidFill>
                  <a:srgbClr val="6F8CA1"/>
                </a:solidFill>
                <a:latin typeface="Arial"/>
                <a:cs typeface="Arial"/>
              </a:rPr>
              <a:t>travers un</a:t>
            </a:r>
            <a:r>
              <a:rPr lang="fr-FR" sz="2800" b="1" spc="160" dirty="0" smtClean="0">
                <a:solidFill>
                  <a:srgbClr val="6F8CA1"/>
                </a:solidFill>
                <a:latin typeface="Arial"/>
                <a:cs typeface="Arial"/>
              </a:rPr>
              <a:t> </a:t>
            </a:r>
            <a:r>
              <a:rPr lang="fr-FR" sz="2800" b="1" spc="-10" dirty="0" smtClean="0">
                <a:solidFill>
                  <a:srgbClr val="6F8CA1"/>
                </a:solidFill>
                <a:latin typeface="Arial"/>
                <a:cs typeface="Arial"/>
              </a:rPr>
              <a:t>réseau</a:t>
            </a:r>
            <a:endParaRPr lang="fr-FR" sz="2800" dirty="0">
              <a:latin typeface="Arial"/>
              <a:cs typeface="Arial"/>
            </a:endParaRPr>
          </a:p>
        </p:txBody>
      </p:sp>
      <p:sp>
        <p:nvSpPr>
          <p:cNvPr id="7" name="object 32"/>
          <p:cNvSpPr/>
          <p:nvPr/>
        </p:nvSpPr>
        <p:spPr>
          <a:xfrm>
            <a:off x="914400" y="1219200"/>
            <a:ext cx="8077199" cy="50166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28600" y="228600"/>
            <a:ext cx="1427955" cy="2314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910"/>
              </a:lnSpc>
              <a:spcBef>
                <a:spcPts val="90"/>
              </a:spcBef>
            </a:pPr>
            <a:r>
              <a:rPr lang="fr-FR" b="1" spc="-10" dirty="0" smtClean="0">
                <a:solidFill>
                  <a:srgbClr val="6F8CA1"/>
                </a:solidFill>
                <a:latin typeface="Arial"/>
                <a:cs typeface="Arial"/>
              </a:rPr>
              <a:t>C'est parti !</a:t>
            </a:r>
          </a:p>
        </p:txBody>
      </p:sp>
      <p:sp>
        <p:nvSpPr>
          <p:cNvPr id="6" name="Rectangle 5"/>
          <p:cNvSpPr/>
          <p:nvPr/>
        </p:nvSpPr>
        <p:spPr>
          <a:xfrm>
            <a:off x="152400" y="609600"/>
            <a:ext cx="6954148" cy="28950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1195"/>
              </a:lnSpc>
            </a:pPr>
            <a:r>
              <a:rPr lang="fr-FR" sz="2800" b="1" spc="-10" dirty="0" smtClean="0">
                <a:solidFill>
                  <a:srgbClr val="6F8CA1"/>
                </a:solidFill>
                <a:latin typeface="Arial"/>
                <a:cs typeface="Arial"/>
              </a:rPr>
              <a:t>Le message </a:t>
            </a:r>
            <a:r>
              <a:rPr lang="fr-FR" sz="2800" b="1" spc="-15" dirty="0" smtClean="0">
                <a:solidFill>
                  <a:srgbClr val="6F8CA1"/>
                </a:solidFill>
                <a:latin typeface="Arial"/>
                <a:cs typeface="Arial"/>
              </a:rPr>
              <a:t>voyage </a:t>
            </a:r>
            <a:r>
              <a:rPr lang="fr-FR" sz="2800" b="1" spc="-5" dirty="0" smtClean="0">
                <a:solidFill>
                  <a:srgbClr val="6F8CA1"/>
                </a:solidFill>
                <a:latin typeface="Arial"/>
                <a:cs typeface="Arial"/>
              </a:rPr>
              <a:t>à </a:t>
            </a:r>
            <a:r>
              <a:rPr lang="fr-FR" sz="2800" b="1" spc="-10" dirty="0" smtClean="0">
                <a:solidFill>
                  <a:srgbClr val="6F8CA1"/>
                </a:solidFill>
                <a:latin typeface="Arial"/>
                <a:cs typeface="Arial"/>
              </a:rPr>
              <a:t>travers un</a:t>
            </a:r>
            <a:r>
              <a:rPr lang="fr-FR" sz="2800" b="1" spc="160" dirty="0" smtClean="0">
                <a:solidFill>
                  <a:srgbClr val="6F8CA1"/>
                </a:solidFill>
                <a:latin typeface="Arial"/>
                <a:cs typeface="Arial"/>
              </a:rPr>
              <a:t> </a:t>
            </a:r>
            <a:r>
              <a:rPr lang="fr-FR" sz="2800" b="1" spc="-10" dirty="0" smtClean="0">
                <a:solidFill>
                  <a:srgbClr val="6F8CA1"/>
                </a:solidFill>
                <a:latin typeface="Arial"/>
                <a:cs typeface="Arial"/>
              </a:rPr>
              <a:t>réseau</a:t>
            </a:r>
            <a:endParaRPr lang="fr-FR" sz="2800" dirty="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33400" y="1143000"/>
            <a:ext cx="8915400" cy="5257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28600" y="228600"/>
            <a:ext cx="1427955" cy="2314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910"/>
              </a:lnSpc>
              <a:spcBef>
                <a:spcPts val="90"/>
              </a:spcBef>
            </a:pPr>
            <a:r>
              <a:rPr lang="fr-FR" b="1" spc="-10" dirty="0" smtClean="0">
                <a:solidFill>
                  <a:srgbClr val="6F8CA1"/>
                </a:solidFill>
                <a:latin typeface="Arial"/>
                <a:cs typeface="Arial"/>
              </a:rPr>
              <a:t>C'est parti !</a:t>
            </a:r>
          </a:p>
        </p:txBody>
      </p:sp>
      <p:sp>
        <p:nvSpPr>
          <p:cNvPr id="6" name="Rectangle 5"/>
          <p:cNvSpPr/>
          <p:nvPr/>
        </p:nvSpPr>
        <p:spPr>
          <a:xfrm>
            <a:off x="152400" y="609600"/>
            <a:ext cx="6954148" cy="28950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1195"/>
              </a:lnSpc>
            </a:pPr>
            <a:r>
              <a:rPr lang="fr-FR" sz="2800" b="1" spc="-10" dirty="0" smtClean="0">
                <a:solidFill>
                  <a:srgbClr val="6F8CA1"/>
                </a:solidFill>
                <a:latin typeface="Arial"/>
                <a:cs typeface="Arial"/>
              </a:rPr>
              <a:t>Le message </a:t>
            </a:r>
            <a:r>
              <a:rPr lang="fr-FR" sz="2800" b="1" spc="-15" dirty="0" smtClean="0">
                <a:solidFill>
                  <a:srgbClr val="6F8CA1"/>
                </a:solidFill>
                <a:latin typeface="Arial"/>
                <a:cs typeface="Arial"/>
              </a:rPr>
              <a:t>voyage </a:t>
            </a:r>
            <a:r>
              <a:rPr lang="fr-FR" sz="2800" b="1" spc="-5" dirty="0" smtClean="0">
                <a:solidFill>
                  <a:srgbClr val="6F8CA1"/>
                </a:solidFill>
                <a:latin typeface="Arial"/>
                <a:cs typeface="Arial"/>
              </a:rPr>
              <a:t>à </a:t>
            </a:r>
            <a:r>
              <a:rPr lang="fr-FR" sz="2800" b="1" spc="-10" dirty="0" smtClean="0">
                <a:solidFill>
                  <a:srgbClr val="6F8CA1"/>
                </a:solidFill>
                <a:latin typeface="Arial"/>
                <a:cs typeface="Arial"/>
              </a:rPr>
              <a:t>travers un</a:t>
            </a:r>
            <a:r>
              <a:rPr lang="fr-FR" sz="2800" b="1" spc="160" dirty="0" smtClean="0">
                <a:solidFill>
                  <a:srgbClr val="6F8CA1"/>
                </a:solidFill>
                <a:latin typeface="Arial"/>
                <a:cs typeface="Arial"/>
              </a:rPr>
              <a:t> </a:t>
            </a:r>
            <a:r>
              <a:rPr lang="fr-FR" sz="2800" b="1" spc="-10" dirty="0" smtClean="0">
                <a:solidFill>
                  <a:srgbClr val="6F8CA1"/>
                </a:solidFill>
                <a:latin typeface="Arial"/>
                <a:cs typeface="Arial"/>
              </a:rPr>
              <a:t>réseau</a:t>
            </a:r>
            <a:endParaRPr lang="fr-FR" sz="2800" dirty="0">
              <a:latin typeface="Arial"/>
              <a:cs typeface="Arial"/>
            </a:endParaRPr>
          </a:p>
        </p:txBody>
      </p:sp>
      <p:sp>
        <p:nvSpPr>
          <p:cNvPr id="7" name="object 16"/>
          <p:cNvSpPr/>
          <p:nvPr/>
        </p:nvSpPr>
        <p:spPr>
          <a:xfrm>
            <a:off x="457200" y="1143000"/>
            <a:ext cx="9220200" cy="5029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28600" y="228600"/>
            <a:ext cx="1427955" cy="2314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910"/>
              </a:lnSpc>
              <a:spcBef>
                <a:spcPts val="90"/>
              </a:spcBef>
            </a:pPr>
            <a:r>
              <a:rPr lang="fr-FR" b="1" spc="-10" dirty="0" smtClean="0">
                <a:solidFill>
                  <a:srgbClr val="6F8CA1"/>
                </a:solidFill>
                <a:latin typeface="Arial"/>
                <a:cs typeface="Arial"/>
              </a:rPr>
              <a:t>C'est parti !</a:t>
            </a:r>
          </a:p>
        </p:txBody>
      </p:sp>
      <p:sp>
        <p:nvSpPr>
          <p:cNvPr id="6" name="Rectangle 5"/>
          <p:cNvSpPr/>
          <p:nvPr/>
        </p:nvSpPr>
        <p:spPr>
          <a:xfrm>
            <a:off x="152400" y="609600"/>
            <a:ext cx="8415509" cy="2798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1085"/>
              </a:lnSpc>
            </a:pPr>
            <a:r>
              <a:rPr lang="fr-FR" sz="2800" b="1" spc="-5" dirty="0" smtClean="0">
                <a:solidFill>
                  <a:srgbClr val="6F8CA1"/>
                </a:solidFill>
                <a:latin typeface="Arial"/>
                <a:cs typeface="Arial"/>
              </a:rPr>
              <a:t>Transmission des données au périphérique</a:t>
            </a:r>
            <a:r>
              <a:rPr lang="fr-FR" sz="2800" b="1" spc="75" dirty="0" smtClean="0">
                <a:solidFill>
                  <a:srgbClr val="6F8CA1"/>
                </a:solidFill>
                <a:latin typeface="Arial"/>
                <a:cs typeface="Arial"/>
              </a:rPr>
              <a:t> </a:t>
            </a:r>
            <a:r>
              <a:rPr lang="fr-FR" sz="2800" b="1" spc="-5" dirty="0" smtClean="0">
                <a:solidFill>
                  <a:srgbClr val="6F8CA1"/>
                </a:solidFill>
                <a:latin typeface="Arial"/>
                <a:cs typeface="Arial"/>
              </a:rPr>
              <a:t>final</a:t>
            </a:r>
            <a:endParaRPr lang="fr-FR" sz="2800" dirty="0">
              <a:latin typeface="Arial"/>
              <a:cs typeface="Arial"/>
            </a:endParaRPr>
          </a:p>
        </p:txBody>
      </p:sp>
      <p:sp>
        <p:nvSpPr>
          <p:cNvPr id="8" name="object 24"/>
          <p:cNvSpPr/>
          <p:nvPr/>
        </p:nvSpPr>
        <p:spPr>
          <a:xfrm>
            <a:off x="533400" y="990600"/>
            <a:ext cx="8229600" cy="5334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28600" y="228600"/>
            <a:ext cx="1427955" cy="2314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910"/>
              </a:lnSpc>
              <a:spcBef>
                <a:spcPts val="90"/>
              </a:spcBef>
            </a:pPr>
            <a:r>
              <a:rPr lang="fr-FR" b="1" spc="-10" dirty="0" smtClean="0">
                <a:solidFill>
                  <a:srgbClr val="6F8CA1"/>
                </a:solidFill>
                <a:latin typeface="Arial"/>
                <a:cs typeface="Arial"/>
              </a:rPr>
              <a:t>C'est parti !</a:t>
            </a:r>
          </a:p>
        </p:txBody>
      </p:sp>
      <p:sp>
        <p:nvSpPr>
          <p:cNvPr id="6" name="Rectangle 5"/>
          <p:cNvSpPr/>
          <p:nvPr/>
        </p:nvSpPr>
        <p:spPr>
          <a:xfrm>
            <a:off x="152400" y="609600"/>
            <a:ext cx="7589001" cy="28950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1195"/>
              </a:lnSpc>
            </a:pPr>
            <a:r>
              <a:rPr lang="fr-FR" sz="2800" b="1" spc="-10" dirty="0" smtClean="0">
                <a:solidFill>
                  <a:srgbClr val="6F8CA1"/>
                </a:solidFill>
                <a:latin typeface="Arial"/>
                <a:cs typeface="Arial"/>
              </a:rPr>
              <a:t>Transmission des données via</a:t>
            </a:r>
            <a:r>
              <a:rPr lang="fr-FR" sz="2800" b="1" spc="140" dirty="0" smtClean="0">
                <a:solidFill>
                  <a:srgbClr val="6F8CA1"/>
                </a:solidFill>
                <a:latin typeface="Arial"/>
                <a:cs typeface="Arial"/>
              </a:rPr>
              <a:t> </a:t>
            </a:r>
            <a:r>
              <a:rPr lang="fr-FR" sz="2800" b="1" spc="-10" dirty="0" smtClean="0">
                <a:solidFill>
                  <a:srgbClr val="6F8CA1"/>
                </a:solidFill>
                <a:latin typeface="Arial"/>
                <a:cs typeface="Arial"/>
              </a:rPr>
              <a:t>l'</a:t>
            </a:r>
            <a:r>
              <a:rPr lang="fr-FR" sz="2800" b="1" spc="-10" dirty="0" err="1" smtClean="0">
                <a:solidFill>
                  <a:srgbClr val="6F8CA1"/>
                </a:solidFill>
                <a:latin typeface="Arial"/>
                <a:cs typeface="Arial"/>
              </a:rPr>
              <a:t>interréseau</a:t>
            </a:r>
            <a:endParaRPr lang="fr-FR" sz="2800" dirty="0">
              <a:latin typeface="Arial"/>
              <a:cs typeface="Arial"/>
            </a:endParaRPr>
          </a:p>
        </p:txBody>
      </p:sp>
      <p:sp>
        <p:nvSpPr>
          <p:cNvPr id="7" name="object 32"/>
          <p:cNvSpPr/>
          <p:nvPr/>
        </p:nvSpPr>
        <p:spPr>
          <a:xfrm>
            <a:off x="685800" y="990600"/>
            <a:ext cx="8382000" cy="518713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28600" y="228600"/>
            <a:ext cx="1427955" cy="2314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910"/>
              </a:lnSpc>
              <a:spcBef>
                <a:spcPts val="90"/>
              </a:spcBef>
            </a:pPr>
            <a:r>
              <a:rPr lang="fr-FR" b="1" spc="-10" dirty="0" smtClean="0">
                <a:solidFill>
                  <a:srgbClr val="6F8CA1"/>
                </a:solidFill>
                <a:latin typeface="Arial"/>
                <a:cs typeface="Arial"/>
              </a:rPr>
              <a:t>C'est parti !</a:t>
            </a:r>
          </a:p>
        </p:txBody>
      </p:sp>
      <p:sp>
        <p:nvSpPr>
          <p:cNvPr id="6" name="Rectangle 5"/>
          <p:cNvSpPr/>
          <p:nvPr/>
        </p:nvSpPr>
        <p:spPr>
          <a:xfrm>
            <a:off x="152400" y="609600"/>
            <a:ext cx="8680325" cy="2702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1030"/>
              </a:lnSpc>
            </a:pPr>
            <a:r>
              <a:rPr lang="fr-FR" sz="2800" b="1" spc="5" dirty="0" smtClean="0">
                <a:solidFill>
                  <a:srgbClr val="6F8CA1"/>
                </a:solidFill>
                <a:latin typeface="Arial"/>
                <a:cs typeface="Arial"/>
              </a:rPr>
              <a:t>Transmission des données à </a:t>
            </a:r>
            <a:r>
              <a:rPr lang="fr-FR" sz="2800" b="1" spc="0" dirty="0" smtClean="0">
                <a:solidFill>
                  <a:srgbClr val="6F8CA1"/>
                </a:solidFill>
                <a:latin typeface="Arial"/>
                <a:cs typeface="Arial"/>
              </a:rPr>
              <a:t>la </a:t>
            </a:r>
            <a:r>
              <a:rPr lang="fr-FR" sz="2800" b="1" spc="5" dirty="0" smtClean="0">
                <a:solidFill>
                  <a:srgbClr val="6F8CA1"/>
                </a:solidFill>
                <a:latin typeface="Arial"/>
                <a:cs typeface="Arial"/>
              </a:rPr>
              <a:t>bonne</a:t>
            </a:r>
            <a:r>
              <a:rPr lang="fr-FR" sz="2800" b="1" spc="-120" dirty="0" smtClean="0">
                <a:solidFill>
                  <a:srgbClr val="6F8CA1"/>
                </a:solidFill>
                <a:latin typeface="Arial"/>
                <a:cs typeface="Arial"/>
              </a:rPr>
              <a:t> </a:t>
            </a:r>
            <a:r>
              <a:rPr lang="fr-FR" sz="2800" b="1" spc="0" dirty="0" smtClean="0">
                <a:solidFill>
                  <a:srgbClr val="6F8CA1"/>
                </a:solidFill>
                <a:latin typeface="Arial"/>
                <a:cs typeface="Arial"/>
              </a:rPr>
              <a:t>application</a:t>
            </a:r>
            <a:endParaRPr lang="fr-FR" sz="2800" dirty="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33400" y="990600"/>
            <a:ext cx="8686800" cy="54863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28600" y="228600"/>
            <a:ext cx="2581476" cy="2314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910"/>
              </a:lnSpc>
              <a:spcBef>
                <a:spcPts val="90"/>
              </a:spcBef>
            </a:pPr>
            <a:r>
              <a:rPr lang="fr-FR" b="1" spc="-10" dirty="0" smtClean="0">
                <a:solidFill>
                  <a:srgbClr val="6F8CA1"/>
                </a:solidFill>
                <a:latin typeface="Arial"/>
                <a:cs typeface="Arial"/>
              </a:rPr>
              <a:t>La couche application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52400" y="609600"/>
            <a:ext cx="1587935" cy="2702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1030"/>
              </a:lnSpc>
            </a:pPr>
            <a:r>
              <a:rPr lang="fr-FR" sz="2800" b="1" spc="5" dirty="0" smtClean="0">
                <a:solidFill>
                  <a:srgbClr val="6F8CA1"/>
                </a:solidFill>
                <a:latin typeface="Arial"/>
                <a:cs typeface="Arial"/>
              </a:rPr>
              <a:t>Résumé</a:t>
            </a:r>
            <a:endParaRPr lang="fr-FR" sz="2800" dirty="0">
              <a:latin typeface="Arial"/>
              <a:cs typeface="Arial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52400" y="1066800"/>
            <a:ext cx="8610600" cy="56743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8265" marR="125730" indent="-78105">
              <a:lnSpc>
                <a:spcPct val="200000"/>
              </a:lnSpc>
              <a:spcBef>
                <a:spcPts val="440"/>
              </a:spcBef>
              <a:buClr>
                <a:srgbClr val="6F8CA1"/>
              </a:buClr>
              <a:buFont typeface="Wingdings"/>
              <a:buChar char=""/>
              <a:tabLst>
                <a:tab pos="88900" algn="l"/>
              </a:tabLst>
            </a:pPr>
            <a:r>
              <a:rPr lang="fr-FR" sz="2000" spc="-5" dirty="0" smtClean="0">
                <a:cs typeface="Arial"/>
              </a:rPr>
              <a:t>Les</a:t>
            </a:r>
            <a:r>
              <a:rPr lang="fr-FR" sz="2000" spc="-45" dirty="0" smtClean="0">
                <a:cs typeface="Arial"/>
              </a:rPr>
              <a:t> </a:t>
            </a:r>
            <a:r>
              <a:rPr lang="fr-FR" sz="2000" spc="-5" dirty="0" smtClean="0">
                <a:cs typeface="Arial"/>
              </a:rPr>
              <a:t>applications</a:t>
            </a:r>
            <a:r>
              <a:rPr lang="fr-FR" sz="2000" spc="-55" dirty="0" smtClean="0">
                <a:cs typeface="Arial"/>
              </a:rPr>
              <a:t> </a:t>
            </a:r>
            <a:r>
              <a:rPr lang="fr-FR" sz="2000" spc="-5" dirty="0" smtClean="0">
                <a:cs typeface="Arial"/>
              </a:rPr>
              <a:t>sont</a:t>
            </a:r>
            <a:r>
              <a:rPr lang="fr-FR" sz="2000" spc="-35" dirty="0" smtClean="0">
                <a:cs typeface="Arial"/>
              </a:rPr>
              <a:t> </a:t>
            </a:r>
            <a:r>
              <a:rPr lang="fr-FR" sz="2000" spc="-5" dirty="0" smtClean="0">
                <a:cs typeface="Arial"/>
              </a:rPr>
              <a:t>des</a:t>
            </a:r>
            <a:r>
              <a:rPr lang="fr-FR" sz="2000" spc="-30" dirty="0" smtClean="0">
                <a:cs typeface="Arial"/>
              </a:rPr>
              <a:t> </a:t>
            </a:r>
            <a:r>
              <a:rPr lang="fr-FR" sz="2000" spc="-5" dirty="0" smtClean="0">
                <a:cs typeface="Arial"/>
              </a:rPr>
              <a:t>programmes</a:t>
            </a:r>
            <a:r>
              <a:rPr lang="fr-FR" sz="2000" spc="-55" dirty="0" smtClean="0">
                <a:cs typeface="Arial"/>
              </a:rPr>
              <a:t> </a:t>
            </a:r>
            <a:r>
              <a:rPr lang="fr-FR" sz="2000" spc="-5" dirty="0" smtClean="0">
                <a:cs typeface="Arial"/>
              </a:rPr>
              <a:t>informatiques</a:t>
            </a:r>
            <a:r>
              <a:rPr lang="fr-FR" sz="2000" spc="-65" dirty="0" smtClean="0">
                <a:cs typeface="Arial"/>
              </a:rPr>
              <a:t> </a:t>
            </a:r>
            <a:r>
              <a:rPr lang="fr-FR" sz="2000" spc="-5" dirty="0" smtClean="0">
                <a:cs typeface="Arial"/>
              </a:rPr>
              <a:t>avec  lesquels les utilisateurs interagissent et qui lancent le  processus de transfert de données à la demande des  utilisateurs.</a:t>
            </a:r>
            <a:endParaRPr lang="fr-FR" sz="2000" dirty="0" smtClean="0">
              <a:cs typeface="Arial"/>
            </a:endParaRPr>
          </a:p>
          <a:p>
            <a:pPr marL="88265" marR="20320" indent="-78105">
              <a:lnSpc>
                <a:spcPct val="200000"/>
              </a:lnSpc>
              <a:spcBef>
                <a:spcPts val="455"/>
              </a:spcBef>
              <a:buClr>
                <a:srgbClr val="6F8CA1"/>
              </a:buClr>
              <a:buFont typeface="Wingdings"/>
              <a:buChar char=""/>
              <a:tabLst>
                <a:tab pos="88900" algn="l"/>
              </a:tabLst>
            </a:pPr>
            <a:r>
              <a:rPr lang="fr-FR" sz="2000" spc="-5" dirty="0" smtClean="0">
                <a:cs typeface="Arial"/>
              </a:rPr>
              <a:t>Les services sont des programmes </a:t>
            </a:r>
            <a:r>
              <a:rPr lang="fr-FR" sz="2000" spc="-10" dirty="0" smtClean="0">
                <a:cs typeface="Arial"/>
              </a:rPr>
              <a:t>s'exécutant </a:t>
            </a:r>
            <a:r>
              <a:rPr lang="fr-FR" sz="2000" spc="-5" dirty="0" smtClean="0">
                <a:cs typeface="Arial"/>
              </a:rPr>
              <a:t>en tâche de  fond</a:t>
            </a:r>
            <a:r>
              <a:rPr lang="fr-FR" sz="2000" spc="-45" dirty="0" smtClean="0">
                <a:cs typeface="Arial"/>
              </a:rPr>
              <a:t> </a:t>
            </a:r>
            <a:r>
              <a:rPr lang="fr-FR" sz="2000" spc="-5" dirty="0" smtClean="0">
                <a:cs typeface="Arial"/>
              </a:rPr>
              <a:t>qui</a:t>
            </a:r>
            <a:r>
              <a:rPr lang="fr-FR" sz="2000" spc="-20" dirty="0" smtClean="0">
                <a:cs typeface="Arial"/>
              </a:rPr>
              <a:t> </a:t>
            </a:r>
            <a:r>
              <a:rPr lang="fr-FR" sz="2000" spc="-5" dirty="0" smtClean="0">
                <a:cs typeface="Arial"/>
              </a:rPr>
              <a:t>assurent</a:t>
            </a:r>
            <a:r>
              <a:rPr lang="fr-FR" sz="2000" spc="-40" dirty="0" smtClean="0">
                <a:cs typeface="Arial"/>
              </a:rPr>
              <a:t> </a:t>
            </a:r>
            <a:r>
              <a:rPr lang="fr-FR" sz="2000" spc="-5" dirty="0" smtClean="0">
                <a:cs typeface="Arial"/>
              </a:rPr>
              <a:t>la</a:t>
            </a:r>
            <a:r>
              <a:rPr lang="fr-FR" sz="2000" spc="-10" dirty="0" smtClean="0">
                <a:cs typeface="Arial"/>
              </a:rPr>
              <a:t> connexion</a:t>
            </a:r>
            <a:r>
              <a:rPr lang="fr-FR" sz="2000" spc="-35" dirty="0" smtClean="0">
                <a:cs typeface="Arial"/>
              </a:rPr>
              <a:t> </a:t>
            </a:r>
            <a:r>
              <a:rPr lang="fr-FR" sz="2000" spc="-5" dirty="0" smtClean="0">
                <a:cs typeface="Arial"/>
              </a:rPr>
              <a:t>entre</a:t>
            </a:r>
            <a:r>
              <a:rPr lang="fr-FR" sz="2000" spc="-20" dirty="0" smtClean="0">
                <a:cs typeface="Arial"/>
              </a:rPr>
              <a:t> </a:t>
            </a:r>
            <a:r>
              <a:rPr lang="fr-FR" sz="2000" spc="-5" dirty="0" smtClean="0">
                <a:cs typeface="Arial"/>
              </a:rPr>
              <a:t>la</a:t>
            </a:r>
            <a:r>
              <a:rPr lang="fr-FR" sz="2000" spc="-20" dirty="0" smtClean="0">
                <a:cs typeface="Arial"/>
              </a:rPr>
              <a:t> </a:t>
            </a:r>
            <a:r>
              <a:rPr lang="fr-FR" sz="2000" spc="-5" dirty="0" smtClean="0">
                <a:cs typeface="Arial"/>
              </a:rPr>
              <a:t>couche</a:t>
            </a:r>
            <a:r>
              <a:rPr lang="fr-FR" sz="2000" spc="-35" dirty="0" smtClean="0">
                <a:cs typeface="Arial"/>
              </a:rPr>
              <a:t> </a:t>
            </a:r>
            <a:r>
              <a:rPr lang="fr-FR" sz="2000" spc="-5" dirty="0" smtClean="0">
                <a:cs typeface="Arial"/>
              </a:rPr>
              <a:t>application</a:t>
            </a:r>
            <a:r>
              <a:rPr lang="fr-FR" sz="2000" spc="-45" dirty="0" smtClean="0">
                <a:cs typeface="Arial"/>
              </a:rPr>
              <a:t> </a:t>
            </a:r>
            <a:r>
              <a:rPr lang="fr-FR" sz="2000" spc="-5" dirty="0" smtClean="0">
                <a:cs typeface="Arial"/>
              </a:rPr>
              <a:t>et  les couches inférieures du modèle de</a:t>
            </a:r>
            <a:r>
              <a:rPr lang="fr-FR" sz="2000" spc="-160" dirty="0" smtClean="0">
                <a:cs typeface="Arial"/>
              </a:rPr>
              <a:t> </a:t>
            </a:r>
            <a:r>
              <a:rPr lang="fr-FR" sz="2000" spc="-5" dirty="0" smtClean="0">
                <a:cs typeface="Arial"/>
              </a:rPr>
              <a:t>réseau.</a:t>
            </a:r>
            <a:endParaRPr lang="fr-FR" sz="2000" dirty="0" smtClean="0">
              <a:cs typeface="Arial"/>
            </a:endParaRPr>
          </a:p>
          <a:p>
            <a:pPr marL="88265" marR="5080" indent="-78105">
              <a:lnSpc>
                <a:spcPct val="200000"/>
              </a:lnSpc>
              <a:spcBef>
                <a:spcPts val="484"/>
              </a:spcBef>
              <a:buClr>
                <a:srgbClr val="6F8CA1"/>
              </a:buClr>
              <a:buFont typeface="Wingdings"/>
              <a:buChar char=""/>
              <a:tabLst>
                <a:tab pos="88900" algn="l"/>
              </a:tabLst>
            </a:pPr>
            <a:r>
              <a:rPr lang="fr-FR" sz="2000" spc="-5" dirty="0" smtClean="0">
                <a:cs typeface="Arial"/>
              </a:rPr>
              <a:t>Les protocoles fournissent une structure de règles et de  processus convenus grâce </a:t>
            </a:r>
            <a:r>
              <a:rPr lang="fr-FR" sz="2000" spc="-10" dirty="0" smtClean="0">
                <a:cs typeface="Arial"/>
              </a:rPr>
              <a:t>auxquels </a:t>
            </a:r>
            <a:r>
              <a:rPr lang="fr-FR" sz="2000" spc="-5" dirty="0" smtClean="0">
                <a:cs typeface="Arial"/>
              </a:rPr>
              <a:t>les services</a:t>
            </a:r>
            <a:r>
              <a:rPr lang="fr-FR" sz="2000" spc="-145" dirty="0" smtClean="0">
                <a:cs typeface="Arial"/>
              </a:rPr>
              <a:t> </a:t>
            </a:r>
            <a:r>
              <a:rPr lang="fr-FR" sz="2000" spc="-10" dirty="0" smtClean="0">
                <a:cs typeface="Arial"/>
              </a:rPr>
              <a:t>s'exécutant  </a:t>
            </a:r>
            <a:r>
              <a:rPr lang="fr-FR" sz="2000" spc="-5" dirty="0" smtClean="0">
                <a:cs typeface="Arial"/>
              </a:rPr>
              <a:t>sur un périphérique particulier peuvent </a:t>
            </a:r>
            <a:r>
              <a:rPr lang="fr-FR" sz="2000" spc="-10" dirty="0" smtClean="0">
                <a:cs typeface="Arial"/>
              </a:rPr>
              <a:t>envoyer </a:t>
            </a:r>
            <a:r>
              <a:rPr lang="fr-FR" sz="2000" spc="-5" dirty="0" smtClean="0">
                <a:cs typeface="Arial"/>
              </a:rPr>
              <a:t>et recevoir  des données de divers périphériques</a:t>
            </a:r>
            <a:r>
              <a:rPr lang="fr-FR" sz="2000" spc="-165" dirty="0" smtClean="0">
                <a:cs typeface="Arial"/>
              </a:rPr>
              <a:t> </a:t>
            </a:r>
            <a:r>
              <a:rPr lang="fr-FR" sz="2000" spc="-5" dirty="0" smtClean="0">
                <a:cs typeface="Arial"/>
              </a:rPr>
              <a:t>réseau.</a:t>
            </a:r>
            <a:endParaRPr lang="fr-FR" sz="2000" dirty="0"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28600" y="228600"/>
            <a:ext cx="2581476" cy="2314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910"/>
              </a:lnSpc>
              <a:spcBef>
                <a:spcPts val="90"/>
              </a:spcBef>
            </a:pPr>
            <a:r>
              <a:rPr lang="fr-FR" b="1" spc="-10" dirty="0" smtClean="0">
                <a:solidFill>
                  <a:srgbClr val="6F8CA1"/>
                </a:solidFill>
                <a:latin typeface="Arial"/>
                <a:cs typeface="Arial"/>
              </a:rPr>
              <a:t>La couche application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52400" y="609600"/>
            <a:ext cx="1587935" cy="2702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1030"/>
              </a:lnSpc>
            </a:pPr>
            <a:r>
              <a:rPr lang="fr-FR" sz="2800" b="1" spc="5" dirty="0" smtClean="0">
                <a:solidFill>
                  <a:srgbClr val="6F8CA1"/>
                </a:solidFill>
                <a:latin typeface="Arial"/>
                <a:cs typeface="Arial"/>
              </a:rPr>
              <a:t>Résumé</a:t>
            </a:r>
            <a:endParaRPr lang="fr-FR" sz="2800" dirty="0">
              <a:latin typeface="Arial"/>
              <a:cs typeface="Arial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52400" y="1066800"/>
            <a:ext cx="9525000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8265" marR="394970" indent="-78105">
              <a:lnSpc>
                <a:spcPct val="150000"/>
              </a:lnSpc>
              <a:spcBef>
                <a:spcPts val="430"/>
              </a:spcBef>
              <a:buClr>
                <a:srgbClr val="6F8CA1"/>
              </a:buClr>
              <a:buFont typeface="Wingdings"/>
              <a:buChar char=""/>
              <a:tabLst>
                <a:tab pos="88900" algn="l"/>
              </a:tabLst>
            </a:pPr>
            <a:r>
              <a:rPr lang="fr-FR" sz="2000" spc="5" dirty="0" smtClean="0">
                <a:cs typeface="Arial"/>
              </a:rPr>
              <a:t>Le </a:t>
            </a:r>
            <a:r>
              <a:rPr lang="fr-FR" sz="2000" spc="0" dirty="0" smtClean="0">
                <a:cs typeface="Arial"/>
              </a:rPr>
              <a:t>protocole </a:t>
            </a:r>
            <a:r>
              <a:rPr lang="fr-FR" sz="2000" spc="5" dirty="0" smtClean="0">
                <a:cs typeface="Arial"/>
              </a:rPr>
              <a:t>HTTP </a:t>
            </a:r>
            <a:r>
              <a:rPr lang="fr-FR" sz="2000" spc="0" dirty="0" smtClean="0">
                <a:cs typeface="Arial"/>
              </a:rPr>
              <a:t>prend </a:t>
            </a:r>
            <a:r>
              <a:rPr lang="fr-FR" sz="2000" spc="5" dirty="0" smtClean="0">
                <a:cs typeface="Arial"/>
              </a:rPr>
              <a:t>en </a:t>
            </a:r>
            <a:r>
              <a:rPr lang="fr-FR" sz="2000" spc="0" dirty="0" smtClean="0">
                <a:cs typeface="Arial"/>
              </a:rPr>
              <a:t>charge l'envoi </a:t>
            </a:r>
            <a:r>
              <a:rPr lang="fr-FR" sz="2000" spc="5" dirty="0" smtClean="0">
                <a:cs typeface="Arial"/>
              </a:rPr>
              <a:t>de </a:t>
            </a:r>
            <a:r>
              <a:rPr lang="fr-FR" sz="2000" spc="0" dirty="0" smtClean="0">
                <a:cs typeface="Arial"/>
              </a:rPr>
              <a:t>pages </a:t>
            </a:r>
            <a:r>
              <a:rPr lang="fr-FR" sz="2000" spc="15" dirty="0" smtClean="0">
                <a:cs typeface="Arial"/>
              </a:rPr>
              <a:t>Web </a:t>
            </a:r>
            <a:r>
              <a:rPr lang="fr-FR" sz="2000" spc="5" dirty="0" smtClean="0">
                <a:cs typeface="Arial"/>
              </a:rPr>
              <a:t>vers </a:t>
            </a:r>
            <a:r>
              <a:rPr lang="fr-FR" sz="2000" spc="0" dirty="0" smtClean="0">
                <a:cs typeface="Arial"/>
              </a:rPr>
              <a:t>les  périphériques</a:t>
            </a:r>
            <a:r>
              <a:rPr lang="fr-FR" sz="2000" spc="35" dirty="0" smtClean="0">
                <a:cs typeface="Arial"/>
              </a:rPr>
              <a:t> </a:t>
            </a:r>
            <a:r>
              <a:rPr lang="fr-FR" sz="2000" dirty="0" smtClean="0">
                <a:cs typeface="Arial"/>
              </a:rPr>
              <a:t>finaux</a:t>
            </a:r>
          </a:p>
          <a:p>
            <a:pPr marL="88265" marR="337185" indent="-78105">
              <a:lnSpc>
                <a:spcPct val="150000"/>
              </a:lnSpc>
              <a:spcBef>
                <a:spcPts val="380"/>
              </a:spcBef>
              <a:buClr>
                <a:srgbClr val="6F8CA1"/>
              </a:buClr>
              <a:buFont typeface="Wingdings"/>
              <a:buChar char=""/>
              <a:tabLst>
                <a:tab pos="88900" algn="l"/>
              </a:tabLst>
            </a:pPr>
            <a:r>
              <a:rPr lang="fr-FR" sz="2000" spc="5" dirty="0" smtClean="0">
                <a:cs typeface="Arial"/>
              </a:rPr>
              <a:t>Les </a:t>
            </a:r>
            <a:r>
              <a:rPr lang="fr-FR" sz="2000" spc="0" dirty="0" smtClean="0">
                <a:cs typeface="Arial"/>
              </a:rPr>
              <a:t>protocoles </a:t>
            </a:r>
            <a:r>
              <a:rPr lang="fr-FR" sz="2000" spc="5" dirty="0" smtClean="0">
                <a:cs typeface="Arial"/>
              </a:rPr>
              <a:t>SMTP, POP et </a:t>
            </a:r>
            <a:r>
              <a:rPr lang="fr-FR" sz="2000" spc="0" dirty="0" smtClean="0">
                <a:cs typeface="Arial"/>
              </a:rPr>
              <a:t>IMAP prennent </a:t>
            </a:r>
            <a:r>
              <a:rPr lang="fr-FR" sz="2000" spc="5" dirty="0" smtClean="0">
                <a:cs typeface="Arial"/>
              </a:rPr>
              <a:t>en </a:t>
            </a:r>
            <a:r>
              <a:rPr lang="fr-FR" sz="2000" spc="0" dirty="0" smtClean="0">
                <a:cs typeface="Arial"/>
              </a:rPr>
              <a:t>charge l'envoi </a:t>
            </a:r>
            <a:r>
              <a:rPr lang="fr-FR" sz="2000" spc="5" dirty="0" smtClean="0">
                <a:cs typeface="Arial"/>
              </a:rPr>
              <a:t>et </a:t>
            </a:r>
            <a:r>
              <a:rPr lang="fr-FR" sz="2000" dirty="0" smtClean="0">
                <a:cs typeface="Arial"/>
              </a:rPr>
              <a:t>la  </a:t>
            </a:r>
            <a:r>
              <a:rPr lang="fr-FR" sz="2000" spc="0" dirty="0" smtClean="0">
                <a:cs typeface="Arial"/>
              </a:rPr>
              <a:t>réception </a:t>
            </a:r>
            <a:r>
              <a:rPr lang="fr-FR" sz="2000" spc="5" dirty="0" smtClean="0">
                <a:cs typeface="Arial"/>
              </a:rPr>
              <a:t>des</a:t>
            </a:r>
            <a:r>
              <a:rPr lang="fr-FR" sz="2000" spc="25" dirty="0" smtClean="0">
                <a:cs typeface="Arial"/>
              </a:rPr>
              <a:t> </a:t>
            </a:r>
            <a:r>
              <a:rPr lang="fr-FR" sz="2000" spc="0" dirty="0" smtClean="0">
                <a:cs typeface="Arial"/>
              </a:rPr>
              <a:t>e-mails</a:t>
            </a:r>
            <a:endParaRPr lang="fr-FR" sz="2000" dirty="0" smtClean="0">
              <a:cs typeface="Arial"/>
            </a:endParaRPr>
          </a:p>
          <a:p>
            <a:pPr marL="88265" marR="234950" indent="-78105">
              <a:lnSpc>
                <a:spcPct val="150000"/>
              </a:lnSpc>
              <a:spcBef>
                <a:spcPts val="360"/>
              </a:spcBef>
              <a:buClr>
                <a:srgbClr val="6F8CA1"/>
              </a:buClr>
              <a:buFont typeface="Wingdings"/>
              <a:buChar char=""/>
              <a:tabLst>
                <a:tab pos="88900" algn="l"/>
              </a:tabLst>
            </a:pPr>
            <a:r>
              <a:rPr lang="fr-FR" sz="2000" spc="5" dirty="0" smtClean="0">
                <a:cs typeface="Arial"/>
              </a:rPr>
              <a:t>Les </a:t>
            </a:r>
            <a:r>
              <a:rPr lang="fr-FR" sz="2000" spc="0" dirty="0" smtClean="0">
                <a:cs typeface="Arial"/>
              </a:rPr>
              <a:t>protocoles </a:t>
            </a:r>
            <a:r>
              <a:rPr lang="fr-FR" sz="2000" spc="10" dirty="0" smtClean="0">
                <a:cs typeface="Arial"/>
              </a:rPr>
              <a:t>SMB </a:t>
            </a:r>
            <a:r>
              <a:rPr lang="fr-FR" sz="2000" spc="5" dirty="0" smtClean="0">
                <a:cs typeface="Arial"/>
              </a:rPr>
              <a:t>et FTP </a:t>
            </a:r>
            <a:r>
              <a:rPr lang="fr-FR" sz="2000" spc="0" dirty="0" smtClean="0">
                <a:cs typeface="Arial"/>
              </a:rPr>
              <a:t>permettent aux </a:t>
            </a:r>
            <a:r>
              <a:rPr lang="fr-FR" sz="2000" dirty="0" smtClean="0">
                <a:cs typeface="Arial"/>
              </a:rPr>
              <a:t>utilisateurs </a:t>
            </a:r>
            <a:r>
              <a:rPr lang="fr-FR" sz="2000" spc="5" dirty="0" smtClean="0">
                <a:cs typeface="Arial"/>
              </a:rPr>
              <a:t>de </a:t>
            </a:r>
            <a:r>
              <a:rPr lang="fr-FR" sz="2000" spc="0" dirty="0" smtClean="0">
                <a:cs typeface="Arial"/>
              </a:rPr>
              <a:t>partager </a:t>
            </a:r>
            <a:r>
              <a:rPr lang="fr-FR" sz="2000" spc="5" dirty="0" smtClean="0">
                <a:cs typeface="Arial"/>
              </a:rPr>
              <a:t>des  </a:t>
            </a:r>
            <a:r>
              <a:rPr lang="fr-FR" sz="2000" dirty="0" smtClean="0">
                <a:cs typeface="Arial"/>
              </a:rPr>
              <a:t>fichiers</a:t>
            </a:r>
          </a:p>
          <a:p>
            <a:pPr marL="88265" marR="40005" indent="-78105">
              <a:lnSpc>
                <a:spcPct val="150000"/>
              </a:lnSpc>
              <a:spcBef>
                <a:spcPts val="360"/>
              </a:spcBef>
              <a:buClr>
                <a:srgbClr val="6F8CA1"/>
              </a:buClr>
              <a:buFont typeface="Wingdings"/>
              <a:buChar char=""/>
              <a:tabLst>
                <a:tab pos="88900" algn="l"/>
              </a:tabLst>
            </a:pPr>
            <a:r>
              <a:rPr lang="fr-FR" sz="2000" spc="5" dirty="0" smtClean="0">
                <a:cs typeface="Arial"/>
              </a:rPr>
              <a:t>Les </a:t>
            </a:r>
            <a:r>
              <a:rPr lang="fr-FR" sz="2000" dirty="0" smtClean="0">
                <a:cs typeface="Arial"/>
              </a:rPr>
              <a:t>applications </a:t>
            </a:r>
            <a:r>
              <a:rPr lang="fr-FR" sz="2000" spc="10" dirty="0" smtClean="0">
                <a:cs typeface="Arial"/>
              </a:rPr>
              <a:t>P2P </a:t>
            </a:r>
            <a:r>
              <a:rPr lang="fr-FR" sz="2000" dirty="0" smtClean="0">
                <a:cs typeface="Arial"/>
              </a:rPr>
              <a:t>simplifient le </a:t>
            </a:r>
            <a:r>
              <a:rPr lang="fr-FR" sz="2000" spc="0" dirty="0" smtClean="0">
                <a:cs typeface="Arial"/>
              </a:rPr>
              <a:t>partage </a:t>
            </a:r>
            <a:r>
              <a:rPr lang="fr-FR" sz="2000" spc="5" dirty="0" smtClean="0">
                <a:cs typeface="Arial"/>
              </a:rPr>
              <a:t>de </a:t>
            </a:r>
            <a:r>
              <a:rPr lang="fr-FR" sz="2000" spc="0" dirty="0" smtClean="0">
                <a:cs typeface="Arial"/>
              </a:rPr>
              <a:t>contenus multimédias </a:t>
            </a:r>
            <a:r>
              <a:rPr lang="fr-FR" sz="2000" dirty="0" smtClean="0">
                <a:cs typeface="Arial"/>
              </a:rPr>
              <a:t>pour </a:t>
            </a:r>
            <a:r>
              <a:rPr lang="fr-FR" sz="2000" spc="0" dirty="0" smtClean="0">
                <a:cs typeface="Arial"/>
              </a:rPr>
              <a:t>les  </a:t>
            </a:r>
            <a:r>
              <a:rPr lang="fr-FR" sz="2000" dirty="0" smtClean="0">
                <a:cs typeface="Arial"/>
              </a:rPr>
              <a:t>clients</a:t>
            </a:r>
          </a:p>
          <a:p>
            <a:pPr marL="88265" marR="5080" indent="-78105">
              <a:lnSpc>
                <a:spcPct val="150000"/>
              </a:lnSpc>
              <a:spcBef>
                <a:spcPts val="370"/>
              </a:spcBef>
              <a:buClr>
                <a:srgbClr val="6F8CA1"/>
              </a:buClr>
              <a:buFont typeface="Wingdings"/>
              <a:buChar char=""/>
              <a:tabLst>
                <a:tab pos="88900" algn="l"/>
              </a:tabLst>
            </a:pPr>
            <a:r>
              <a:rPr lang="fr-FR" sz="2000" spc="5" dirty="0" smtClean="0">
                <a:cs typeface="Arial"/>
              </a:rPr>
              <a:t>Le </a:t>
            </a:r>
            <a:r>
              <a:rPr lang="fr-FR" sz="2000" spc="10" dirty="0" smtClean="0">
                <a:cs typeface="Arial"/>
              </a:rPr>
              <a:t>DNS </a:t>
            </a:r>
            <a:r>
              <a:rPr lang="fr-FR" sz="2000" spc="0" dirty="0" smtClean="0">
                <a:cs typeface="Arial"/>
              </a:rPr>
              <a:t>convertit </a:t>
            </a:r>
            <a:r>
              <a:rPr lang="fr-FR" sz="2000" spc="5" dirty="0" smtClean="0">
                <a:cs typeface="Arial"/>
              </a:rPr>
              <a:t>en adresses </a:t>
            </a:r>
            <a:r>
              <a:rPr lang="fr-FR" sz="2000" spc="0" dirty="0" smtClean="0">
                <a:cs typeface="Arial"/>
              </a:rPr>
              <a:t>numériques </a:t>
            </a:r>
            <a:r>
              <a:rPr lang="fr-FR" sz="2000" dirty="0" smtClean="0">
                <a:cs typeface="Arial"/>
              </a:rPr>
              <a:t>utilisables </a:t>
            </a:r>
            <a:r>
              <a:rPr lang="fr-FR" sz="2000" spc="0" dirty="0" smtClean="0">
                <a:cs typeface="Arial"/>
              </a:rPr>
              <a:t>par </a:t>
            </a:r>
            <a:r>
              <a:rPr lang="fr-FR" sz="2000" dirty="0" smtClean="0">
                <a:cs typeface="Arial"/>
              </a:rPr>
              <a:t>le </a:t>
            </a:r>
            <a:r>
              <a:rPr lang="fr-FR" sz="2000" spc="5" dirty="0" smtClean="0">
                <a:cs typeface="Arial"/>
              </a:rPr>
              <a:t>réseau </a:t>
            </a:r>
            <a:r>
              <a:rPr lang="fr-FR" sz="2000" spc="0" dirty="0" smtClean="0">
                <a:cs typeface="Arial"/>
              </a:rPr>
              <a:t>les noms  humainement compréhensibles </a:t>
            </a:r>
            <a:r>
              <a:rPr lang="fr-FR" sz="2000" spc="5" dirty="0" smtClean="0">
                <a:cs typeface="Arial"/>
              </a:rPr>
              <a:t>et </a:t>
            </a:r>
            <a:r>
              <a:rPr lang="fr-FR" sz="2000" dirty="0" smtClean="0">
                <a:cs typeface="Arial"/>
              </a:rPr>
              <a:t>utilisés pour </a:t>
            </a:r>
            <a:r>
              <a:rPr lang="fr-FR" sz="2000" spc="0" dirty="0" smtClean="0">
                <a:cs typeface="Arial"/>
              </a:rPr>
              <a:t>faire référence aux ressources  </a:t>
            </a:r>
            <a:r>
              <a:rPr lang="fr-FR" sz="2000" spc="5" dirty="0" smtClean="0">
                <a:cs typeface="Arial"/>
              </a:rPr>
              <a:t>réseau</a:t>
            </a:r>
            <a:endParaRPr lang="fr-FR" sz="2000" dirty="0" smtClean="0">
              <a:cs typeface="Arial"/>
            </a:endParaRPr>
          </a:p>
          <a:p>
            <a:pPr marL="88265" indent="-78105">
              <a:lnSpc>
                <a:spcPct val="150000"/>
              </a:lnSpc>
              <a:spcBef>
                <a:spcPts val="405"/>
              </a:spcBef>
              <a:buClr>
                <a:srgbClr val="6F8CA1"/>
              </a:buClr>
              <a:buFont typeface="Wingdings"/>
              <a:buChar char=""/>
              <a:tabLst>
                <a:tab pos="88900" algn="l"/>
              </a:tabLst>
            </a:pPr>
            <a:r>
              <a:rPr lang="fr-FR" sz="2000" spc="0" dirty="0" smtClean="0">
                <a:cs typeface="Arial"/>
              </a:rPr>
              <a:t>Tous </a:t>
            </a:r>
            <a:r>
              <a:rPr lang="fr-FR" sz="2000" spc="5" dirty="0" smtClean="0">
                <a:cs typeface="Arial"/>
              </a:rPr>
              <a:t>ces </a:t>
            </a:r>
            <a:r>
              <a:rPr lang="fr-FR" sz="2000" spc="0" dirty="0" smtClean="0">
                <a:cs typeface="Arial"/>
              </a:rPr>
              <a:t>éléments collaborent </a:t>
            </a:r>
            <a:r>
              <a:rPr lang="fr-FR" sz="2000" spc="5" dirty="0" smtClean="0">
                <a:cs typeface="Arial"/>
              </a:rPr>
              <a:t>au </a:t>
            </a:r>
            <a:r>
              <a:rPr lang="fr-FR" sz="2000" spc="0" dirty="0" smtClean="0">
                <a:cs typeface="Arial"/>
              </a:rPr>
              <a:t>niveau </a:t>
            </a:r>
            <a:r>
              <a:rPr lang="fr-FR" sz="2000" spc="5" dirty="0" smtClean="0">
                <a:cs typeface="Arial"/>
              </a:rPr>
              <a:t>de </a:t>
            </a:r>
            <a:r>
              <a:rPr lang="fr-FR" sz="2000" dirty="0" smtClean="0">
                <a:cs typeface="Arial"/>
              </a:rPr>
              <a:t>la </a:t>
            </a:r>
            <a:r>
              <a:rPr lang="fr-FR" sz="2000" spc="0" dirty="0" smtClean="0">
                <a:cs typeface="Arial"/>
              </a:rPr>
              <a:t>couche</a:t>
            </a:r>
            <a:r>
              <a:rPr lang="fr-FR" sz="2000" spc="-30" dirty="0" smtClean="0">
                <a:cs typeface="Arial"/>
              </a:rPr>
              <a:t> </a:t>
            </a:r>
            <a:r>
              <a:rPr lang="fr-FR" sz="2000" dirty="0" smtClean="0">
                <a:cs typeface="Arial"/>
              </a:rPr>
              <a:t>application</a:t>
            </a:r>
          </a:p>
          <a:p>
            <a:pPr marL="88265" marR="185420" indent="-78105">
              <a:lnSpc>
                <a:spcPct val="150000"/>
              </a:lnSpc>
              <a:spcBef>
                <a:spcPts val="360"/>
              </a:spcBef>
              <a:buClr>
                <a:srgbClr val="6F8CA1"/>
              </a:buClr>
              <a:buFont typeface="Wingdings"/>
              <a:buChar char=""/>
              <a:tabLst>
                <a:tab pos="88900" algn="l"/>
              </a:tabLst>
            </a:pPr>
            <a:r>
              <a:rPr lang="fr-FR" sz="2000" spc="5" dirty="0" smtClean="0">
                <a:cs typeface="Arial"/>
              </a:rPr>
              <a:t>La </a:t>
            </a:r>
            <a:r>
              <a:rPr lang="fr-FR" sz="2000" spc="0" dirty="0" smtClean="0">
                <a:cs typeface="Arial"/>
              </a:rPr>
              <a:t>couche application permet aux </a:t>
            </a:r>
            <a:r>
              <a:rPr lang="fr-FR" sz="2000" dirty="0" smtClean="0">
                <a:cs typeface="Arial"/>
              </a:rPr>
              <a:t>utilisateurs </a:t>
            </a:r>
            <a:r>
              <a:rPr lang="fr-FR" sz="2000" spc="5" dirty="0" smtClean="0">
                <a:cs typeface="Arial"/>
              </a:rPr>
              <a:t>de </a:t>
            </a:r>
            <a:r>
              <a:rPr lang="fr-FR" sz="2000" spc="0" dirty="0" smtClean="0">
                <a:cs typeface="Arial"/>
              </a:rPr>
              <a:t>travailler </a:t>
            </a:r>
            <a:r>
              <a:rPr lang="fr-FR" sz="2000" spc="5" dirty="0" smtClean="0">
                <a:cs typeface="Arial"/>
              </a:rPr>
              <a:t>et de </a:t>
            </a:r>
            <a:r>
              <a:rPr lang="fr-FR" sz="2000" spc="0" dirty="0" smtClean="0">
                <a:cs typeface="Arial"/>
              </a:rPr>
              <a:t>jouer sur  </a:t>
            </a:r>
            <a:r>
              <a:rPr lang="fr-FR" sz="2000" dirty="0" smtClean="0">
                <a:cs typeface="Arial"/>
              </a:rPr>
              <a:t>Internet</a:t>
            </a:r>
            <a:endParaRPr lang="fr-FR" sz="2000" dirty="0"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1047</TotalTime>
  <Words>2273</Words>
  <Application>Microsoft Office PowerPoint</Application>
  <PresentationFormat>Personnalisé</PresentationFormat>
  <Paragraphs>277</Paragraphs>
  <Slides>45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45</vt:i4>
      </vt:variant>
    </vt:vector>
  </HeadingPairs>
  <TitlesOfParts>
    <vt:vector size="46" baseType="lpstr">
      <vt:lpstr>Office Theme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  <vt:lpstr>Diapositive 24</vt:lpstr>
      <vt:lpstr>Diapositive 25</vt:lpstr>
      <vt:lpstr>Diapositive 26</vt:lpstr>
      <vt:lpstr>Diapositive 27</vt:lpstr>
      <vt:lpstr>Diapositive 28</vt:lpstr>
      <vt:lpstr>Diapositive 29</vt:lpstr>
      <vt:lpstr>Diapositive 30</vt:lpstr>
      <vt:lpstr>Diapositive 31</vt:lpstr>
      <vt:lpstr>Diapositive 32</vt:lpstr>
      <vt:lpstr>Diapositive 33</vt:lpstr>
      <vt:lpstr>Diapositive 34</vt:lpstr>
      <vt:lpstr>Diapositive 35</vt:lpstr>
      <vt:lpstr>Diapositive 36</vt:lpstr>
      <vt:lpstr>Diapositive 37</vt:lpstr>
      <vt:lpstr>Diapositive 38</vt:lpstr>
      <vt:lpstr>Diapositive 39</vt:lpstr>
      <vt:lpstr>Diapositive 40</vt:lpstr>
      <vt:lpstr>Diapositive 41</vt:lpstr>
      <vt:lpstr>Diapositive 42</vt:lpstr>
      <vt:lpstr>Diapositive 43</vt:lpstr>
      <vt:lpstr>Diapositive 44</vt:lpstr>
      <vt:lpstr>Diapositive 45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ITN_instructorPPT_Chapter10</dc:title>
  <dc:creator>ENIG</dc:creator>
  <cp:lastModifiedBy>USER</cp:lastModifiedBy>
  <cp:revision>36</cp:revision>
  <dcterms:created xsi:type="dcterms:W3CDTF">2017-12-08T19:35:17Z</dcterms:created>
  <dcterms:modified xsi:type="dcterms:W3CDTF">2025-12-07T18:52:37Z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2015-10-07T00:00:00Z</vt:filetime>
  </property>
  <property fmtid="{D5CDD505-2E9C-101B-9397-08002B2CF9AE}" pid="3" name="Creator">
    <vt:lpwstr>PScript5.dll Version 5.2</vt:lpwstr>
  </property>
  <property fmtid="{D5CDD505-2E9C-101B-9397-08002B2CF9AE}" pid="4" name="LastSaved">
    <vt:filetime>2017-12-08T00:00:00Z</vt:filetime>
  </property>
</Properties>
</file>